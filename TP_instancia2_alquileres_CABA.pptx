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828800"/>
            <a:ext cx="10058400" cy="2651760"/>
          </a:xfrm>
          <a:prstGeom prst="rect">
            <a:avLst/>
          </a:prstGeom>
          <a:noFill/>
        </p:spPr>
        <p:txBody>
          <a:bodyPr wrap="square" lIns="0" rIns="0" tIns="0" bIns="0" anchor="t">
            <a:spAutoFit/>
          </a:bodyPr>
          <a:lstStyle/>
          <a:p>
            <a:pPr algn="l">
              <a:lnSpc>
                <a:spcPct val="97000"/>
              </a:lnSpc>
              <a:spcAft>
                <a:spcPts val="0"/>
              </a:spcAft>
            </a:pPr>
            <a:r>
              <a:rPr sz="5200" b="1">
                <a:solidFill>
                  <a:srgbClr val="F4EFE4"/>
                </a:solidFill>
                <a:latin typeface="Bookman Old Style"/>
              </a:rPr>
              <a:t>EL ALQUILER EN LA</a:t>
            </a:r>
          </a:p>
          <a:p>
            <a:pPr>
              <a:lnSpc>
                <a:spcPct val="97000"/>
              </a:lnSpc>
              <a:spcAft>
                <a:spcPts val="0"/>
              </a:spcAft>
            </a:pPr>
            <a:r>
              <a:rPr sz="5200" b="1">
                <a:solidFill>
                  <a:srgbClr val="F4EFE4"/>
                </a:solidFill>
                <a:latin typeface="Bookman Old Style"/>
              </a:rPr>
              <a:t>CIUDAD DE BUENOS AIRES</a:t>
            </a:r>
          </a:p>
        </p:txBody>
      </p:sp>
      <p:sp>
        <p:nvSpPr>
          <p:cNvPr id="5" name="TextBox 4"/>
          <p:cNvSpPr txBox="1"/>
          <p:nvPr/>
        </p:nvSpPr>
        <p:spPr>
          <a:xfrm>
            <a:off x="1078992" y="4023360"/>
            <a:ext cx="9601200" cy="914400"/>
          </a:xfrm>
          <a:prstGeom prst="rect">
            <a:avLst/>
          </a:prstGeom>
          <a:noFill/>
        </p:spPr>
        <p:txBody>
          <a:bodyPr wrap="square" lIns="0" rIns="0" tIns="0" bIns="0" anchor="t">
            <a:spAutoFit/>
          </a:bodyPr>
          <a:lstStyle/>
          <a:p>
            <a:pPr algn="l">
              <a:lnSpc>
                <a:spcPct val="116000"/>
              </a:lnSpc>
              <a:spcAft>
                <a:spcPts val="400"/>
              </a:spcAft>
            </a:pPr>
            <a:r>
              <a:rPr sz="1900" b="0">
                <a:solidFill>
                  <a:srgbClr val="F4EFE4"/>
                </a:solidFill>
                <a:latin typeface="Calibri"/>
              </a:rPr>
              <a:t>DOS HIPÓTESIS SOBRE LA OFERTA Y EL CICLO DE PRECIOS.</a:t>
            </a:r>
          </a:p>
          <a:p>
            <a:pPr>
              <a:lnSpc>
                <a:spcPct val="116000"/>
              </a:lnSpc>
              <a:spcAft>
                <a:spcPts val="400"/>
              </a:spcAft>
            </a:pPr>
            <a:r>
              <a:rPr sz="1900" b="0">
                <a:solidFill>
                  <a:srgbClr val="F4EFE4"/>
                </a:solidFill>
                <a:latin typeface="Calibri"/>
              </a:rPr>
              <a:t>SEGUNDA ENTREGA: MÉTODOS ESTADÍSTICOS Y CUANTITATIVOS.</a:t>
            </a:r>
          </a:p>
        </p:txBody>
      </p:sp>
      <p:sp>
        <p:nvSpPr>
          <p:cNvPr id="6" name="TextBox 5"/>
          <p:cNvSpPr txBox="1"/>
          <p:nvPr/>
        </p:nvSpPr>
        <p:spPr>
          <a:xfrm>
            <a:off x="1078992" y="5577840"/>
            <a:ext cx="10058400" cy="731520"/>
          </a:xfrm>
          <a:prstGeom prst="rect">
            <a:avLst/>
          </a:prstGeom>
          <a:noFill/>
        </p:spPr>
        <p:txBody>
          <a:bodyPr wrap="square" lIns="0" rIns="0" tIns="0" bIns="0" anchor="t">
            <a:spAutoFit/>
          </a:bodyPr>
          <a:lstStyle/>
          <a:p>
            <a:pPr algn="l">
              <a:lnSpc>
                <a:spcPct val="116000"/>
              </a:lnSpc>
              <a:spcAft>
                <a:spcPts val="1300"/>
              </a:spcAft>
            </a:pPr>
            <a:r>
              <a:rPr sz="1500" b="1">
                <a:solidFill>
                  <a:srgbClr val="F4EFE4"/>
                </a:solidFill>
                <a:latin typeface="Calibri"/>
              </a:rPr>
              <a:t>INTEGRANTES: </a:t>
            </a:r>
            <a:r>
              <a:rPr sz="1500" b="0">
                <a:solidFill>
                  <a:srgbClr val="F4EFE4"/>
                </a:solidFill>
                <a:latin typeface="Calibri"/>
              </a:rPr>
              <a:t>GARCIA CARZOGLIO IGNACIO, MARTÍNEZ JOAQUÍN, BENDERSKY TOMÁS.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¿DE DÓNDE VENIMOS?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600" b="1">
                <a:solidFill>
                  <a:srgbClr val="15505E"/>
                </a:solidFill>
                <a:latin typeface="Bookman Old Style"/>
              </a:rPr>
              <a:t>QUÉ CORREGIMOS</a:t>
            </a:r>
          </a:p>
        </p:txBody>
      </p:sp>
      <p:sp>
        <p:nvSpPr>
          <p:cNvPr id="6" name="TextBox 5"/>
          <p:cNvSpPr txBox="1"/>
          <p:nvPr/>
        </p:nvSpPr>
        <p:spPr>
          <a:xfrm>
            <a:off x="822960" y="1783080"/>
            <a:ext cx="5120640" cy="4114800"/>
          </a:xfrm>
          <a:prstGeom prst="rect">
            <a:avLst/>
          </a:prstGeom>
          <a:noFill/>
        </p:spPr>
        <p:txBody>
          <a:bodyPr wrap="square" lIns="0" rIns="0" tIns="0" bIns="0" anchor="t">
            <a:spAutoFit/>
          </a:bodyPr>
          <a:lstStyle/>
          <a:p>
            <a:pPr algn="l">
              <a:lnSpc>
                <a:spcPct val="110000"/>
              </a:lnSpc>
              <a:spcAft>
                <a:spcPts val="500"/>
              </a:spcAft>
            </a:pPr>
            <a:r>
              <a:rPr sz="1650" b="1">
                <a:solidFill>
                  <a:srgbClr val="15505E"/>
                </a:solidFill>
                <a:latin typeface="Calibri"/>
              </a:rPr>
              <a:t>1) Sacamos el análisis de correlación.</a:t>
            </a:r>
          </a:p>
          <a:p>
            <a:pPr>
              <a:lnSpc>
                <a:spcPct val="116000"/>
              </a:lnSpc>
              <a:spcAft>
                <a:spcPts val="1300"/>
              </a:spcAft>
            </a:pPr>
            <a:r>
              <a:rPr sz="1550" b="0">
                <a:solidFill>
                  <a:srgbClr val="15505E"/>
                </a:solidFill>
                <a:latin typeface="Calibri"/>
              </a:rPr>
              <a:t>Lo reemplazamos por una tabla con el precio por m² de cada comuna y la prima del monoambiente: cuánto más caro es el m² de un monoambiente que el de un 3 ambientes.</a:t>
            </a:r>
          </a:p>
          <a:p>
            <a:pPr>
              <a:lnSpc>
                <a:spcPct val="110000"/>
              </a:lnSpc>
              <a:spcAft>
                <a:spcPts val="500"/>
              </a:spcAft>
            </a:pPr>
            <a:r>
              <a:rPr sz="1650" b="1">
                <a:solidFill>
                  <a:srgbClr val="15505E"/>
                </a:solidFill>
                <a:latin typeface="Calibri"/>
              </a:rPr>
              <a:t>La prima existe en las 14 comunas con dato, pero no se movió igual en todas.</a:t>
            </a:r>
          </a:p>
          <a:p>
            <a:pPr>
              <a:lnSpc>
                <a:spcPct val="116000"/>
              </a:lnSpc>
              <a:spcAft>
                <a:spcPts val="1300"/>
              </a:spcAft>
            </a:pPr>
            <a:r>
              <a:rPr sz="1550" b="0">
                <a:solidFill>
                  <a:srgbClr val="15505E"/>
                </a:solidFill>
                <a:latin typeface="Calibri"/>
              </a:rPr>
              <a:t>En la Comuna 1 pasó de 8% a 23%: ahí los departamentos grandes se abarataron mucho más que los chicos. En Palermo fue al revés, bajó de 19% a 9%. Entre los dos extremos hay 25 puntos de diferencia, así que sí: las viviendas grandes se abarataron en algunos barrios y en otros no.</a:t>
            </a:r>
          </a:p>
        </p:txBody>
      </p:sp>
      <p:sp>
        <p:nvSpPr>
          <p:cNvPr id="7" name="TextBox 6"/>
          <p:cNvSpPr txBox="1"/>
          <p:nvPr/>
        </p:nvSpPr>
        <p:spPr>
          <a:xfrm>
            <a:off x="6400800" y="1783080"/>
            <a:ext cx="4937760" cy="457200"/>
          </a:xfrm>
          <a:prstGeom prst="rect">
            <a:avLst/>
          </a:prstGeom>
          <a:noFill/>
        </p:spPr>
        <p:txBody>
          <a:bodyPr wrap="square" lIns="0" rIns="0" tIns="0" bIns="0" anchor="t">
            <a:spAutoFit/>
          </a:bodyPr>
          <a:lstStyle/>
          <a:p>
            <a:pPr algn="l">
              <a:lnSpc>
                <a:spcPct val="116000"/>
              </a:lnSpc>
              <a:spcAft>
                <a:spcPts val="1300"/>
              </a:spcAft>
            </a:pPr>
            <a:r>
              <a:rPr sz="1650" b="1">
                <a:solidFill>
                  <a:srgbClr val="15505E"/>
                </a:solidFill>
                <a:latin typeface="Calibri"/>
              </a:rPr>
              <a:t>2) ¿Evolucionaron igual las zonas?</a:t>
            </a:r>
          </a:p>
        </p:txBody>
      </p:sp>
      <p:graphicFrame>
        <p:nvGraphicFramePr>
          <p:cNvPr id="8" name="Table 7"/>
          <p:cNvGraphicFramePr>
            <a:graphicFrameLocks noGrp="1"/>
          </p:cNvGraphicFramePr>
          <p:nvPr/>
        </p:nvGraphicFramePr>
        <p:xfrm>
          <a:off x="6400800" y="2331720"/>
          <a:ext cx="4937760" cy="2322576"/>
        </p:xfrm>
        <a:graphic>
          <a:graphicData uri="http://schemas.openxmlformats.org/drawingml/2006/table">
            <a:tbl>
              <a:tblPr>
                <a:tableStyleId>{5C22544A-7EE6-4342-B048-85BDC9FD1C3A}</a:tableStyleId>
              </a:tblPr>
              <a:tblGrid>
                <a:gridCol w="1097280"/>
                <a:gridCol w="1280160"/>
                <a:gridCol w="1280160"/>
                <a:gridCol w="1280160"/>
              </a:tblGrid>
              <a:tr h="420624">
                <a:tc>
                  <a:txBody>
                    <a:bodyPr wrap="square"/>
                    <a:lstStyle/>
                    <a:p>
                      <a:pPr algn="ctr">
                        <a:lnSpc>
                          <a:spcPct val="102000"/>
                        </a:lnSpc>
                        <a:spcAft>
                          <a:spcPts val="0"/>
                        </a:spcAft>
                      </a:pPr>
                      <a:r>
                        <a:rPr sz="12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250" b="1">
                          <a:solidFill>
                            <a:srgbClr val="F4EFE4"/>
                          </a:solidFill>
                          <a:latin typeface="Calibri"/>
                        </a:rPr>
                        <a:t>1 amb.</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250" b="1">
                          <a:solidFill>
                            <a:srgbClr val="F4EFE4"/>
                          </a:solidFill>
                          <a:latin typeface="Calibri"/>
                        </a:rPr>
                        <a:t>2 amb.</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250" b="1">
                          <a:solidFill>
                            <a:srgbClr val="F4EFE4"/>
                          </a:solidFill>
                          <a:latin typeface="Calibri"/>
                        </a:rPr>
                        <a:t>3 amb.</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2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-15%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-15%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-11%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2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-13%
pico 2023-T3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-13%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-14%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2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-8%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-6%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-5%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2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-8%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-6%
pico 2023-T3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00" b="0">
                          <a:solidFill>
                            <a:srgbClr val="15505E"/>
                          </a:solidFill>
                          <a:latin typeface="Calibri"/>
                        </a:rPr>
                        <a:t>-7%
pico 2023-T4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9" name="TextBox 8"/>
          <p:cNvSpPr txBox="1"/>
          <p:nvPr/>
        </p:nvSpPr>
        <p:spPr>
          <a:xfrm>
            <a:off x="6400800" y="4663440"/>
            <a:ext cx="4937760" cy="1280160"/>
          </a:xfrm>
          <a:prstGeom prst="rect">
            <a:avLst/>
          </a:prstGeom>
          <a:noFill/>
        </p:spPr>
        <p:txBody>
          <a:bodyPr wrap="square" lIns="0" rIns="0" tIns="0" bIns="0" anchor="t">
            <a:spAutoFit/>
          </a:bodyPr>
          <a:lstStyle/>
          <a:p>
            <a:pPr algn="l">
              <a:lnSpc>
                <a:spcPct val="116000"/>
              </a:lnSpc>
              <a:spcAft>
                <a:spcPts val="1300"/>
              </a:spcAft>
            </a:pPr>
            <a:r>
              <a:rPr sz="1450" b="1">
                <a:solidFill>
                  <a:srgbClr val="15505E"/>
                </a:solidFill>
                <a:latin typeface="Calibri"/>
              </a:rPr>
              <a:t>Sí, y sin rezagos. </a:t>
            </a:r>
            <a:r>
              <a:rPr sz="1450" b="0">
                <a:solidFill>
                  <a:srgbClr val="15505E"/>
                </a:solidFill>
                <a:latin typeface="Calibri"/>
              </a:rPr>
              <a:t>Las cuatro tocaron el pico entre el tercer y el cuarto trimestre de 2023. Lo que cambia es cuánto perdieron: Norte y Centro quedaron 11-15% abajo de 2018 y Oeste y Sur, 5-8%.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¿DE DÓNDE VENIMOS?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600" b="1">
                <a:solidFill>
                  <a:srgbClr val="15505E"/>
                </a:solidFill>
                <a:latin typeface="Bookman Old Style"/>
              </a:rPr>
              <a:t>NUESTRAS DOS HIPÓTESIS</a:t>
            </a:r>
          </a:p>
        </p:txBody>
      </p:sp>
      <p:sp>
        <p:nvSpPr>
          <p:cNvPr id="6" name="TextBox 5"/>
          <p:cNvSpPr txBox="1"/>
          <p:nvPr/>
        </p:nvSpPr>
        <p:spPr>
          <a:xfrm>
            <a:off x="822960" y="1554480"/>
            <a:ext cx="10515600" cy="1371600"/>
          </a:xfrm>
          <a:prstGeom prst="rect">
            <a:avLst/>
          </a:prstGeom>
          <a:noFill/>
        </p:spPr>
        <p:txBody>
          <a:bodyPr wrap="square" lIns="0" rIns="0" tIns="0" bIns="0" anchor="t">
            <a:spAutoFit/>
          </a:bodyPr>
          <a:lstStyle/>
          <a:p>
            <a:pPr algn="l">
              <a:lnSpc>
                <a:spcPct val="116000"/>
              </a:lnSpc>
              <a:spcAft>
                <a:spcPts val="800"/>
              </a:spcAft>
            </a:pPr>
            <a:r>
              <a:rPr sz="1450" b="1">
                <a:solidFill>
                  <a:srgbClr val="15505E"/>
                </a:solidFill>
                <a:latin typeface="Calibri"/>
              </a:rPr>
              <a:t>La base. </a:t>
            </a:r>
            <a:r>
              <a:rPr sz="1450" b="0">
                <a:solidFill>
                  <a:srgbClr val="15505E"/>
                </a:solidFill>
                <a:latin typeface="Calibri"/>
              </a:rPr>
              <a:t>Precio promedio de publicación de departamentos en alquiler por comuna, del Instituto de Estadística y Censos de la Ciudad, con datos de Argenprop. Cada observación es una comuna, para un tipo de departamento, en un trimestre: 1.530 en total, entre 2018-T1 y 2026-T2.</a:t>
            </a:r>
          </a:p>
          <a:p>
            <a:pPr>
              <a:lnSpc>
                <a:spcPct val="116000"/>
              </a:lnSpc>
              <a:spcAft>
                <a:spcPts val="800"/>
              </a:spcAft>
            </a:pPr>
            <a:r>
              <a:rPr sz="1450" b="1">
                <a:solidFill>
                  <a:srgbClr val="15505E"/>
                </a:solidFill>
                <a:latin typeface="Calibri"/>
              </a:rPr>
              <a:t>Antes teníamos una hipótesis descriptiva. </a:t>
            </a:r>
            <a:r>
              <a:rPr sz="1450" b="0">
                <a:solidFill>
                  <a:srgbClr val="15505E"/>
                </a:solidFill>
                <a:latin typeface="Calibri"/>
              </a:rPr>
              <a:t>Decíamos que la jerarquía de precios entre comunas es estable. Describe, pero no explica nada: le pasa a casi cualquier ciudad.</a:t>
            </a:r>
          </a:p>
        </p:txBody>
      </p:sp>
      <p:sp>
        <p:nvSpPr>
          <p:cNvPr id="7" name="TextBox 6"/>
          <p:cNvSpPr txBox="1"/>
          <p:nvPr/>
        </p:nvSpPr>
        <p:spPr>
          <a:xfrm>
            <a:off x="822960" y="3063240"/>
            <a:ext cx="5029200" cy="269748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1) El faltante como termómetro de la oferta</a:t>
            </a:r>
          </a:p>
          <a:p>
            <a:pPr>
              <a:lnSpc>
                <a:spcPct val="116000"/>
              </a:lnSpc>
              <a:spcAft>
                <a:spcPts val="1600"/>
              </a:spcAft>
            </a:pPr>
            <a:r>
              <a:rPr sz="1650" b="0">
                <a:solidFill>
                  <a:srgbClr val="15505E"/>
                </a:solidFill>
                <a:latin typeface="Calibri"/>
              </a:rPr>
              <a:t>La fuente solo publica una comuna si supera un mínimo de avisos, así que el faltante nos sirve de medida indirecta de la oferta. Si la Ley de Alquileres la retrajo, deberíamos ver más faltantes durante la ley y menos después.</a:t>
            </a:r>
          </a:p>
        </p:txBody>
      </p:sp>
      <p:sp>
        <p:nvSpPr>
          <p:cNvPr id="8" name="TextBox 7"/>
          <p:cNvSpPr txBox="1"/>
          <p:nvPr/>
        </p:nvSpPr>
        <p:spPr>
          <a:xfrm>
            <a:off x="6355080" y="3063240"/>
            <a:ext cx="4983480" cy="269748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2) El lujo amplifica el ciclo</a:t>
            </a:r>
          </a:p>
          <a:p>
            <a:pPr>
              <a:lnSpc>
                <a:spcPct val="116000"/>
              </a:lnSpc>
              <a:spcAft>
                <a:spcPts val="1600"/>
              </a:spcAft>
            </a:pPr>
            <a:r>
              <a:rPr sz="1650" b="0">
                <a:solidFill>
                  <a:srgbClr val="15505E"/>
                </a:solidFill>
                <a:latin typeface="Calibri"/>
              </a:rPr>
              <a:t>En finanzas la beta mide cuánto se mueve un activo cuando se mueve el mercado. Pensamos que las comunas caras funcionan como un activo de beta alta: suben más en los auges y caen más en las bajas.</a:t>
            </a:r>
          </a:p>
        </p:txBody>
      </p:sp>
      <p:sp>
        <p:nvSpPr>
          <p:cNvPr id="9" name="TextBox 8"/>
          <p:cNvSpPr txBox="1"/>
          <p:nvPr/>
        </p:nvSpPr>
        <p:spPr>
          <a:xfrm>
            <a:off x="822960" y="5897880"/>
            <a:ext cx="10515600" cy="457200"/>
          </a:xfrm>
          <a:prstGeom prst="rect">
            <a:avLst/>
          </a:prstGeom>
          <a:noFill/>
        </p:spPr>
        <p:txBody>
          <a:bodyPr wrap="square" lIns="0" rIns="0" tIns="0" bIns="0" anchor="t">
            <a:spAutoFit/>
          </a:bodyPr>
          <a:lstStyle/>
          <a:p>
            <a:pPr algn="l">
              <a:lnSpc>
                <a:spcPct val="116000"/>
              </a:lnSpc>
              <a:spcAft>
                <a:spcPts val="1300"/>
              </a:spcAft>
            </a:pPr>
            <a:r>
              <a:rPr sz="1450" b="1">
                <a:solidFill>
                  <a:srgbClr val="15505E"/>
                </a:solidFill>
                <a:latin typeface="Calibri"/>
              </a:rPr>
              <a:t>El trabajo es exploratorio: </a:t>
            </a:r>
            <a:r>
              <a:rPr sz="1450" b="0">
                <a:solidFill>
                  <a:srgbClr val="15505E"/>
                </a:solidFill>
                <a:latin typeface="Calibri"/>
              </a:rPr>
              <a:t>los métodos que siguen muestran asociaciones, no relaciones de causa y efecto.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HICIMOS CON LOS FALTANTES Y LOS OUTLIERS?</a:t>
            </a:r>
          </a:p>
        </p:txBody>
      </p:sp>
      <p:sp>
        <p:nvSpPr>
          <p:cNvPr id="5" name="TextBox 4"/>
          <p:cNvSpPr txBox="1"/>
          <p:nvPr/>
        </p:nvSpPr>
        <p:spPr>
          <a:xfrm>
            <a:off x="822960" y="777240"/>
            <a:ext cx="4389120" cy="1463040"/>
          </a:xfrm>
          <a:prstGeom prst="rect">
            <a:avLst/>
          </a:prstGeom>
          <a:noFill/>
        </p:spPr>
        <p:txBody>
          <a:bodyPr wrap="square" lIns="0" rIns="0" tIns="0" bIns="0" anchor="t">
            <a:spAutoFit/>
          </a:bodyPr>
          <a:lstStyle/>
          <a:p>
            <a:pPr algn="l">
              <a:lnSpc>
                <a:spcPct val="95000"/>
              </a:lnSpc>
              <a:spcAft>
                <a:spcPts val="0"/>
              </a:spcAft>
            </a:pPr>
            <a:r>
              <a:rPr sz="4600" b="1">
                <a:solidFill>
                  <a:srgbClr val="F4EFE4"/>
                </a:solidFill>
                <a:latin typeface="Bookman Old Style"/>
              </a:rPr>
              <a:t>LOS FALTANTES</a:t>
            </a:r>
          </a:p>
        </p:txBody>
      </p:sp>
      <p:sp>
        <p:nvSpPr>
          <p:cNvPr id="6" name="TextBox 5"/>
          <p:cNvSpPr txBox="1"/>
          <p:nvPr/>
        </p:nvSpPr>
        <p:spPr>
          <a:xfrm>
            <a:off x="822960" y="2377440"/>
            <a:ext cx="4389120" cy="3566160"/>
          </a:xfrm>
          <a:prstGeom prst="rect">
            <a:avLst/>
          </a:prstGeom>
          <a:noFill/>
        </p:spPr>
        <p:txBody>
          <a:bodyPr wrap="square" lIns="0" rIns="0" tIns="0" bIns="0" anchor="t">
            <a:spAutoFit/>
          </a:bodyPr>
          <a:lstStyle/>
          <a:p>
            <a:pPr algn="l">
              <a:lnSpc>
                <a:spcPct val="110000"/>
              </a:lnSpc>
              <a:spcAft>
                <a:spcPts val="500"/>
              </a:spcAft>
            </a:pPr>
            <a:r>
              <a:rPr sz="1700" b="1">
                <a:solidFill>
                  <a:srgbClr val="F4EFE4"/>
                </a:solidFill>
                <a:latin typeface="Calibri"/>
              </a:rPr>
              <a:t>Faltan 199 de 1.530 datos (13%).</a:t>
            </a:r>
          </a:p>
          <a:p>
            <a:pPr>
              <a:lnSpc>
                <a:spcPct val="116000"/>
              </a:lnSpc>
              <a:spcAft>
                <a:spcPts val="1600"/>
              </a:spcAft>
            </a:pPr>
            <a:r>
              <a:rPr sz="1600" b="0">
                <a:solidFill>
                  <a:srgbClr val="F4EFE4"/>
                </a:solidFill>
                <a:latin typeface="Calibri"/>
              </a:rPr>
              <a:t>No están repartidos al azar: la fuente solo publica una comuna si alcanza un mínimo de avisos, así que el faltante depende del propio mercado.</a:t>
            </a:r>
          </a:p>
          <a:p>
            <a:pPr>
              <a:lnSpc>
                <a:spcPct val="110000"/>
              </a:lnSpc>
              <a:spcAft>
                <a:spcPts val="500"/>
              </a:spcAft>
            </a:pPr>
            <a:r>
              <a:rPr sz="1700" b="1">
                <a:solidFill>
                  <a:srgbClr val="F4EFE4"/>
                </a:solidFill>
                <a:latin typeface="Calibri"/>
              </a:rPr>
              <a:t>Es lo que en clase llamamos MNAR.</a:t>
            </a:r>
          </a:p>
          <a:p>
            <a:pPr>
              <a:lnSpc>
                <a:spcPct val="116000"/>
              </a:lnSpc>
              <a:spcAft>
                <a:spcPts val="1600"/>
              </a:spcAft>
            </a:pPr>
            <a:r>
              <a:rPr sz="1600" b="0">
                <a:solidFill>
                  <a:srgbClr val="F4EFE4"/>
                </a:solidFill>
                <a:latin typeface="Calibri"/>
              </a:rPr>
              <a:t>Ni borrar ni imputar arreglan ese sesgo. Por eso no imputamos ningún precio.</a:t>
            </a:r>
          </a:p>
          <a:p>
            <a:pPr>
              <a:lnSpc>
                <a:spcPct val="110000"/>
              </a:lnSpc>
              <a:spcAft>
                <a:spcPts val="500"/>
              </a:spcAft>
            </a:pPr>
            <a:r>
              <a:rPr sz="1700" b="1">
                <a:solidFill>
                  <a:srgbClr val="F4EFE4"/>
                </a:solidFill>
                <a:latin typeface="Calibri"/>
              </a:rPr>
              <a:t>El caso extremo es la Comuna 8.</a:t>
            </a:r>
          </a:p>
          <a:p>
            <a:pPr>
              <a:lnSpc>
                <a:spcPct val="116000"/>
              </a:lnSpc>
              <a:spcAft>
                <a:spcPts val="1600"/>
              </a:spcAft>
            </a:pPr>
            <a:r>
              <a:rPr sz="1600" b="0">
                <a:solidFill>
                  <a:srgbClr val="F4EFE4"/>
                </a:solidFill>
                <a:latin typeface="Calibri"/>
              </a:rPr>
              <a:t>Villa Soldati, Lugano y Riachuelo: 3 datos en 8 años. La dejamos afuera de todo lo que necesita serie completa.</a:t>
            </a:r>
          </a:p>
        </p:txBody>
      </p:sp>
      <p:graphicFrame>
        <p:nvGraphicFramePr>
          <p:cNvPr id="7" name="Table 6"/>
          <p:cNvGraphicFramePr>
            <a:graphicFrameLocks noGrp="1"/>
          </p:cNvGraphicFramePr>
          <p:nvPr/>
        </p:nvGraphicFramePr>
        <p:xfrm>
          <a:off x="5852160" y="1417320"/>
          <a:ext cx="5486400" cy="4315968"/>
        </p:xfrm>
        <a:graphic>
          <a:graphicData uri="http://schemas.openxmlformats.org/drawingml/2006/table">
            <a:tbl>
              <a:tblPr>
                <a:tableStyleId>{5C22544A-7EE6-4342-B048-85BDC9FD1C3A}</a:tableStyleId>
              </a:tblPr>
              <a:tblGrid>
                <a:gridCol w="3291840"/>
                <a:gridCol w="2194560"/>
              </a:tblGrid>
              <a:tr h="512064">
                <a:tc>
                  <a:txBody>
                    <a:bodyPr wrap="square"/>
                    <a:lstStyle/>
                    <a:p>
                      <a:pPr algn="ctr">
                        <a:lnSpc>
                          <a:spcPct val="102000"/>
                        </a:lnSpc>
                        <a:spcAft>
                          <a:spcPts val="0"/>
                        </a:spcAft>
                      </a:pPr>
                      <a:r>
                        <a:rPr sz="1500" b="1">
                          <a:solidFill>
                            <a:srgbClr val="F4EFE4"/>
                          </a:solidFill>
                          <a:latin typeface="Calibri"/>
                        </a:rPr>
                        <a:t>Corte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Sin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500" b="0">
                          <a:solidFill>
                            <a:srgbClr val="15505E"/>
                          </a:solidFill>
                          <a:latin typeface="Calibri"/>
                        </a:rPr>
                        <a:t>Total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13,0%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45,1%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4,2%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1 ambiente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17,1%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2 ambientes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3 ambientes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14,1%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HICIMOS CON LOS FALTANTES Y LOS OUTLIERS?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200" b="1">
                <a:solidFill>
                  <a:srgbClr val="15505E"/>
                </a:solidFill>
                <a:latin typeface="Bookman Old Style"/>
              </a:rPr>
              <a:t>QUÉ HACEMOS CON LOS FALTANTES</a:t>
            </a:r>
          </a:p>
        </p:txBody>
      </p:sp>
      <p:sp>
        <p:nvSpPr>
          <p:cNvPr id="6" name="TextBox 5"/>
          <p:cNvSpPr txBox="1"/>
          <p:nvPr/>
        </p:nvSpPr>
        <p:spPr>
          <a:xfrm>
            <a:off x="822960" y="1920240"/>
            <a:ext cx="10515600" cy="548640"/>
          </a:xfrm>
          <a:prstGeom prst="rect">
            <a:avLst/>
          </a:prstGeom>
          <a:noFill/>
        </p:spPr>
        <p:txBody>
          <a:bodyPr wrap="square" lIns="0" rIns="0" tIns="0" bIns="0" anchor="t">
            <a:spAutoFit/>
          </a:bodyPr>
          <a:lstStyle/>
          <a:p>
            <a:pPr algn="l">
              <a:lnSpc>
                <a:spcPct val="116000"/>
              </a:lnSpc>
              <a:spcAft>
                <a:spcPts val="1300"/>
              </a:spcAft>
            </a:pPr>
            <a:r>
              <a:rPr sz="1700" b="0">
                <a:solidFill>
                  <a:srgbClr val="15505E"/>
                </a:solidFill>
                <a:latin typeface="Calibri"/>
              </a:rPr>
              <a:t>No tomamos una sola decisión para toda la base: depende de para qué usamos el dato en cada hipótesis.</a:t>
            </a:r>
          </a:p>
        </p:txBody>
      </p:sp>
      <p:graphicFrame>
        <p:nvGraphicFramePr>
          <p:cNvPr id="7" name="Table 6"/>
          <p:cNvGraphicFramePr>
            <a:graphicFrameLocks noGrp="1"/>
          </p:cNvGraphicFramePr>
          <p:nvPr/>
        </p:nvGraphicFramePr>
        <p:xfrm>
          <a:off x="822960" y="2743200"/>
          <a:ext cx="10515600" cy="2103120"/>
        </p:xfrm>
        <a:graphic>
          <a:graphicData uri="http://schemas.openxmlformats.org/drawingml/2006/table">
            <a:tbl>
              <a:tblPr>
                <a:tableStyleId>{5C22544A-7EE6-4342-B048-85BDC9FD1C3A}</a:tableStyleId>
              </a:tblPr>
              <a:tblGrid>
                <a:gridCol w="5257800"/>
                <a:gridCol w="5257800"/>
              </a:tblGrid>
              <a:tr h="548640">
                <a:tc>
                  <a:txBody>
                    <a:bodyPr wrap="square"/>
                    <a:lstStyle/>
                    <a:p>
                      <a:pPr algn="ctr">
                        <a:lnSpc>
                          <a:spcPct val="102000"/>
                        </a:lnSpc>
                        <a:spcAft>
                          <a:spcPts val="0"/>
                        </a:spcAft>
                      </a:pPr>
                      <a:r>
                        <a:rPr sz="1600" b="1">
                          <a:solidFill>
                            <a:srgbClr val="F4EFE4"/>
                          </a:solidFill>
                          <a:latin typeface="Calibri"/>
                        </a:rPr>
                        <a:t>Hipótesis 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600" b="1">
                          <a:solidFill>
                            <a:srgbClr val="F4EFE4"/>
                          </a:solidFill>
                          <a:latin typeface="Calibri"/>
                        </a:rPr>
                        <a:t>Hipótesis 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1554480">
                <a:tc>
                  <a:txBody>
                    <a:bodyPr wrap="square"/>
                    <a:lstStyle/>
                    <a:p>
                      <a:pPr algn="ctr">
                        <a:lnSpc>
                          <a:spcPct val="102000"/>
                        </a:lnSpc>
                        <a:spcAft>
                          <a:spcPts val="0"/>
                        </a:spcAft>
                      </a:pPr>
                      <a:r>
                        <a:rPr sz="1600" b="0">
                          <a:solidFill>
                            <a:srgbClr val="15505E"/>
                          </a:solidFill>
                          <a:latin typeface="Calibri"/>
                        </a:rPr>
                        <a:t>Los mantenemos. El faltante es la variable que queremos estudiar: imputarlo sería borrar justo lo que medimos.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600" b="0">
                          <a:solidFill>
                            <a:srgbClr val="15505E"/>
                          </a:solidFill>
                          <a:latin typeface="Calibri"/>
                        </a:rPr>
                        <a:t>Panel balanceado. Interpolamos los huecos de hasta 4 trimestres y dejamos afuera las series incompletas.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822960" y="5120640"/>
            <a:ext cx="10515600" cy="1188720"/>
          </a:xfrm>
          <a:prstGeom prst="rect">
            <a:avLst/>
          </a:prstGeom>
          <a:noFill/>
        </p:spPr>
        <p:txBody>
          <a:bodyPr wrap="square" lIns="0" rIns="0" tIns="0" bIns="0" anchor="t">
            <a:spAutoFit/>
          </a:bodyPr>
          <a:lstStyle/>
          <a:p>
            <a:pPr algn="l">
              <a:lnSpc>
                <a:spcPct val="116000"/>
              </a:lnSpc>
              <a:spcAft>
                <a:spcPts val="1300"/>
              </a:spcAft>
            </a:pPr>
            <a:r>
              <a:rPr sz="1600" b="1">
                <a:solidFill>
                  <a:srgbClr val="15505E"/>
                </a:solidFill>
                <a:latin typeface="Calibri"/>
              </a:rPr>
              <a:t>Qué consecuencias tiene. </a:t>
            </a:r>
            <a:r>
              <a:rPr sz="1600" b="0">
                <a:solidFill>
                  <a:srgbClr val="15505E"/>
                </a:solidFill>
                <a:latin typeface="Calibri"/>
              </a:rPr>
              <a:t>El panel queda con 38 de las 45 series y el Sur apenas con 5, así que ahí queda subrepresentado. Interpolamos 22 valores, 8 de ellos en 2023, y eso suaviza el pico de esas series.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HICIMOS CON LOS FALTANTES Y LOS OUTLIERS?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OUTLIERS: EL PICO DE 2023</a:t>
            </a:r>
          </a:p>
        </p:txBody>
      </p:sp>
      <p:sp>
        <p:nvSpPr>
          <p:cNvPr id="6" name="TextBox 5"/>
          <p:cNvSpPr txBox="1"/>
          <p:nvPr/>
        </p:nvSpPr>
        <p:spPr>
          <a:xfrm>
            <a:off x="822960" y="2148840"/>
            <a:ext cx="5577840" cy="3749039"/>
          </a:xfrm>
          <a:prstGeom prst="rect">
            <a:avLst/>
          </a:prstGeom>
          <a:noFill/>
        </p:spPr>
        <p:txBody>
          <a:bodyPr wrap="square" lIns="0" rIns="0" tIns="0" bIns="0" anchor="t">
            <a:spAutoFit/>
          </a:bodyPr>
          <a:lstStyle/>
          <a:p>
            <a:pPr algn="l">
              <a:lnSpc>
                <a:spcPct val="110000"/>
              </a:lnSpc>
              <a:spcAft>
                <a:spcPts val="500"/>
              </a:spcAft>
            </a:pPr>
            <a:r>
              <a:rPr sz="1800" b="1">
                <a:solidFill>
                  <a:srgbClr val="F4EFE4"/>
                </a:solidFill>
                <a:latin typeface="Calibri"/>
              </a:rPr>
              <a:t>Criterio: el rango intercuartílico.</a:t>
            </a:r>
          </a:p>
          <a:p>
            <a:pPr>
              <a:lnSpc>
                <a:spcPct val="116000"/>
              </a:lnSpc>
              <a:spcAft>
                <a:spcPts val="1600"/>
              </a:spcAft>
            </a:pPr>
            <a:r>
              <a:rPr sz="1650" b="0">
                <a:solidFill>
                  <a:srgbClr val="F4EFE4"/>
                </a:solidFill>
                <a:latin typeface="Calibri"/>
              </a:rPr>
              <a:t>Es atípico lo que cae fuera de Q1 − 1,5·IQR y Q3 + 1,5·IQR. Lo aplicamos sobre el precio relativo y sobre el logaritmo del precio por m², porque el precio en pesos es asimétrico.</a:t>
            </a:r>
          </a:p>
          <a:p>
            <a:pPr>
              <a:lnSpc>
                <a:spcPct val="110000"/>
              </a:lnSpc>
              <a:spcAft>
                <a:spcPts val="500"/>
              </a:spcAft>
            </a:pPr>
            <a:r>
              <a:rPr sz="1800" b="1">
                <a:solidFill>
                  <a:srgbClr val="F4EFE4"/>
                </a:solidFill>
                <a:latin typeface="Calibri"/>
              </a:rPr>
              <a:t>Son datos reales, no errores.</a:t>
            </a:r>
          </a:p>
          <a:p>
            <a:pPr>
              <a:lnSpc>
                <a:spcPct val="116000"/>
              </a:lnSpc>
              <a:spcAft>
                <a:spcPts val="1600"/>
              </a:spcAft>
            </a:pPr>
            <a:r>
              <a:rPr sz="1650" b="0">
                <a:solidFill>
                  <a:srgbClr val="F4EFE4"/>
                </a:solidFill>
                <a:latin typeface="Calibri"/>
              </a:rPr>
              <a:t>No hay valores imposibles ni saltos de un orden de magnitud, y aparecen todos en el mismo episodio: el pico real de 2023.</a:t>
            </a:r>
          </a:p>
        </p:txBody>
      </p:sp>
      <p:graphicFrame>
        <p:nvGraphicFramePr>
          <p:cNvPr id="7" name="Table 6"/>
          <p:cNvGraphicFramePr>
            <a:graphicFrameLocks noGrp="1"/>
          </p:cNvGraphicFramePr>
          <p:nvPr/>
        </p:nvGraphicFramePr>
        <p:xfrm>
          <a:off x="6812280" y="2148840"/>
          <a:ext cx="4526280" cy="1865376"/>
        </p:xfrm>
        <a:graphic>
          <a:graphicData uri="http://schemas.openxmlformats.org/drawingml/2006/table">
            <a:tbl>
              <a:tblPr>
                <a:tableStyleId>{5C22544A-7EE6-4342-B048-85BDC9FD1C3A}</a:tableStyleId>
              </a:tblPr>
              <a:tblGrid>
                <a:gridCol w="2331720"/>
                <a:gridCol w="1097280"/>
                <a:gridCol w="1097280"/>
              </a:tblGrid>
              <a:tr h="548640">
                <a:tc>
                  <a:txBody>
                    <a:bodyPr wrap="square"/>
                    <a:lstStyle/>
                    <a:p>
                      <a:pPr algn="ctr">
                        <a:lnSpc>
                          <a:spcPct val="102000"/>
                        </a:lnSpc>
                        <a:spcAft>
                          <a:spcPts val="0"/>
                        </a:spcAft>
                      </a:pPr>
                      <a:r>
                        <a:rPr sz="1500" b="1">
                          <a:solidFill>
                            <a:srgbClr val="F4EFE4"/>
                          </a:solidFill>
                          <a:latin typeface="Calibri"/>
                        </a:rPr>
                        <a:t>Criterio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Casos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En 2023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658368">
                <a:tc>
                  <a:txBody>
                    <a:bodyPr wrap="square"/>
                    <a:lstStyle/>
                    <a:p>
                      <a:pPr algn="ctr">
                        <a:lnSpc>
                          <a:spcPct val="102000"/>
                        </a:lnSpc>
                        <a:spcAft>
                          <a:spcPts val="0"/>
                        </a:spcAft>
                      </a:pPr>
                      <a:r>
                        <a:rPr sz="1500" b="0">
                          <a:solidFill>
                            <a:srgbClr val="15505E"/>
                          </a:solidFill>
                          <a:latin typeface="Calibri"/>
                        </a:rPr>
                        <a:t>Precio relativo (Ciudad = 100)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658368">
                <a:tc>
                  <a:txBody>
                    <a:bodyPr wrap="square"/>
                    <a:lstStyle/>
                    <a:p>
                      <a:pPr algn="ctr">
                        <a:lnSpc>
                          <a:spcPct val="102000"/>
                        </a:lnSpc>
                        <a:spcAft>
                          <a:spcPts val="0"/>
                        </a:spcAft>
                      </a:pPr>
                      <a:r>
                        <a:rPr sz="1500" b="0">
                          <a:solidFill>
                            <a:srgbClr val="15505E"/>
                          </a:solidFill>
                          <a:latin typeface="Calibri"/>
                        </a:rPr>
                        <a:t>log del precio por m²</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6812280" y="4297680"/>
            <a:ext cx="4526280" cy="1645920"/>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Los mantenemos. </a:t>
            </a:r>
            <a:r>
              <a:rPr sz="1600" b="0">
                <a:solidFill>
                  <a:srgbClr val="F4EFE4"/>
                </a:solidFill>
                <a:latin typeface="Calibri"/>
              </a:rPr>
              <a:t>El pico de 2023 es el auge donde la hipótesis 2 mide la amplificación: borrarlo sería borrar el fenómeno. Para que no dominen trabajamos en logaritmos y usamos tests no paramétricos.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MÉTODO APLICAMOS Y POR QUÉ?</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000" b="1">
                <a:solidFill>
                  <a:srgbClr val="15505E"/>
                </a:solidFill>
                <a:latin typeface="Bookman Old Style"/>
              </a:rPr>
              <a:t>H1. LA OFERTA Y LA LEY DE ALQUILERES</a:t>
            </a:r>
          </a:p>
        </p:txBody>
      </p:sp>
      <p:pic>
        <p:nvPicPr>
          <p:cNvPr id="6" name="Picture 5" descr="i2_g01_faltantes_trimestre.png"/>
          <p:cNvPicPr>
            <a:picLocks noChangeAspect="1"/>
          </p:cNvPicPr>
          <p:nvPr/>
        </p:nvPicPr>
        <p:blipFill>
          <a:blip r:embed="rId3"/>
          <a:stretch>
            <a:fillRect/>
          </a:stretch>
        </p:blipFill>
        <p:spPr>
          <a:xfrm>
            <a:off x="777240" y="2011680"/>
            <a:ext cx="7223760" cy="3756355"/>
          </a:xfrm>
          <a:prstGeom prst="rect">
            <a:avLst/>
          </a:prstGeom>
        </p:spPr>
      </p:pic>
      <p:sp>
        <p:nvSpPr>
          <p:cNvPr id="7" name="TextBox 6"/>
          <p:cNvSpPr txBox="1"/>
          <p:nvPr/>
        </p:nvSpPr>
        <p:spPr>
          <a:xfrm>
            <a:off x="8275320" y="1920240"/>
            <a:ext cx="3108960" cy="4023360"/>
          </a:xfrm>
          <a:prstGeom prst="rect">
            <a:avLst/>
          </a:prstGeom>
          <a:noFill/>
        </p:spPr>
        <p:txBody>
          <a:bodyPr wrap="square" lIns="0" rIns="0" tIns="0" bIns="0" anchor="t">
            <a:spAutoFit/>
          </a:bodyPr>
          <a:lstStyle/>
          <a:p>
            <a:pPr algn="l">
              <a:lnSpc>
                <a:spcPct val="110000"/>
              </a:lnSpc>
              <a:spcAft>
                <a:spcPts val="500"/>
              </a:spcAft>
            </a:pPr>
            <a:r>
              <a:rPr sz="1700" b="1">
                <a:solidFill>
                  <a:srgbClr val="15505E"/>
                </a:solidFill>
                <a:latin typeface="Calibri"/>
              </a:rPr>
              <a:t>Tres períodos para comparar.</a:t>
            </a:r>
          </a:p>
          <a:p>
            <a:pPr>
              <a:lnSpc>
                <a:spcPct val="116000"/>
              </a:lnSpc>
              <a:spcAft>
                <a:spcPts val="1600"/>
              </a:spcAft>
            </a:pPr>
            <a:r>
              <a:rPr sz="1600" b="0">
                <a:solidFill>
                  <a:srgbClr val="15505E"/>
                </a:solidFill>
                <a:latin typeface="Calibri"/>
              </a:rPr>
              <a:t>La Ley 27.551 rigió desde mediados de 2020 y fue derogada a fines de diciembre de 2023.</a:t>
            </a:r>
          </a:p>
          <a:p>
            <a:pPr>
              <a:lnSpc>
                <a:spcPct val="110000"/>
              </a:lnSpc>
              <a:spcAft>
                <a:spcPts val="500"/>
              </a:spcAft>
            </a:pPr>
            <a:r>
              <a:rPr sz="1700" b="1">
                <a:solidFill>
                  <a:srgbClr val="15505E"/>
                </a:solidFill>
                <a:latin typeface="Calibri"/>
              </a:rPr>
              <a:t>Antes: 12,7% sin dato. Durante la ley: 17,6%. Después: 6,9%.</a:t>
            </a:r>
          </a:p>
          <a:p>
            <a:pPr>
              <a:lnSpc>
                <a:spcPct val="116000"/>
              </a:lnSpc>
              <a:spcAft>
                <a:spcPts val="1600"/>
              </a:spcAft>
            </a:pPr>
            <a:r>
              <a:rPr sz="1600" b="0">
                <a:solidFill>
                  <a:srgbClr val="15505E"/>
                </a:solidFill>
                <a:latin typeface="Calibri"/>
              </a:rPr>
              <a:t>El salto de 2024 es el más fuerte de toda la serie.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MÉTODO APLICAMOS Y POR QUÉ?</a:t>
            </a:r>
          </a:p>
        </p:txBody>
      </p:sp>
      <p:sp>
        <p:nvSpPr>
          <p:cNvPr id="5" name="TextBox 4"/>
          <p:cNvSpPr txBox="1"/>
          <p:nvPr/>
        </p:nvSpPr>
        <p:spPr>
          <a:xfrm>
            <a:off x="822960" y="777240"/>
            <a:ext cx="4937760"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H1. TEST CHI-CUADRADO</a:t>
            </a:r>
          </a:p>
        </p:txBody>
      </p:sp>
      <p:sp>
        <p:nvSpPr>
          <p:cNvPr id="6" name="TextBox 5"/>
          <p:cNvSpPr txBox="1"/>
          <p:nvPr/>
        </p:nvSpPr>
        <p:spPr>
          <a:xfrm>
            <a:off x="822960" y="2240280"/>
            <a:ext cx="4937760" cy="3657600"/>
          </a:xfrm>
          <a:prstGeom prst="rect">
            <a:avLst/>
          </a:prstGeom>
          <a:noFill/>
        </p:spPr>
        <p:txBody>
          <a:bodyPr wrap="square" lIns="0" rIns="0" tIns="0" bIns="0" anchor="t">
            <a:spAutoFit/>
          </a:bodyPr>
          <a:lstStyle/>
          <a:p>
            <a:pPr algn="l">
              <a:lnSpc>
                <a:spcPct val="110000"/>
              </a:lnSpc>
              <a:spcAft>
                <a:spcPts val="1400"/>
              </a:spcAft>
            </a:pPr>
            <a:r>
              <a:rPr sz="1700" b="1">
                <a:solidFill>
                  <a:srgbClr val="F4EFE4"/>
                </a:solidFill>
                <a:latin typeface="Calibri"/>
              </a:rPr>
              <a:t>H0: tener dato publicado es independiente del período.</a:t>
            </a:r>
          </a:p>
          <a:p>
            <a:pPr>
              <a:lnSpc>
                <a:spcPct val="110000"/>
              </a:lnSpc>
              <a:spcAft>
                <a:spcPts val="1400"/>
              </a:spcAft>
            </a:pPr>
            <a:r>
              <a:rPr sz="1700" b="1">
                <a:solidFill>
                  <a:srgbClr val="F4EFE4"/>
                </a:solidFill>
                <a:latin typeface="Calibri"/>
              </a:rPr>
              <a:t>H1: la proporción de faltantes cambia entre períodos.</a:t>
            </a:r>
          </a:p>
          <a:p>
            <a:pPr>
              <a:lnSpc>
                <a:spcPct val="110000"/>
              </a:lnSpc>
              <a:spcAft>
                <a:spcPts val="500"/>
              </a:spcAft>
            </a:pPr>
            <a:r>
              <a:rPr sz="1700" b="1">
                <a:solidFill>
                  <a:srgbClr val="F4EFE4"/>
                </a:solidFill>
                <a:latin typeface="Calibri"/>
              </a:rPr>
              <a:t>χ² = 26,78 (2 gl), p &lt; 0,001.</a:t>
            </a:r>
          </a:p>
          <a:p>
            <a:pPr>
              <a:lnSpc>
                <a:spcPct val="116000"/>
              </a:lnSpc>
              <a:spcAft>
                <a:spcPts val="1400"/>
              </a:spcAft>
            </a:pPr>
            <a:r>
              <a:rPr sz="1600" b="0">
                <a:solidFill>
                  <a:srgbClr val="F4EFE4"/>
                </a:solidFill>
                <a:latin typeface="Calibri"/>
              </a:rPr>
              <a:t>La V de Cramér da 0,13: la asociación existe pero es moderada. Los residuos muestran dónde está, +4,49 durante la ley y −4,59 después.</a:t>
            </a:r>
          </a:p>
        </p:txBody>
      </p:sp>
      <p:graphicFrame>
        <p:nvGraphicFramePr>
          <p:cNvPr id="7" name="Table 6"/>
          <p:cNvGraphicFramePr>
            <a:graphicFrameLocks noGrp="1"/>
          </p:cNvGraphicFramePr>
          <p:nvPr/>
        </p:nvGraphicFramePr>
        <p:xfrm>
          <a:off x="6126480" y="1463040"/>
          <a:ext cx="5212080" cy="2212848"/>
        </p:xfrm>
        <a:graphic>
          <a:graphicData uri="http://schemas.openxmlformats.org/drawingml/2006/table">
            <a:tbl>
              <a:tblPr>
                <a:tableStyleId>{5C22544A-7EE6-4342-B048-85BDC9FD1C3A}</a:tableStyleId>
              </a:tblPr>
              <a:tblGrid>
                <a:gridCol w="1600200"/>
                <a:gridCol w="960120"/>
                <a:gridCol w="914400"/>
                <a:gridCol w="868680"/>
                <a:gridCol w="868680"/>
              </a:tblGrid>
              <a:tr h="566928">
                <a:tc>
                  <a:txBody>
                    <a:bodyPr wrap="square"/>
                    <a:lstStyle/>
                    <a:p>
                      <a:pPr algn="ctr">
                        <a:lnSpc>
                          <a:spcPct val="102000"/>
                        </a:lnSpc>
                        <a:spcAft>
                          <a:spcPts val="0"/>
                        </a:spcAft>
                      </a:pPr>
                      <a:r>
                        <a:rPr sz="1350" b="1">
                          <a:solidFill>
                            <a:srgbClr val="F4EFE4"/>
                          </a:solidFill>
                          <a:latin typeface="Calibri"/>
                        </a:rPr>
                        <a:t>Período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Con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Sin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Residuo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48640">
                <a:tc>
                  <a:txBody>
                    <a:bodyPr wrap="square"/>
                    <a:lstStyle/>
                    <a:p>
                      <a:pPr algn="ctr">
                        <a:lnSpc>
                          <a:spcPct val="102000"/>
                        </a:lnSpc>
                        <a:spcAft>
                          <a:spcPts val="0"/>
                        </a:spcAft>
                      </a:pPr>
                      <a:r>
                        <a:rPr sz="1400" b="0">
                          <a:solidFill>
                            <a:srgbClr val="15505E"/>
                          </a:solidFill>
                          <a:latin typeface="Calibri"/>
                        </a:rPr>
                        <a:t>Antes de la 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393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12,7%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-0,26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400" b="0">
                          <a:solidFill>
                            <a:srgbClr val="15505E"/>
                          </a:solidFill>
                          <a:latin typeface="Calibri"/>
                        </a:rPr>
                        <a:t>Ley de Alquileres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111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17,6%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+4,49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400" b="0">
                          <a:solidFill>
                            <a:srgbClr val="15505E"/>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6,9%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-4,59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6126480" y="4114800"/>
            <a:ext cx="5212080" cy="1828800"/>
          </a:xfrm>
          <a:prstGeom prst="rect">
            <a:avLst/>
          </a:prstGeom>
          <a:noFill/>
        </p:spPr>
        <p:txBody>
          <a:bodyPr wrap="square" lIns="0" rIns="0" tIns="0" bIns="0" anchor="t">
            <a:spAutoFit/>
          </a:bodyPr>
          <a:lstStyle/>
          <a:p>
            <a:pPr algn="l">
              <a:lnSpc>
                <a:spcPct val="116000"/>
              </a:lnSpc>
              <a:spcAft>
                <a:spcPts val="1300"/>
              </a:spcAft>
            </a:pPr>
            <a:r>
              <a:rPr sz="1550" b="1">
                <a:solidFill>
                  <a:srgbClr val="F4EFE4"/>
                </a:solidFill>
                <a:latin typeface="Calibri"/>
              </a:rPr>
              <a:t>El supuesto flojo es la independencia: </a:t>
            </a:r>
            <a:r>
              <a:rPr sz="1550" b="0">
                <a:solidFill>
                  <a:srgbClr val="F4EFE4"/>
                </a:solidFill>
                <a:latin typeface="Calibri"/>
              </a:rPr>
              <a:t>los 34 trimestres de una misma comuna no lo son. Por eso agregamos un test apareado. De las 14 series con faltantes, 12 tuvieron más durante la ley que después y ninguna tuvo menos (Wilcoxon, p = 0,0005).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ENCONTRAMOS?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800" b="1">
                <a:solidFill>
                  <a:srgbClr val="15505E"/>
                </a:solidFill>
                <a:latin typeface="Bookman Old Style"/>
              </a:rPr>
              <a:t>H1. DÓNDE PASA Y QUÉ DICEN LOS ÍNDICES</a:t>
            </a:r>
          </a:p>
        </p:txBody>
      </p:sp>
      <p:sp>
        <p:nvSpPr>
          <p:cNvPr id="6" name="TextBox 5"/>
          <p:cNvSpPr txBox="1"/>
          <p:nvPr/>
        </p:nvSpPr>
        <p:spPr>
          <a:xfrm>
            <a:off x="822960" y="1847088"/>
            <a:ext cx="5120640" cy="457200"/>
          </a:xfrm>
          <a:prstGeom prst="rect">
            <a:avLst/>
          </a:prstGeom>
          <a:noFill/>
        </p:spPr>
        <p:txBody>
          <a:bodyPr wrap="square" lIns="0" rIns="0" tIns="0" bIns="0" anchor="t">
            <a:spAutoFit/>
          </a:bodyPr>
          <a:lstStyle/>
          <a:p>
            <a:pPr algn="l">
              <a:lnSpc>
                <a:spcPct val="116000"/>
              </a:lnSpc>
              <a:spcAft>
                <a:spcPts val="1300"/>
              </a:spcAft>
            </a:pPr>
            <a:r>
              <a:rPr sz="1700" b="1">
                <a:solidFill>
                  <a:srgbClr val="15505E"/>
                </a:solidFill>
                <a:latin typeface="Calibri"/>
              </a:rPr>
              <a:t>El mismo test dentro de cada zona</a:t>
            </a:r>
          </a:p>
        </p:txBody>
      </p:sp>
      <p:graphicFrame>
        <p:nvGraphicFramePr>
          <p:cNvPr id="7" name="Table 6"/>
          <p:cNvGraphicFramePr>
            <a:graphicFrameLocks noGrp="1"/>
          </p:cNvGraphicFramePr>
          <p:nvPr/>
        </p:nvGraphicFramePr>
        <p:xfrm>
          <a:off x="822960" y="2331720"/>
          <a:ext cx="5120640" cy="2414016"/>
        </p:xfrm>
        <a:graphic>
          <a:graphicData uri="http://schemas.openxmlformats.org/drawingml/2006/table">
            <a:tbl>
              <a:tblPr>
                <a:tableStyleId>{5C22544A-7EE6-4342-B048-85BDC9FD1C3A}</a:tableStyleId>
              </a:tblPr>
              <a:tblGrid>
                <a:gridCol w="1097280"/>
                <a:gridCol w="1005840"/>
                <a:gridCol w="1005840"/>
                <a:gridCol w="1097280"/>
                <a:gridCol w="914400"/>
              </a:tblGrid>
              <a:tr h="512064">
                <a:tc>
                  <a:txBody>
                    <a:bodyPr wrap="square"/>
                    <a:lstStyle/>
                    <a:p>
                      <a:pPr algn="ctr">
                        <a:lnSpc>
                          <a:spcPct val="102000"/>
                        </a:lnSpc>
                        <a:spcAft>
                          <a:spcPts val="0"/>
                        </a:spcAft>
                      </a:pPr>
                      <a:r>
                        <a:rPr sz="13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Antes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V</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2,2%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8,7%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45,8%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58,3%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25,8%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0,27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822960" y="4937760"/>
            <a:ext cx="5120640" cy="118872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Todo el efecto está en el Sur y el Oeste, donde la oferta ya estaba cerca del umbral. En el Norte y el Centro no pasa nada.</a:t>
            </a:r>
          </a:p>
        </p:txBody>
      </p:sp>
      <p:sp>
        <p:nvSpPr>
          <p:cNvPr id="9" name="TextBox 8"/>
          <p:cNvSpPr txBox="1"/>
          <p:nvPr/>
        </p:nvSpPr>
        <p:spPr>
          <a:xfrm>
            <a:off x="6400800" y="1847088"/>
            <a:ext cx="4937760" cy="457200"/>
          </a:xfrm>
          <a:prstGeom prst="rect">
            <a:avLst/>
          </a:prstGeom>
          <a:noFill/>
        </p:spPr>
        <p:txBody>
          <a:bodyPr wrap="square" lIns="0" rIns="0" tIns="0" bIns="0" anchor="t">
            <a:spAutoFit/>
          </a:bodyPr>
          <a:lstStyle/>
          <a:p>
            <a:pPr algn="l">
              <a:lnSpc>
                <a:spcPct val="116000"/>
              </a:lnSpc>
              <a:spcAft>
                <a:spcPts val="1300"/>
              </a:spcAft>
            </a:pPr>
            <a:r>
              <a:rPr sz="1700" b="1">
                <a:solidFill>
                  <a:srgbClr val="15505E"/>
                </a:solidFill>
                <a:latin typeface="Calibri"/>
              </a:rPr>
              <a:t>Precio real y desigualdad</a:t>
            </a:r>
          </a:p>
        </p:txBody>
      </p:sp>
      <p:graphicFrame>
        <p:nvGraphicFramePr>
          <p:cNvPr id="10" name="Table 9"/>
          <p:cNvGraphicFramePr>
            <a:graphicFrameLocks noGrp="1"/>
          </p:cNvGraphicFramePr>
          <p:nvPr/>
        </p:nvGraphicFramePr>
        <p:xfrm>
          <a:off x="6400800" y="2331720"/>
          <a:ext cx="4937760" cy="1975104"/>
        </p:xfrm>
        <a:graphic>
          <a:graphicData uri="http://schemas.openxmlformats.org/drawingml/2006/table">
            <a:tbl>
              <a:tblPr>
                <a:tableStyleId>{5C22544A-7EE6-4342-B048-85BDC9FD1C3A}</a:tableStyleId>
              </a:tblPr>
              <a:tblGrid>
                <a:gridCol w="1188720"/>
                <a:gridCol w="914400"/>
                <a:gridCol w="960120"/>
                <a:gridCol w="914400"/>
                <a:gridCol w="960120"/>
              </a:tblGrid>
              <a:tr h="548640">
                <a:tc>
                  <a:txBody>
                    <a:bodyPr wrap="square"/>
                    <a:lstStyle/>
                    <a:p>
                      <a:pPr algn="ctr">
                        <a:lnSpc>
                          <a:spcPct val="102000"/>
                        </a:lnSpc>
                        <a:spcAft>
                          <a:spcPts val="0"/>
                        </a:spcAft>
                      </a:pPr>
                      <a:r>
                        <a:rPr sz="1150" b="1">
                          <a:solidFill>
                            <a:srgbClr val="F4EFE4"/>
                          </a:solidFill>
                          <a:latin typeface="Calibri"/>
                        </a:rPr>
                        <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150" b="1">
                          <a:solidFill>
                            <a:srgbClr val="F4EFE4"/>
                          </a:solidFill>
                          <a:latin typeface="Calibri"/>
                        </a:rPr>
                        <a:t>Índice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150" b="1">
                          <a:solidFill>
                            <a:srgbClr val="F4EFE4"/>
                          </a:solidFill>
                          <a:latin typeface="Calibri"/>
                        </a:rPr>
                        <a:t>Sin 2023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150" b="1">
                          <a:solidFill>
                            <a:srgbClr val="F4EFE4"/>
                          </a:solidFill>
                          <a:latin typeface="Calibri"/>
                        </a:rPr>
                        <a:t>Theil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150" b="1">
                          <a:solidFill>
                            <a:srgbClr val="F4EFE4"/>
                          </a:solidFill>
                          <a:latin typeface="Calibri"/>
                        </a:rPr>
                        <a:t>% entre
zonas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250" b="0">
                          <a:solidFill>
                            <a:srgbClr val="15505E"/>
                          </a:solidFill>
                          <a:latin typeface="Calibri"/>
                        </a:rPr>
                        <a:t>Antes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5,98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46%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250" b="0">
                          <a:solidFill>
                            <a:srgbClr val="15505E"/>
                          </a:solidFill>
                          <a:latin typeface="Calibri"/>
                        </a:rPr>
                        <a:t>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106,9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98,0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6,57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24%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250" b="0">
                          <a:solidFill>
                            <a:srgbClr val="15505E"/>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90,1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90,1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3,65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250" b="0">
                          <a:solidFill>
                            <a:srgbClr val="15505E"/>
                          </a:solidFill>
                          <a:latin typeface="Calibri"/>
                        </a:rPr>
                        <a:t>44%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11" name="TextBox 10"/>
          <p:cNvSpPr txBox="1"/>
          <p:nvPr/>
        </p:nvSpPr>
        <p:spPr>
          <a:xfrm>
            <a:off x="6400800" y="4480560"/>
            <a:ext cx="4937760" cy="1783080"/>
          </a:xfrm>
          <a:prstGeom prst="rect">
            <a:avLst/>
          </a:prstGeom>
          <a:noFill/>
        </p:spPr>
        <p:txBody>
          <a:bodyPr wrap="square" lIns="0" rIns="0" tIns="0" bIns="0" anchor="t">
            <a:spAutoFit/>
          </a:bodyPr>
          <a:lstStyle/>
          <a:p>
            <a:pPr algn="l">
              <a:lnSpc>
                <a:spcPct val="116000"/>
              </a:lnSpc>
              <a:spcAft>
                <a:spcPts val="900"/>
              </a:spcAft>
            </a:pPr>
            <a:r>
              <a:rPr sz="1450" b="0">
                <a:solidFill>
                  <a:srgbClr val="15505E"/>
                </a:solidFill>
                <a:latin typeface="Calibri"/>
              </a:rPr>
              <a:t>El precio real fue más alto durante la ley (107 contra 92 y 90). Pero si sacamos 2023 cae a 98: buena parte de ese pico es el salto inflacionario.</a:t>
            </a:r>
          </a:p>
          <a:p>
            <a:pPr>
              <a:lnSpc>
                <a:spcPct val="116000"/>
              </a:lnSpc>
              <a:spcAft>
                <a:spcPts val="900"/>
              </a:spcAft>
            </a:pPr>
            <a:r>
              <a:rPr sz="1450" b="1">
                <a:solidFill>
                  <a:srgbClr val="15505E"/>
                </a:solidFill>
                <a:latin typeface="Calibri"/>
              </a:rPr>
              <a:t>Descompusimos el Theil. </a:t>
            </a:r>
            <a:r>
              <a:rPr sz="1450" b="0">
                <a:solidFill>
                  <a:srgbClr val="15505E"/>
                </a:solidFill>
                <a:latin typeface="Calibri"/>
              </a:rPr>
              <a:t>Durante la ley solo el 24% de la desigualdad de precios era entre zonas: el resto estaba dentro de cada zona. Antes y después, casi la mitad.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ENCONTRAMOS?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H1. LAS DOS SERIES</a:t>
            </a:r>
          </a:p>
        </p:txBody>
      </p:sp>
      <p:pic>
        <p:nvPicPr>
          <p:cNvPr id="6" name="Picture 5" descr="i2_g02_indice_real.png"/>
          <p:cNvPicPr>
            <a:picLocks noChangeAspect="1"/>
          </p:cNvPicPr>
          <p:nvPr/>
        </p:nvPicPr>
        <p:blipFill>
          <a:blip r:embed="rId3"/>
          <a:stretch>
            <a:fillRect/>
          </a:stretch>
        </p:blipFill>
        <p:spPr>
          <a:xfrm>
            <a:off x="777240" y="1874519"/>
            <a:ext cx="5303520" cy="2757830"/>
          </a:xfrm>
          <a:prstGeom prst="rect">
            <a:avLst/>
          </a:prstGeom>
        </p:spPr>
      </p:pic>
      <p:pic>
        <p:nvPicPr>
          <p:cNvPr id="7" name="Picture 6" descr="i2_g03_theil.png"/>
          <p:cNvPicPr>
            <a:picLocks noChangeAspect="1"/>
          </p:cNvPicPr>
          <p:nvPr/>
        </p:nvPicPr>
        <p:blipFill>
          <a:blip r:embed="rId4"/>
          <a:stretch>
            <a:fillRect/>
          </a:stretch>
        </p:blipFill>
        <p:spPr>
          <a:xfrm>
            <a:off x="6172200" y="1874519"/>
            <a:ext cx="5303520" cy="2757830"/>
          </a:xfrm>
          <a:prstGeom prst="rect">
            <a:avLst/>
          </a:prstGeom>
        </p:spPr>
      </p:pic>
      <p:sp>
        <p:nvSpPr>
          <p:cNvPr id="8" name="TextBox 7"/>
          <p:cNvSpPr txBox="1"/>
          <p:nvPr/>
        </p:nvSpPr>
        <p:spPr>
          <a:xfrm>
            <a:off x="777240" y="5074920"/>
            <a:ext cx="10698480" cy="1188720"/>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Lo que vemos. </a:t>
            </a:r>
            <a:r>
              <a:rPr sz="1600" b="0">
                <a:solidFill>
                  <a:srgbClr val="F4EFE4"/>
                </a:solidFill>
                <a:latin typeface="Calibri"/>
              </a:rPr>
              <a:t>El alquiler real estuvo más caro durante la ley, pero el pico es de 2023 y coincide con la aceleración de la inflación: con estos datos no podemos separar una cosa de la otra. La desigualdad hace lo mismo. Esa forma fue la que nos llevó a la segunda hipótesis.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MÉTODO APLICAMOS Y POR QUÉ?</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800" b="1">
                <a:solidFill>
                  <a:srgbClr val="15505E"/>
                </a:solidFill>
                <a:latin typeface="Bookman Old Style"/>
              </a:rPr>
              <a:t>H2. CÓMO MEDIMOS LA SENSIBILIDAD</a:t>
            </a:r>
          </a:p>
        </p:txBody>
      </p:sp>
      <p:sp>
        <p:nvSpPr>
          <p:cNvPr id="6" name="TextBox 5"/>
          <p:cNvSpPr txBox="1"/>
          <p:nvPr/>
        </p:nvSpPr>
        <p:spPr>
          <a:xfrm>
            <a:off x="822960" y="2103120"/>
            <a:ext cx="5852160" cy="384048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La beta de cada comuna.</a:t>
            </a:r>
          </a:p>
          <a:p>
            <a:pPr>
              <a:lnSpc>
                <a:spcPct val="116000"/>
              </a:lnSpc>
              <a:spcAft>
                <a:spcPts val="1600"/>
              </a:spcAft>
            </a:pPr>
            <a:r>
              <a:rPr sz="1650" b="0">
                <a:solidFill>
                  <a:srgbClr val="15505E"/>
                </a:solidFill>
                <a:latin typeface="Calibri"/>
              </a:rPr>
              <a:t>Para cada una de las 38 series calculamos el retorno real trimestral y estimamos la pendiente de una regresión contra el retorno del mercado. Una beta de 1,3 quiere decir que, si el mercado sube 10%, esa comuna tiende a subir 13%.</a:t>
            </a:r>
          </a:p>
          <a:p>
            <a:pPr>
              <a:lnSpc>
                <a:spcPct val="110000"/>
              </a:lnSpc>
              <a:spcAft>
                <a:spcPts val="500"/>
              </a:spcAft>
            </a:pPr>
            <a:r>
              <a:rPr sz="1800" b="1">
                <a:solidFill>
                  <a:srgbClr val="15505E"/>
                </a:solidFill>
                <a:latin typeface="Calibri"/>
              </a:rPr>
              <a:t>El mercado excluye a la propia comuna.</a:t>
            </a:r>
          </a:p>
          <a:p>
            <a:pPr>
              <a:lnSpc>
                <a:spcPct val="116000"/>
              </a:lnSpc>
              <a:spcAft>
                <a:spcPts val="1600"/>
              </a:spcAft>
            </a:pPr>
            <a:r>
              <a:rPr sz="1650" b="0">
                <a:solidFill>
                  <a:srgbClr val="15505E"/>
                </a:solidFill>
                <a:latin typeface="Calibri"/>
              </a:rPr>
              <a:t>Si la incluyéramos, parte de la correlación sería mecánica y la beta daría más alta de lo que es.</a:t>
            </a:r>
          </a:p>
        </p:txBody>
      </p:sp>
      <p:graphicFrame>
        <p:nvGraphicFramePr>
          <p:cNvPr id="7" name="Table 6"/>
          <p:cNvGraphicFramePr>
            <a:graphicFrameLocks noGrp="1"/>
          </p:cNvGraphicFramePr>
          <p:nvPr/>
        </p:nvGraphicFramePr>
        <p:xfrm>
          <a:off x="7086600" y="2194560"/>
          <a:ext cx="4251960" cy="2670048"/>
        </p:xfrm>
        <a:graphic>
          <a:graphicData uri="http://schemas.openxmlformats.org/drawingml/2006/table">
            <a:tbl>
              <a:tblPr>
                <a:tableStyleId>{5C22544A-7EE6-4342-B048-85BDC9FD1C3A}</a:tableStyleId>
              </a:tblPr>
              <a:tblGrid>
                <a:gridCol w="1188720"/>
                <a:gridCol w="685800"/>
                <a:gridCol w="1097280"/>
                <a:gridCol w="1280160"/>
              </a:tblGrid>
              <a:tr h="548640">
                <a:tc>
                  <a:txBody>
                    <a:bodyPr wrap="square"/>
                    <a:lstStyle/>
                    <a:p>
                      <a:pPr algn="ctr">
                        <a:lnSpc>
                          <a:spcPct val="102000"/>
                        </a:lnSpc>
                        <a:spcAft>
                          <a:spcPts val="0"/>
                        </a:spcAft>
                      </a:pPr>
                      <a:r>
                        <a:rPr sz="14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n</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Beta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Volatilidad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30352">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0,88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0,88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8" name="TextBox 7"/>
          <p:cNvSpPr txBox="1"/>
          <p:nvPr/>
        </p:nvSpPr>
        <p:spPr>
          <a:xfrm>
            <a:off x="7086600" y="4983480"/>
            <a:ext cx="4251960" cy="109728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El orden es el que esperábamos, pero las diferencias son chicas. Hay que ver si son significativas.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MÉTODO APLICAMOS Y POR QUÉ?</a:t>
            </a:r>
          </a:p>
        </p:txBody>
      </p:sp>
      <p:sp>
        <p:nvSpPr>
          <p:cNvPr id="5" name="TextBox 4"/>
          <p:cNvSpPr txBox="1"/>
          <p:nvPr/>
        </p:nvSpPr>
        <p:spPr>
          <a:xfrm>
            <a:off x="822960" y="777240"/>
            <a:ext cx="5486400" cy="1463040"/>
          </a:xfrm>
          <a:prstGeom prst="rect">
            <a:avLst/>
          </a:prstGeom>
          <a:noFill/>
        </p:spPr>
        <p:txBody>
          <a:bodyPr wrap="square" lIns="0" rIns="0" tIns="0" bIns="0" anchor="t">
            <a:spAutoFit/>
          </a:bodyPr>
          <a:lstStyle/>
          <a:p>
            <a:pPr algn="l">
              <a:lnSpc>
                <a:spcPct val="95000"/>
              </a:lnSpc>
              <a:spcAft>
                <a:spcPts val="0"/>
              </a:spcAft>
            </a:pPr>
            <a:r>
              <a:rPr sz="3800" b="1">
                <a:solidFill>
                  <a:srgbClr val="F4EFE4"/>
                </a:solidFill>
                <a:latin typeface="Bookman Old Style"/>
              </a:rPr>
              <a:t>H2. ANOVA DE LA BETA POR ZONA</a:t>
            </a:r>
          </a:p>
        </p:txBody>
      </p:sp>
      <p:sp>
        <p:nvSpPr>
          <p:cNvPr id="6" name="TextBox 5"/>
          <p:cNvSpPr txBox="1"/>
          <p:nvPr/>
        </p:nvSpPr>
        <p:spPr>
          <a:xfrm>
            <a:off x="822960" y="2194560"/>
            <a:ext cx="5486400" cy="1371600"/>
          </a:xfrm>
          <a:prstGeom prst="rect">
            <a:avLst/>
          </a:prstGeom>
          <a:noFill/>
        </p:spPr>
        <p:txBody>
          <a:bodyPr wrap="square" lIns="0" rIns="0" tIns="0" bIns="0" anchor="t">
            <a:spAutoFit/>
          </a:bodyPr>
          <a:lstStyle/>
          <a:p>
            <a:pPr algn="l">
              <a:lnSpc>
                <a:spcPct val="110000"/>
              </a:lnSpc>
              <a:spcAft>
                <a:spcPts val="800"/>
              </a:spcAft>
            </a:pPr>
            <a:r>
              <a:rPr sz="1700" b="1">
                <a:solidFill>
                  <a:srgbClr val="F4EFE4"/>
                </a:solidFill>
                <a:latin typeface="Calibri"/>
              </a:rPr>
              <a:t>H0: la beta media es igual en las cuatro zonas.</a:t>
            </a:r>
          </a:p>
          <a:p>
            <a:pPr>
              <a:lnSpc>
                <a:spcPct val="110000"/>
              </a:lnSpc>
              <a:spcAft>
                <a:spcPts val="800"/>
              </a:spcAft>
            </a:pPr>
            <a:r>
              <a:rPr sz="1700" b="1">
                <a:solidFill>
                  <a:srgbClr val="F4EFE4"/>
                </a:solidFill>
                <a:latin typeface="Calibri"/>
              </a:rPr>
              <a:t>H1: al menos una zona tiene una beta media distinta.</a:t>
            </a:r>
          </a:p>
        </p:txBody>
      </p:sp>
      <p:graphicFrame>
        <p:nvGraphicFramePr>
          <p:cNvPr id="7" name="Table 6"/>
          <p:cNvGraphicFramePr>
            <a:graphicFrameLocks noGrp="1"/>
          </p:cNvGraphicFramePr>
          <p:nvPr/>
        </p:nvGraphicFramePr>
        <p:xfrm>
          <a:off x="822960" y="3749039"/>
          <a:ext cx="5486400" cy="2414016"/>
        </p:xfrm>
        <a:graphic>
          <a:graphicData uri="http://schemas.openxmlformats.org/drawingml/2006/table">
            <a:tbl>
              <a:tblPr>
                <a:tableStyleId>{5C22544A-7EE6-4342-B048-85BDC9FD1C3A}</a:tableStyleId>
              </a:tblPr>
              <a:tblGrid>
                <a:gridCol w="2651760"/>
                <a:gridCol w="1554480"/>
                <a:gridCol w="1280160"/>
              </a:tblGrid>
              <a:tr h="512064">
                <a:tc>
                  <a:txBody>
                    <a:bodyPr wrap="square"/>
                    <a:lstStyle/>
                    <a:p>
                      <a:pPr algn="ctr">
                        <a:lnSpc>
                          <a:spcPct val="102000"/>
                        </a:lnSpc>
                        <a:spcAft>
                          <a:spcPts val="0"/>
                        </a:spcAft>
                      </a:pPr>
                      <a:r>
                        <a:rPr sz="1400" b="1">
                          <a:solidFill>
                            <a:srgbClr val="F4EFE4"/>
                          </a:solidFill>
                          <a:latin typeface="Calibri"/>
                        </a:rPr>
                        <a:t>Test</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00" b="1">
                          <a:solidFill>
                            <a:srgbClr val="F4EFE4"/>
                          </a:solidFill>
                          <a:latin typeface="Calibri"/>
                        </a:rPr>
                        <a:t>Estadístico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00" b="1">
                          <a:solidFill>
                            <a:srgbClr val="F4EFE4"/>
                          </a:solidFill>
                          <a:latin typeface="Calibri"/>
                        </a:rPr>
                        <a:t>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50" b="0">
                          <a:solidFill>
                            <a:srgbClr val="15505E"/>
                          </a:solidFill>
                          <a:latin typeface="Calibri"/>
                        </a:rPr>
                        <a:t>ANOVA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3,05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0,042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Welch</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2,44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0,113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Kruskal-Wallis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6,05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0,109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Interacción zona × tipo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3,24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0,016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pic>
        <p:nvPicPr>
          <p:cNvPr id="8" name="Picture 7" descr="i2_g05_beta_por_zona.png"/>
          <p:cNvPicPr>
            <a:picLocks noChangeAspect="1"/>
          </p:cNvPicPr>
          <p:nvPr/>
        </p:nvPicPr>
        <p:blipFill>
          <a:blip r:embed="rId3"/>
          <a:stretch>
            <a:fillRect/>
          </a:stretch>
        </p:blipFill>
        <p:spPr>
          <a:xfrm>
            <a:off x="6629400" y="1463040"/>
            <a:ext cx="4617720" cy="2873248"/>
          </a:xfrm>
          <a:prstGeom prst="rect">
            <a:avLst/>
          </a:prstGeom>
        </p:spPr>
      </p:pic>
      <p:sp>
        <p:nvSpPr>
          <p:cNvPr id="9" name="TextBox 8"/>
          <p:cNvSpPr txBox="1"/>
          <p:nvPr/>
        </p:nvSpPr>
        <p:spPr>
          <a:xfrm>
            <a:off x="6537960" y="4498848"/>
            <a:ext cx="4800600" cy="1737360"/>
          </a:xfrm>
          <a:prstGeom prst="rect">
            <a:avLst/>
          </a:prstGeom>
          <a:noFill/>
        </p:spPr>
        <p:txBody>
          <a:bodyPr wrap="square" lIns="0" rIns="0" tIns="0" bIns="0" anchor="t">
            <a:spAutoFit/>
          </a:bodyPr>
          <a:lstStyle/>
          <a:p>
            <a:pPr algn="l">
              <a:lnSpc>
                <a:spcPct val="116000"/>
              </a:lnSpc>
              <a:spcAft>
                <a:spcPts val="1300"/>
              </a:spcAft>
            </a:pPr>
            <a:r>
              <a:rPr sz="1450" b="1">
                <a:solidFill>
                  <a:srgbClr val="F4EFE4"/>
                </a:solidFill>
                <a:latin typeface="Calibri"/>
              </a:rPr>
              <a:t>El ANOVA da significativo (p = 0,042) pero no resiste las versiones robustas: </a:t>
            </a:r>
            <a:r>
              <a:rPr sz="1450" b="0">
                <a:solidFill>
                  <a:srgbClr val="F4EFE4"/>
                </a:solidFill>
                <a:latin typeface="Calibri"/>
              </a:rPr>
              <a:t>con Welch y Kruskal-Wallis sube a 0,11. Los supuestos se cumplen. El post-hoc de Tukey no encuentra ningún par de zonas significativo al 5%: el más cercano es Oeste-Norte (p = 0,059). Agrupar por zona pierde información: son muy heterogéneas por dentro.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ENCONTRAMOS?</a:t>
            </a:r>
          </a:p>
        </p:txBody>
      </p:sp>
      <p:sp>
        <p:nvSpPr>
          <p:cNvPr id="5" name="TextBox 4"/>
          <p:cNvSpPr txBox="1"/>
          <p:nvPr/>
        </p:nvSpPr>
        <p:spPr>
          <a:xfrm>
            <a:off x="7635240" y="1417320"/>
            <a:ext cx="3703320" cy="1463040"/>
          </a:xfrm>
          <a:prstGeom prst="rect">
            <a:avLst/>
          </a:prstGeom>
          <a:noFill/>
        </p:spPr>
        <p:txBody>
          <a:bodyPr wrap="square" lIns="0" rIns="0" tIns="0" bIns="0" anchor="t">
            <a:spAutoFit/>
          </a:bodyPr>
          <a:lstStyle/>
          <a:p>
            <a:pPr algn="l">
              <a:lnSpc>
                <a:spcPct val="95000"/>
              </a:lnSpc>
              <a:spcAft>
                <a:spcPts val="0"/>
              </a:spcAft>
            </a:pPr>
            <a:r>
              <a:rPr sz="3600" b="1">
                <a:solidFill>
                  <a:srgbClr val="15505E"/>
                </a:solidFill>
                <a:latin typeface="Bookman Old Style"/>
              </a:rPr>
              <a:t>H2. LA PRUEBA DIRECTA</a:t>
            </a:r>
          </a:p>
        </p:txBody>
      </p:sp>
      <p:pic>
        <p:nvPicPr>
          <p:cNvPr id="6" name="Picture 5" descr="i2_g04_beta_vs_nivel.png"/>
          <p:cNvPicPr>
            <a:picLocks noChangeAspect="1"/>
          </p:cNvPicPr>
          <p:nvPr/>
        </p:nvPicPr>
        <p:blipFill>
          <a:blip r:embed="rId3"/>
          <a:stretch>
            <a:fillRect/>
          </a:stretch>
        </p:blipFill>
        <p:spPr>
          <a:xfrm>
            <a:off x="777240" y="1417320"/>
            <a:ext cx="6629400" cy="3977640"/>
          </a:xfrm>
          <a:prstGeom prst="rect">
            <a:avLst/>
          </a:prstGeom>
        </p:spPr>
      </p:pic>
      <p:sp>
        <p:nvSpPr>
          <p:cNvPr id="7" name="TextBox 6"/>
          <p:cNvSpPr txBox="1"/>
          <p:nvPr/>
        </p:nvSpPr>
        <p:spPr>
          <a:xfrm>
            <a:off x="7635240" y="2834640"/>
            <a:ext cx="3703320" cy="3108960"/>
          </a:xfrm>
          <a:prstGeom prst="rect">
            <a:avLst/>
          </a:prstGeom>
          <a:noFill/>
        </p:spPr>
        <p:txBody>
          <a:bodyPr wrap="square" lIns="0" rIns="0" tIns="0" bIns="0" anchor="t">
            <a:spAutoFit/>
          </a:bodyPr>
          <a:lstStyle/>
          <a:p>
            <a:pPr algn="l">
              <a:lnSpc>
                <a:spcPct val="110000"/>
              </a:lnSpc>
              <a:spcAft>
                <a:spcPts val="500"/>
              </a:spcAft>
            </a:pPr>
            <a:r>
              <a:rPr sz="1650" b="1">
                <a:solidFill>
                  <a:srgbClr val="15505E"/>
                </a:solidFill>
                <a:latin typeface="Calibri"/>
              </a:rPr>
              <a:t>La hipótesis habla de comunas, no de zonas.</a:t>
            </a:r>
          </a:p>
          <a:p>
            <a:pPr>
              <a:lnSpc>
                <a:spcPct val="116000"/>
              </a:lnSpc>
              <a:spcAft>
                <a:spcPts val="1600"/>
              </a:spcAft>
            </a:pPr>
            <a:r>
              <a:rPr sz="1550" b="0">
                <a:solidFill>
                  <a:srgbClr val="15505E"/>
                </a:solidFill>
                <a:latin typeface="Calibri"/>
              </a:rPr>
              <a:t>Entonces la prueba directa es relacionar la beta con el nivel de precio, que es una variable continua. Usamos Spearman, que trabaja sobre rangos.</a:t>
            </a:r>
          </a:p>
        </p:txBody>
      </p:sp>
      <p:graphicFrame>
        <p:nvGraphicFramePr>
          <p:cNvPr id="8" name="Table 7"/>
          <p:cNvGraphicFramePr>
            <a:graphicFrameLocks noGrp="1"/>
          </p:cNvGraphicFramePr>
          <p:nvPr/>
        </p:nvGraphicFramePr>
        <p:xfrm>
          <a:off x="7635240" y="4617720"/>
          <a:ext cx="3703319" cy="2048256"/>
        </p:xfrm>
        <a:graphic>
          <a:graphicData uri="http://schemas.openxmlformats.org/drawingml/2006/table">
            <a:tbl>
              <a:tblPr>
                <a:tableStyleId>{5C22544A-7EE6-4342-B048-85BDC9FD1C3A}</a:tableStyleId>
              </a:tblPr>
              <a:tblGrid>
                <a:gridCol w="1874519"/>
                <a:gridCol w="914400"/>
                <a:gridCol w="914400"/>
              </a:tblGrid>
              <a:tr h="438912">
                <a:tc>
                  <a:txBody>
                    <a:bodyPr wrap="square"/>
                    <a:lstStyle/>
                    <a:p>
                      <a:pPr algn="ctr">
                        <a:lnSpc>
                          <a:spcPct val="102000"/>
                        </a:lnSpc>
                        <a:spcAft>
                          <a:spcPts val="0"/>
                        </a:spcAft>
                      </a:pPr>
                      <a:r>
                        <a:rPr sz="1300" b="1">
                          <a:solidFill>
                            <a:srgbClr val="F4EFE4"/>
                          </a:solidFill>
                          <a:latin typeface="Calibri"/>
                        </a:rPr>
                        <a:t>Relación con el nivel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00" b="1">
                          <a:solidFill>
                            <a:srgbClr val="F4EFE4"/>
                          </a:solidFill>
                          <a:latin typeface="Calibri"/>
                        </a:rPr>
                        <a:t>ρ</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00" b="1">
                          <a:solidFill>
                            <a:srgbClr val="F4EFE4"/>
                          </a:solidFill>
                          <a:latin typeface="Calibri"/>
                        </a:rPr>
                        <a:t>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02336">
                <a:tc>
                  <a:txBody>
                    <a:bodyPr wrap="square"/>
                    <a:lstStyle/>
                    <a:p>
                      <a:pPr algn="ctr">
                        <a:lnSpc>
                          <a:spcPct val="102000"/>
                        </a:lnSpc>
                        <a:spcAft>
                          <a:spcPts val="0"/>
                        </a:spcAft>
                      </a:pPr>
                      <a:r>
                        <a:rPr sz="1350" b="0">
                          <a:solidFill>
                            <a:srgbClr val="15505E"/>
                          </a:solidFill>
                          <a:latin typeface="Calibri"/>
                        </a:rPr>
                        <a:t>Beta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0,47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Beta en caídas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0,40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Beta en subas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0,670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Volatilidad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0,38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ENCONTRAMOS?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H2. AMPLIFICA MÁS LAS CAÍDAS</a:t>
            </a:r>
          </a:p>
        </p:txBody>
      </p:sp>
      <p:pic>
        <p:nvPicPr>
          <p:cNvPr id="6" name="Picture 5" descr="i2_g06_asimetria.png"/>
          <p:cNvPicPr>
            <a:picLocks noChangeAspect="1"/>
          </p:cNvPicPr>
          <p:nvPr/>
        </p:nvPicPr>
        <p:blipFill>
          <a:blip r:embed="rId3"/>
          <a:stretch>
            <a:fillRect/>
          </a:stretch>
        </p:blipFill>
        <p:spPr>
          <a:xfrm>
            <a:off x="777240" y="2011680"/>
            <a:ext cx="6126480" cy="3812032"/>
          </a:xfrm>
          <a:prstGeom prst="rect">
            <a:avLst/>
          </a:prstGeom>
        </p:spPr>
      </p:pic>
      <p:sp>
        <p:nvSpPr>
          <p:cNvPr id="7" name="TextBox 6"/>
          <p:cNvSpPr txBox="1"/>
          <p:nvPr/>
        </p:nvSpPr>
        <p:spPr>
          <a:xfrm>
            <a:off x="7269480" y="1920240"/>
            <a:ext cx="4069080" cy="4023360"/>
          </a:xfrm>
          <a:prstGeom prst="rect">
            <a:avLst/>
          </a:prstGeom>
          <a:noFill/>
        </p:spPr>
        <p:txBody>
          <a:bodyPr wrap="square" lIns="0" rIns="0" tIns="0" bIns="0" anchor="t">
            <a:spAutoFit/>
          </a:bodyPr>
          <a:lstStyle/>
          <a:p>
            <a:pPr algn="l">
              <a:lnSpc>
                <a:spcPct val="110000"/>
              </a:lnSpc>
              <a:spcAft>
                <a:spcPts val="500"/>
              </a:spcAft>
            </a:pPr>
            <a:r>
              <a:rPr sz="1650" b="1">
                <a:solidFill>
                  <a:srgbClr val="F4EFE4"/>
                </a:solidFill>
                <a:latin typeface="Calibri"/>
              </a:rPr>
              <a:t>En el Norte la diferencia es clara.</a:t>
            </a:r>
          </a:p>
          <a:p>
            <a:pPr>
              <a:lnSpc>
                <a:spcPct val="116000"/>
              </a:lnSpc>
              <a:spcAft>
                <a:spcPts val="1600"/>
              </a:spcAft>
            </a:pPr>
            <a:r>
              <a:rPr sz="1550" b="0">
                <a:solidFill>
                  <a:srgbClr val="F4EFE4"/>
                </a:solidFill>
                <a:latin typeface="Calibri"/>
              </a:rPr>
              <a:t>Beta de 1,21 cuando el mercado cae contra 0,80 cuando sube. Un Wilcoxon apareado da p = 0,004. En el Oeste y el Sur no hay diferencia.</a:t>
            </a:r>
          </a:p>
          <a:p>
            <a:pPr>
              <a:lnSpc>
                <a:spcPct val="110000"/>
              </a:lnSpc>
              <a:spcAft>
                <a:spcPts val="500"/>
              </a:spcAft>
            </a:pPr>
            <a:r>
              <a:rPr sz="1650" b="1">
                <a:solidFill>
                  <a:srgbClr val="F4EFE4"/>
                </a:solidFill>
                <a:latin typeface="Calibri"/>
              </a:rPr>
              <a:t>El ciclo del Norte fue más amplio de los dos lados.</a:t>
            </a:r>
          </a:p>
          <a:p>
            <a:pPr>
              <a:lnSpc>
                <a:spcPct val="116000"/>
              </a:lnSpc>
              <a:spcAft>
                <a:spcPts val="1600"/>
              </a:spcAft>
            </a:pPr>
            <a:r>
              <a:rPr sz="1550" b="0">
                <a:solidFill>
                  <a:srgbClr val="F4EFE4"/>
                </a:solidFill>
                <a:latin typeface="Calibri"/>
              </a:rPr>
              <a:t>Del piso de 2019-2020 al pico de 2023 el Norte subió 97% y el Sur 79%. Desde el pico, el Norte cayó 46% y el Sur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F4EFE4"/>
                </a:solidFill>
                <a:latin typeface="Calibri"/>
              </a:rPr>
              <a:t>¿QUÉ SIGNIFICA PARA NUESTRA HIPÓTESIS?</a:t>
            </a:r>
          </a:p>
        </p:txBody>
      </p:sp>
      <p:sp>
        <p:nvSpPr>
          <p:cNvPr id="5" name="TextBox 4"/>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QUÉ NO PODEMOS AFIRMAR</a:t>
            </a:r>
          </a:p>
        </p:txBody>
      </p:sp>
      <p:sp>
        <p:nvSpPr>
          <p:cNvPr id="6" name="TextBox 5"/>
          <p:cNvSpPr txBox="1"/>
          <p:nvPr/>
        </p:nvSpPr>
        <p:spPr>
          <a:xfrm>
            <a:off x="822960" y="2103120"/>
            <a:ext cx="5029200" cy="3840480"/>
          </a:xfrm>
          <a:prstGeom prst="rect">
            <a:avLst/>
          </a:prstGeom>
          <a:noFill/>
        </p:spPr>
        <p:txBody>
          <a:bodyPr wrap="square" lIns="0" rIns="0" tIns="0" bIns="0" anchor="t">
            <a:spAutoFit/>
          </a:bodyPr>
          <a:lstStyle/>
          <a:p>
            <a:pPr algn="l">
              <a:lnSpc>
                <a:spcPct val="110000"/>
              </a:lnSpc>
              <a:spcAft>
                <a:spcPts val="1000"/>
              </a:spcAft>
            </a:pPr>
            <a:r>
              <a:rPr sz="1450" b="1">
                <a:solidFill>
                  <a:srgbClr val="F4EFE4"/>
                </a:solidFill>
                <a:latin typeface="Calibri"/>
              </a:rPr>
              <a:t>Hipótesis 1</a:t>
            </a:r>
          </a:p>
          <a:p>
            <a:pPr>
              <a:lnSpc>
                <a:spcPct val="110000"/>
              </a:lnSpc>
              <a:spcAft>
                <a:spcPts val="500"/>
              </a:spcAft>
            </a:pPr>
            <a:r>
              <a:rPr sz="1450" b="1">
                <a:solidFill>
                  <a:srgbClr val="F4EFE4"/>
                </a:solidFill>
                <a:latin typeface="Calibri"/>
              </a:rPr>
              <a:t>El indicador de oferta es grueso.</a:t>
            </a:r>
          </a:p>
          <a:p>
            <a:pPr>
              <a:lnSpc>
                <a:spcPct val="116000"/>
              </a:lnSpc>
              <a:spcAft>
                <a:spcPts val="1000"/>
              </a:spcAft>
            </a:pPr>
            <a:r>
              <a:rPr sz="1350" b="0">
                <a:solidFill>
                  <a:srgbClr val="F4EFE4"/>
                </a:solidFill>
                <a:latin typeface="Calibri"/>
              </a:rPr>
              <a:t>El faltante solo dice si la oferta superó un umbral, no cuánta hubo. Una comuna pudo perder la mitad de sus avisos y seguir apareciendo con dato.</a:t>
            </a:r>
          </a:p>
          <a:p>
            <a:pPr>
              <a:lnSpc>
                <a:spcPct val="110000"/>
              </a:lnSpc>
              <a:spcAft>
                <a:spcPts val="500"/>
              </a:spcAft>
            </a:pPr>
            <a:r>
              <a:rPr sz="1450" b="1">
                <a:solidFill>
                  <a:srgbClr val="F4EFE4"/>
                </a:solidFill>
                <a:latin typeface="Calibri"/>
              </a:rPr>
              <a:t>Depende de Argenprop.</a:t>
            </a:r>
          </a:p>
          <a:p>
            <a:pPr>
              <a:lnSpc>
                <a:spcPct val="116000"/>
              </a:lnSpc>
              <a:spcAft>
                <a:spcPts val="1000"/>
              </a:spcAft>
            </a:pPr>
            <a:r>
              <a:rPr sz="1350" b="0">
                <a:solidFill>
                  <a:srgbClr val="F4EFE4"/>
                </a:solidFill>
                <a:latin typeface="Calibri"/>
              </a:rPr>
              <a:t>Si la cobertura de la fuente cambió en el tiempo, parte del movimiento es de la fuente y no del mercado.</a:t>
            </a:r>
          </a:p>
          <a:p>
            <a:pPr>
              <a:lnSpc>
                <a:spcPct val="110000"/>
              </a:lnSpc>
              <a:spcAft>
                <a:spcPts val="500"/>
              </a:spcAft>
            </a:pPr>
            <a:r>
              <a:rPr sz="1450" b="1">
                <a:solidFill>
                  <a:srgbClr val="F4EFE4"/>
                </a:solidFill>
                <a:latin typeface="Calibri"/>
              </a:rPr>
              <a:t>Los períodos coinciden con otras cosas.</a:t>
            </a:r>
          </a:p>
          <a:p>
            <a:pPr>
              <a:lnSpc>
                <a:spcPct val="116000"/>
              </a:lnSpc>
              <a:spcAft>
                <a:spcPts val="1000"/>
              </a:spcAft>
            </a:pPr>
            <a:r>
              <a:rPr sz="1350" b="0">
                <a:solidFill>
                  <a:srgbClr val="F4EFE4"/>
                </a:solidFill>
                <a:latin typeface="Calibri"/>
              </a:rPr>
              <a:t>Pandemia, cepo y aceleración inflacionaria caen en los mismos años que la ley.</a:t>
            </a:r>
          </a:p>
        </p:txBody>
      </p:sp>
      <p:sp>
        <p:nvSpPr>
          <p:cNvPr id="7" name="TextBox 6"/>
          <p:cNvSpPr txBox="1"/>
          <p:nvPr/>
        </p:nvSpPr>
        <p:spPr>
          <a:xfrm>
            <a:off x="6355080" y="2103120"/>
            <a:ext cx="4983480" cy="3840480"/>
          </a:xfrm>
          <a:prstGeom prst="rect">
            <a:avLst/>
          </a:prstGeom>
          <a:noFill/>
        </p:spPr>
        <p:txBody>
          <a:bodyPr wrap="square" lIns="0" rIns="0" tIns="0" bIns="0" anchor="t">
            <a:spAutoFit/>
          </a:bodyPr>
          <a:lstStyle/>
          <a:p>
            <a:pPr algn="l">
              <a:lnSpc>
                <a:spcPct val="110000"/>
              </a:lnSpc>
              <a:spcAft>
                <a:spcPts val="1000"/>
              </a:spcAft>
            </a:pPr>
            <a:r>
              <a:rPr sz="1450" b="1">
                <a:solidFill>
                  <a:srgbClr val="F4EFE4"/>
                </a:solidFill>
                <a:latin typeface="Calibri"/>
              </a:rPr>
              <a:t>Hipótesis 2</a:t>
            </a:r>
          </a:p>
          <a:p>
            <a:pPr>
              <a:lnSpc>
                <a:spcPct val="110000"/>
              </a:lnSpc>
              <a:spcAft>
                <a:spcPts val="500"/>
              </a:spcAft>
            </a:pPr>
            <a:r>
              <a:rPr sz="1450" b="1">
                <a:solidFill>
                  <a:srgbClr val="F4EFE4"/>
                </a:solidFill>
                <a:latin typeface="Calibri"/>
              </a:rPr>
              <a:t>Cada beta sale de 33 retornos.</a:t>
            </a:r>
          </a:p>
          <a:p>
            <a:pPr>
              <a:lnSpc>
                <a:spcPct val="116000"/>
              </a:lnSpc>
              <a:spcAft>
                <a:spcPts val="1000"/>
              </a:spcAft>
            </a:pPr>
            <a:r>
              <a:rPr sz="1350" b="0">
                <a:solidFill>
                  <a:srgbClr val="F4EFE4"/>
                </a:solidFill>
                <a:latin typeface="Calibri"/>
              </a:rPr>
              <a:t>Son pocas observaciones por serie, así que cada beta tiene error de estimación.</a:t>
            </a:r>
          </a:p>
          <a:p>
            <a:pPr>
              <a:lnSpc>
                <a:spcPct val="110000"/>
              </a:lnSpc>
              <a:spcAft>
                <a:spcPts val="500"/>
              </a:spcAft>
            </a:pPr>
            <a:r>
              <a:rPr sz="1450" b="1">
                <a:solidFill>
                  <a:srgbClr val="F4EFE4"/>
                </a:solidFill>
                <a:latin typeface="Calibri"/>
              </a:rPr>
              <a:t>La interpolación suaviza 2023.</a:t>
            </a:r>
          </a:p>
          <a:p>
            <a:pPr>
              <a:lnSpc>
                <a:spcPct val="116000"/>
              </a:lnSpc>
              <a:spcAft>
                <a:spcPts val="1000"/>
              </a:spcAft>
            </a:pPr>
            <a:r>
              <a:rPr sz="1350" b="0">
                <a:solidFill>
                  <a:srgbClr val="F4EFE4"/>
                </a:solidFill>
                <a:latin typeface="Calibri"/>
              </a:rPr>
              <a:t>En las series donde interpolamos, el pico queda achatado y la beta puede dar más baja de lo que fue.</a:t>
            </a:r>
          </a:p>
          <a:p>
            <a:pPr>
              <a:lnSpc>
                <a:spcPct val="110000"/>
              </a:lnSpc>
              <a:spcAft>
                <a:spcPts val="500"/>
              </a:spcAft>
            </a:pPr>
            <a:r>
              <a:rPr sz="1450" b="1">
                <a:solidFill>
                  <a:srgbClr val="F4EFE4"/>
                </a:solidFill>
                <a:latin typeface="Calibri"/>
              </a:rPr>
              <a:t>Las series de una misma comuna no son independientes.</a:t>
            </a:r>
          </a:p>
          <a:p>
            <a:pPr>
              <a:lnSpc>
                <a:spcPct val="116000"/>
              </a:lnSpc>
              <a:spcAft>
                <a:spcPts val="1000"/>
              </a:spcAft>
            </a:pPr>
            <a:r>
              <a:rPr sz="1350" b="0">
                <a:solidFill>
                  <a:srgbClr val="F4EFE4"/>
                </a:solidFill>
                <a:latin typeface="Calibri"/>
              </a:rPr>
              <a:t>Los tres tipos de departamento comparten los mismos shocks.</a:t>
            </a:r>
          </a:p>
        </p:txBody>
      </p:sp>
      <p:sp>
        <p:nvSpPr>
          <p:cNvPr id="8" name="TextBox 7"/>
          <p:cNvSpPr txBox="1"/>
          <p:nvPr/>
        </p:nvSpPr>
        <p:spPr>
          <a:xfrm>
            <a:off x="822960" y="5897880"/>
            <a:ext cx="10515600" cy="548640"/>
          </a:xfrm>
          <a:prstGeom prst="rect">
            <a:avLst/>
          </a:prstGeom>
          <a:noFill/>
        </p:spPr>
        <p:txBody>
          <a:bodyPr wrap="square" lIns="0" rIns="0" tIns="0" bIns="0" anchor="t">
            <a:spAutoFit/>
          </a:bodyPr>
          <a:lstStyle/>
          <a:p>
            <a:pPr algn="l">
              <a:lnSpc>
                <a:spcPct val="116000"/>
              </a:lnSpc>
              <a:spcAft>
                <a:spcPts val="1300"/>
              </a:spcAft>
            </a:pPr>
            <a:r>
              <a:rPr sz="1350" b="1">
                <a:solidFill>
                  <a:srgbClr val="F4EFE4"/>
                </a:solidFill>
                <a:latin typeface="Calibri"/>
              </a:rPr>
              <a:t>Y vale para los dos: </a:t>
            </a:r>
            <a:r>
              <a:rPr sz="1350" b="0">
                <a:solidFill>
                  <a:srgbClr val="F4EFE4"/>
                </a:solidFill>
                <a:latin typeface="Calibri"/>
              </a:rPr>
              <a:t>en el Theil cada comuna pesa igual, porque la base no informa cuántas unidades ofrece cada una; y trabajamos con precios de publicación, no con contratos cerrados.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402336"/>
            <a:ext cx="10515600" cy="274320"/>
          </a:xfrm>
          <a:prstGeom prst="rect">
            <a:avLst/>
          </a:prstGeom>
          <a:noFill/>
        </p:spPr>
        <p:txBody>
          <a:bodyPr wrap="square" lIns="0" rIns="0" tIns="0" bIns="0" anchor="t">
            <a:spAutoFit/>
          </a:bodyPr>
          <a:lstStyle/>
          <a:p>
            <a:pPr algn="l">
              <a:lnSpc>
                <a:spcPct val="100000"/>
              </a:lnSpc>
              <a:spcAft>
                <a:spcPts val="0"/>
              </a:spcAft>
            </a:pPr>
            <a:r>
              <a:rPr sz="1050" b="1">
                <a:solidFill>
                  <a:srgbClr val="15505E"/>
                </a:solidFill>
                <a:latin typeface="Calibri"/>
              </a:rPr>
              <a:t>¿QUÉ SIGNIFICA PARA NUESTRA HIPÓTESIS?</a:t>
            </a:r>
          </a:p>
        </p:txBody>
      </p:sp>
      <p:sp>
        <p:nvSpPr>
          <p:cNvPr id="5" name="TextBox 4"/>
          <p:cNvSpPr txBox="1"/>
          <p:nvPr/>
        </p:nvSpPr>
        <p:spPr>
          <a:xfrm>
            <a:off x="822960" y="777240"/>
            <a:ext cx="5760720" cy="1463040"/>
          </a:xfrm>
          <a:prstGeom prst="rect">
            <a:avLst/>
          </a:prstGeom>
          <a:noFill/>
        </p:spPr>
        <p:txBody>
          <a:bodyPr wrap="square" lIns="0" rIns="0" tIns="0" bIns="0" anchor="t">
            <a:spAutoFit/>
          </a:bodyPr>
          <a:lstStyle/>
          <a:p>
            <a:pPr algn="l">
              <a:lnSpc>
                <a:spcPct val="95000"/>
              </a:lnSpc>
              <a:spcAft>
                <a:spcPts val="0"/>
              </a:spcAft>
            </a:pPr>
            <a:r>
              <a:rPr sz="3600" b="1">
                <a:solidFill>
                  <a:srgbClr val="15505E"/>
                </a:solidFill>
                <a:latin typeface="Bookman Old Style"/>
              </a:rPr>
              <a:t>QUÉ NOS DEJAN LAS DOS HIPÓTESIS</a:t>
            </a:r>
          </a:p>
        </p:txBody>
      </p:sp>
      <p:sp>
        <p:nvSpPr>
          <p:cNvPr id="6" name="TextBox 5"/>
          <p:cNvSpPr txBox="1"/>
          <p:nvPr/>
        </p:nvSpPr>
        <p:spPr>
          <a:xfrm>
            <a:off x="822960" y="2194560"/>
            <a:ext cx="5760720" cy="3749039"/>
          </a:xfrm>
          <a:prstGeom prst="rect">
            <a:avLst/>
          </a:prstGeom>
          <a:noFill/>
        </p:spPr>
        <p:txBody>
          <a:bodyPr wrap="square" lIns="0" rIns="0" tIns="0" bIns="0" anchor="t">
            <a:spAutoFit/>
          </a:bodyPr>
          <a:lstStyle/>
          <a:p>
            <a:pPr algn="l">
              <a:lnSpc>
                <a:spcPct val="110000"/>
              </a:lnSpc>
              <a:spcAft>
                <a:spcPts val="500"/>
              </a:spcAft>
            </a:pPr>
            <a:r>
              <a:rPr sz="1700" b="1">
                <a:solidFill>
                  <a:srgbClr val="15505E"/>
                </a:solidFill>
                <a:latin typeface="Calibri"/>
              </a:rPr>
              <a:t>1) La oferta se asocia al régimen regulatorio.</a:t>
            </a:r>
          </a:p>
          <a:p>
            <a:pPr>
              <a:lnSpc>
                <a:spcPct val="116000"/>
              </a:lnSpc>
              <a:spcAft>
                <a:spcPts val="1300"/>
              </a:spcAft>
            </a:pPr>
            <a:r>
              <a:rPr sz="1550" b="0">
                <a:solidFill>
                  <a:srgbClr val="15505E"/>
                </a:solidFill>
                <a:latin typeface="Calibri"/>
              </a:rPr>
              <a:t>El efecto está concentrado en el Sur (V = 0,27) y el test apareado lo confirma. Lo que no podemos decir es que la ley lo haya causado: en esos años también pasaron la pandemia, el cepo y la inflación.</a:t>
            </a:r>
          </a:p>
          <a:p>
            <a:pPr>
              <a:lnSpc>
                <a:spcPct val="110000"/>
              </a:lnSpc>
              <a:spcAft>
                <a:spcPts val="500"/>
              </a:spcAft>
            </a:pPr>
            <a:r>
              <a:rPr sz="1700" b="1">
                <a:solidFill>
                  <a:srgbClr val="15505E"/>
                </a:solidFill>
                <a:latin typeface="Calibri"/>
              </a:rPr>
              <a:t>2) Las comunas caras amplifican el ciclo.</a:t>
            </a:r>
          </a:p>
          <a:p>
            <a:pPr>
              <a:lnSpc>
                <a:spcPct val="116000"/>
              </a:lnSpc>
              <a:spcAft>
                <a:spcPts val="1300"/>
              </a:spcAft>
            </a:pPr>
            <a:r>
              <a:rPr sz="1550" b="0">
                <a:solidFill>
                  <a:srgbClr val="15505E"/>
                </a:solidFill>
                <a:latin typeface="Calibri"/>
              </a:rPr>
              <a:t>Medido comuna por comuna, el nivel de precio se asocia a la beta (ρ = 0,47). Por zona el ANOVA no alcanza, porque las zonas son heterogéneas.</a:t>
            </a:r>
          </a:p>
          <a:p>
            <a:pPr>
              <a:lnSpc>
                <a:spcPct val="110000"/>
              </a:lnSpc>
              <a:spcAft>
                <a:spcPts val="500"/>
              </a:spcAft>
            </a:pPr>
            <a:r>
              <a:rPr sz="1700" b="1">
                <a:solidFill>
                  <a:srgbClr val="15505E"/>
                </a:solidFill>
                <a:latin typeface="Calibri"/>
              </a:rPr>
              <a:t>3) Las dos se conectan en la desigualdad.</a:t>
            </a:r>
          </a:p>
          <a:p>
            <a:pPr>
              <a:lnSpc>
                <a:spcPct val="116000"/>
              </a:lnSpc>
              <a:spcAft>
                <a:spcPts val="1300"/>
              </a:spcAft>
            </a:pPr>
            <a:r>
              <a:rPr sz="1550" b="0">
                <a:solidFill>
                  <a:srgbClr val="15505E"/>
                </a:solidFill>
                <a:latin typeface="Calibri"/>
              </a:rPr>
              <a:t>El salto del Theil en 2023, que la hipótesis 1 no podía explicar, sale de las distintas betas: cuando el mercado sube, las caras se separan.</a:t>
            </a:r>
          </a:p>
        </p:txBody>
      </p:sp>
      <p:sp>
        <p:nvSpPr>
          <p:cNvPr id="7" name="TextBox 6"/>
          <p:cNvSpPr txBox="1"/>
          <p:nvPr/>
        </p:nvSpPr>
        <p:spPr>
          <a:xfrm>
            <a:off x="7132320" y="2194560"/>
            <a:ext cx="4206240" cy="457200"/>
          </a:xfrm>
          <a:prstGeom prst="rect">
            <a:avLst/>
          </a:prstGeom>
          <a:noFill/>
        </p:spPr>
        <p:txBody>
          <a:bodyPr wrap="square" lIns="0" rIns="0" tIns="0" bIns="0" anchor="t">
            <a:spAutoFit/>
          </a:bodyPr>
          <a:lstStyle/>
          <a:p>
            <a:pPr algn="l">
              <a:lnSpc>
                <a:spcPct val="116000"/>
              </a:lnSpc>
              <a:spcAft>
                <a:spcPts val="1300"/>
              </a:spcAft>
            </a:pPr>
            <a:r>
              <a:rPr sz="2100" b="1">
                <a:solidFill>
                  <a:srgbClr val="15505E"/>
                </a:solidFill>
                <a:latin typeface="Calibri"/>
              </a:rPr>
              <a:t>Preguntas que surgieron…</a:t>
            </a:r>
          </a:p>
        </p:txBody>
      </p:sp>
      <p:sp>
        <p:nvSpPr>
          <p:cNvPr id="8" name="TextBox 7"/>
          <p:cNvSpPr txBox="1"/>
          <p:nvPr/>
        </p:nvSpPr>
        <p:spPr>
          <a:xfrm>
            <a:off x="7132320" y="2816352"/>
            <a:ext cx="4206240" cy="2286000"/>
          </a:xfrm>
          <a:prstGeom prst="rect">
            <a:avLst/>
          </a:prstGeom>
          <a:noFill/>
        </p:spPr>
        <p:txBody>
          <a:bodyPr wrap="square" lIns="0" rIns="0" tIns="0" bIns="0" anchor="t">
            <a:spAutoFit/>
          </a:bodyPr>
          <a:lstStyle/>
          <a:p>
            <a:pPr algn="l">
              <a:lnSpc>
                <a:spcPct val="116000"/>
              </a:lnSpc>
              <a:spcAft>
                <a:spcPts val="1100"/>
              </a:spcAft>
            </a:pPr>
            <a:r>
              <a:rPr sz="1500" b="0">
                <a:solidFill>
                  <a:srgbClr val="15505E"/>
                </a:solidFill>
                <a:latin typeface="Calibri"/>
              </a:rPr>
              <a:t>¿Cuánto del pico de 2023 es la ley y cuánto la inflación?</a:t>
            </a:r>
          </a:p>
          <a:p>
            <a:pPr>
              <a:lnSpc>
                <a:spcPct val="116000"/>
              </a:lnSpc>
              <a:spcAft>
                <a:spcPts val="1100"/>
              </a:spcAft>
            </a:pPr>
            <a:r>
              <a:rPr sz="1500" b="0">
                <a:solidFill>
                  <a:srgbClr val="15505E"/>
                </a:solidFill>
                <a:latin typeface="Calibri"/>
              </a:rPr>
              <a:t>¿Las comunas se agrupan solas por nivel, beta y faltantes, o ese agrupamiento no tiene nada que ver con las zonas?</a:t>
            </a:r>
          </a:p>
          <a:p>
            <a:pPr>
              <a:lnSpc>
                <a:spcPct val="116000"/>
              </a:lnSpc>
              <a:spcAft>
                <a:spcPts val="1100"/>
              </a:spcAft>
            </a:pPr>
            <a:r>
              <a:rPr sz="1500" b="0">
                <a:solidFill>
                  <a:srgbClr val="15505E"/>
                </a:solidFill>
                <a:latin typeface="Calibri"/>
              </a:rPr>
              <a:t>¿La beta de una comuna tiene que ver con el ingreso de quienes viven ahí?</a:t>
            </a:r>
          </a:p>
        </p:txBody>
      </p:sp>
      <p:sp>
        <p:nvSpPr>
          <p:cNvPr id="9" name="TextBox 8"/>
          <p:cNvSpPr txBox="1"/>
          <p:nvPr/>
        </p:nvSpPr>
        <p:spPr>
          <a:xfrm>
            <a:off x="7132320" y="5120640"/>
            <a:ext cx="4206240" cy="1280160"/>
          </a:xfrm>
          <a:prstGeom prst="rect">
            <a:avLst/>
          </a:prstGeom>
          <a:noFill/>
        </p:spPr>
        <p:txBody>
          <a:bodyPr wrap="square" lIns="0" rIns="0" tIns="0" bIns="0" anchor="t">
            <a:spAutoFit/>
          </a:bodyPr>
          <a:lstStyle/>
          <a:p>
            <a:pPr algn="l">
              <a:lnSpc>
                <a:spcPct val="116000"/>
              </a:lnSpc>
              <a:spcAft>
                <a:spcPts val="1300"/>
              </a:spcAft>
            </a:pPr>
            <a:r>
              <a:rPr sz="1400" b="1">
                <a:solidFill>
                  <a:srgbClr val="15505E"/>
                </a:solidFill>
                <a:latin typeface="Calibri"/>
              </a:rPr>
              <a:t>Para la próxima. </a:t>
            </a:r>
            <a:r>
              <a:rPr sz="1400" b="0">
                <a:solidFill>
                  <a:srgbClr val="15505E"/>
                </a:solidFill>
                <a:latin typeface="Calibri"/>
              </a:rPr>
              <a:t>Probaríamos un clustering y sumaríamos los ingresos por comuna de la EAH. Y nos llevamos dos candidatos a visualización para la instancia 3: el gráfico de faltantes y el de beta contra nivel.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