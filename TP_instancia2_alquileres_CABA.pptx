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10058400" cy="2651760"/>
          </a:xfrm>
          <a:prstGeom prst="rect">
            <a:avLst/>
          </a:prstGeom>
          <a:noFill/>
        </p:spPr>
        <p:txBody>
          <a:bodyPr wrap="square" lIns="0" rIns="0" tIns="0" bIns="0" anchor="t">
            <a:spAutoFit/>
          </a:bodyPr>
          <a:lstStyle/>
          <a:p>
            <a:pPr algn="l">
              <a:lnSpc>
                <a:spcPct val="97000"/>
              </a:lnSpc>
              <a:spcAft>
                <a:spcPts val="0"/>
              </a:spcAft>
            </a:pPr>
            <a:r>
              <a:rPr sz="5200" b="1">
                <a:solidFill>
                  <a:srgbClr val="F4EFE4"/>
                </a:solidFill>
                <a:latin typeface="Bookman Old Style"/>
              </a:rPr>
              <a:t>EL ALQUILER EN LA</a:t>
            </a:r>
          </a:p>
          <a:p>
            <a:pPr>
              <a:lnSpc>
                <a:spcPct val="97000"/>
              </a:lnSpc>
              <a:spcAft>
                <a:spcPts val="0"/>
              </a:spcAft>
            </a:pPr>
            <a:r>
              <a:rPr sz="5200" b="1">
                <a:solidFill>
                  <a:srgbClr val="F4EFE4"/>
                </a:solidFill>
                <a:latin typeface="Bookman Old Style"/>
              </a:rPr>
              <a:t>CIUDAD DE BUENOS AIRES</a:t>
            </a:r>
          </a:p>
        </p:txBody>
      </p:sp>
      <p:sp>
        <p:nvSpPr>
          <p:cNvPr id="5" name="TextBox 4"/>
          <p:cNvSpPr txBox="1"/>
          <p:nvPr/>
        </p:nvSpPr>
        <p:spPr>
          <a:xfrm>
            <a:off x="1078992" y="4023360"/>
            <a:ext cx="9601200" cy="914400"/>
          </a:xfrm>
          <a:prstGeom prst="rect">
            <a:avLst/>
          </a:prstGeom>
          <a:noFill/>
        </p:spPr>
        <p:txBody>
          <a:bodyPr wrap="square" lIns="0" rIns="0" tIns="0" bIns="0" anchor="t">
            <a:spAutoFit/>
          </a:bodyPr>
          <a:lstStyle/>
          <a:p>
            <a:pPr algn="l">
              <a:lnSpc>
                <a:spcPct val="116000"/>
              </a:lnSpc>
              <a:spcAft>
                <a:spcPts val="400"/>
              </a:spcAft>
            </a:pPr>
            <a:r>
              <a:rPr sz="1900" b="0">
                <a:solidFill>
                  <a:srgbClr val="F4EFE4"/>
                </a:solidFill>
                <a:latin typeface="Calibri"/>
              </a:rPr>
              <a:t>DOS HIPÓTESIS SOBRE LA OFERTA Y EL CICLO DE PRECIOS.</a:t>
            </a:r>
          </a:p>
          <a:p>
            <a:pPr>
              <a:lnSpc>
                <a:spcPct val="116000"/>
              </a:lnSpc>
              <a:spcAft>
                <a:spcPts val="400"/>
              </a:spcAft>
            </a:pPr>
            <a:r>
              <a:rPr sz="1900" b="0">
                <a:solidFill>
                  <a:srgbClr val="F4EFE4"/>
                </a:solidFill>
                <a:latin typeface="Calibri"/>
              </a:rPr>
              <a:t>SEGUNDA ENTREGA: MÉTODOS ESTADÍSTICOS Y CUANTITATIVOS.</a:t>
            </a:r>
          </a:p>
        </p:txBody>
      </p:sp>
      <p:sp>
        <p:nvSpPr>
          <p:cNvPr id="6" name="TextBox 5"/>
          <p:cNvSpPr txBox="1"/>
          <p:nvPr/>
        </p:nvSpPr>
        <p:spPr>
          <a:xfrm>
            <a:off x="1078992" y="5577840"/>
            <a:ext cx="10058400" cy="73152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INTEGRANTES: </a:t>
            </a:r>
            <a:r>
              <a:rPr sz="1500" b="0">
                <a:solidFill>
                  <a:srgbClr val="F4EFE4"/>
                </a:solidFill>
                <a:latin typeface="Calibri"/>
              </a:rPr>
              <a:t>GARCIA CARZOGLIO IGNACIO, MARTÍNEZ JOAQUÍN, BENDERSKY TOMÁS.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600" b="1">
                <a:solidFill>
                  <a:srgbClr val="15505E"/>
                </a:solidFill>
                <a:latin typeface="Bookman Old Style"/>
              </a:rPr>
              <a:t>QUÉ CORREGIMOS</a:t>
            </a:r>
          </a:p>
        </p:txBody>
      </p:sp>
      <p:pic>
        <p:nvPicPr>
          <p:cNvPr id="5" name="Picture 4" descr="i2_g07_prima_comuna.png"/>
          <p:cNvPicPr>
            <a:picLocks noChangeAspect="1"/>
          </p:cNvPicPr>
          <p:nvPr/>
        </p:nvPicPr>
        <p:blipFill>
          <a:blip r:embed="rId3"/>
          <a:stretch>
            <a:fillRect/>
          </a:stretch>
        </p:blipFill>
        <p:spPr>
          <a:xfrm>
            <a:off x="777240" y="1965960"/>
            <a:ext cx="6583680" cy="3686861"/>
          </a:xfrm>
          <a:prstGeom prst="rect">
            <a:avLst/>
          </a:prstGeom>
        </p:spPr>
      </p:pic>
      <p:sp>
        <p:nvSpPr>
          <p:cNvPr id="6" name="TextBox 5"/>
          <p:cNvSpPr txBox="1"/>
          <p:nvPr/>
        </p:nvSpPr>
        <p:spPr>
          <a:xfrm>
            <a:off x="7680960" y="1874519"/>
            <a:ext cx="3703320" cy="4114800"/>
          </a:xfrm>
          <a:prstGeom prst="rect">
            <a:avLst/>
          </a:prstGeom>
          <a:noFill/>
        </p:spPr>
        <p:txBody>
          <a:bodyPr wrap="square" lIns="0" rIns="0" tIns="0" bIns="0" anchor="t">
            <a:spAutoFit/>
          </a:bodyPr>
          <a:lstStyle/>
          <a:p>
            <a:pPr algn="l">
              <a:lnSpc>
                <a:spcPct val="110000"/>
              </a:lnSpc>
              <a:spcAft>
                <a:spcPts val="500"/>
              </a:spcAft>
            </a:pPr>
            <a:r>
              <a:rPr sz="1650" b="1">
                <a:solidFill>
                  <a:srgbClr val="15505E"/>
                </a:solidFill>
                <a:latin typeface="Calibri"/>
              </a:rPr>
              <a:t>1) Sacamos el análisis de correlación.</a:t>
            </a:r>
          </a:p>
          <a:p>
            <a:pPr>
              <a:lnSpc>
                <a:spcPct val="116000"/>
              </a:lnSpc>
              <a:spcAft>
                <a:spcPts val="1400"/>
              </a:spcAft>
            </a:pPr>
            <a:r>
              <a:rPr sz="1550" b="0">
                <a:solidFill>
                  <a:srgbClr val="15505E"/>
                </a:solidFill>
                <a:latin typeface="Calibri"/>
              </a:rPr>
              <a:t>En su lugar comparamos, comuna por comuna, cuánto más caro es el m² de un monoambiente que el de un 3 ambientes.</a:t>
            </a:r>
          </a:p>
          <a:p>
            <a:pPr>
              <a:lnSpc>
                <a:spcPct val="110000"/>
              </a:lnSpc>
              <a:spcAft>
                <a:spcPts val="500"/>
              </a:spcAft>
            </a:pPr>
            <a:r>
              <a:rPr sz="1650" b="1">
                <a:solidFill>
                  <a:srgbClr val="15505E"/>
                </a:solidFill>
                <a:latin typeface="Calibri"/>
              </a:rPr>
              <a:t>2) La diferencia no se movió igual en todos lados.</a:t>
            </a:r>
          </a:p>
          <a:p>
            <a:pPr>
              <a:lnSpc>
                <a:spcPct val="116000"/>
              </a:lnSpc>
              <a:spcAft>
                <a:spcPts val="1400"/>
              </a:spcAft>
            </a:pPr>
            <a:r>
              <a:rPr sz="1550" b="0">
                <a:solidFill>
                  <a:srgbClr val="15505E"/>
                </a:solidFill>
                <a:latin typeface="Calibri"/>
              </a:rPr>
              <a:t>En la Comuna 1 la prima creció 14 puntos: ahí los departamentos grandes se abarataron mucho más que los chicos. En Palermo pasó al revés, se achicó 10 puntos.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2_g08_evolucion_zona.png"/>
          <p:cNvPicPr>
            <a:picLocks noChangeAspect="1"/>
          </p:cNvPicPr>
          <p:nvPr/>
        </p:nvPicPr>
        <p:blipFill>
          <a:blip r:embed="rId3"/>
          <a:stretch>
            <a:fillRect/>
          </a:stretch>
        </p:blipFill>
        <p:spPr>
          <a:xfrm>
            <a:off x="777240" y="1463040"/>
            <a:ext cx="6675120" cy="3738067"/>
          </a:xfrm>
          <a:prstGeom prst="rect">
            <a:avLst/>
          </a:prstGeom>
        </p:spPr>
      </p:pic>
      <p:sp>
        <p:nvSpPr>
          <p:cNvPr id="5" name="TextBox 4"/>
          <p:cNvSpPr txBox="1"/>
          <p:nvPr/>
        </p:nvSpPr>
        <p:spPr>
          <a:xfrm>
            <a:off x="7772400" y="914400"/>
            <a:ext cx="3657600" cy="1463040"/>
          </a:xfrm>
          <a:prstGeom prst="rect">
            <a:avLst/>
          </a:prstGeom>
          <a:noFill/>
        </p:spPr>
        <p:txBody>
          <a:bodyPr wrap="square" lIns="0" rIns="0" tIns="0" bIns="0" anchor="t">
            <a:spAutoFit/>
          </a:bodyPr>
          <a:lstStyle/>
          <a:p>
            <a:pPr algn="l">
              <a:lnSpc>
                <a:spcPct val="95000"/>
              </a:lnSpc>
              <a:spcAft>
                <a:spcPts val="0"/>
              </a:spcAft>
            </a:pPr>
            <a:r>
              <a:rPr sz="2600" b="1">
                <a:solidFill>
                  <a:srgbClr val="F4EFE4"/>
                </a:solidFill>
                <a:latin typeface="Bookman Old Style"/>
              </a:rPr>
              <a:t>¿EVOLUCIONARON IGUAL LAS ZONAS?</a:t>
            </a:r>
          </a:p>
        </p:txBody>
      </p:sp>
      <p:sp>
        <p:nvSpPr>
          <p:cNvPr id="6" name="TextBox 5"/>
          <p:cNvSpPr txBox="1"/>
          <p:nvPr/>
        </p:nvSpPr>
        <p:spPr>
          <a:xfrm>
            <a:off x="7772400" y="2834640"/>
            <a:ext cx="3657600" cy="3108960"/>
          </a:xfrm>
          <a:prstGeom prst="rect">
            <a:avLst/>
          </a:prstGeom>
          <a:noFill/>
        </p:spPr>
        <p:txBody>
          <a:bodyPr wrap="square" lIns="0" rIns="0" tIns="0" bIns="0" anchor="t">
            <a:spAutoFit/>
          </a:bodyPr>
          <a:lstStyle/>
          <a:p>
            <a:pPr algn="l">
              <a:lnSpc>
                <a:spcPct val="110000"/>
              </a:lnSpc>
              <a:spcAft>
                <a:spcPts val="500"/>
              </a:spcAft>
            </a:pPr>
            <a:r>
              <a:rPr sz="1600" b="1">
                <a:solidFill>
                  <a:srgbClr val="F4EFE4"/>
                </a:solidFill>
                <a:latin typeface="Calibri"/>
              </a:rPr>
              <a:t>3) Sí, y sin rezagos.</a:t>
            </a:r>
          </a:p>
          <a:p>
            <a:pPr>
              <a:lnSpc>
                <a:spcPct val="116000"/>
              </a:lnSpc>
              <a:spcAft>
                <a:spcPts val="1400"/>
              </a:spcAft>
            </a:pPr>
            <a:r>
              <a:rPr sz="1500" b="0">
                <a:solidFill>
                  <a:srgbClr val="F4EFE4"/>
                </a:solidFill>
                <a:latin typeface="Calibri"/>
              </a:rPr>
              <a:t>Las cuatro zonas tocaron el pico en el mismo trimestre, entre el tercero y el cuarto de 2023. Ninguna se movió antes que las otras.</a:t>
            </a:r>
          </a:p>
          <a:p>
            <a:pPr>
              <a:lnSpc>
                <a:spcPct val="110000"/>
              </a:lnSpc>
              <a:spcAft>
                <a:spcPts val="500"/>
              </a:spcAft>
            </a:pPr>
            <a:r>
              <a:rPr sz="1600" b="1">
                <a:solidFill>
                  <a:srgbClr val="F4EFE4"/>
                </a:solidFill>
                <a:latin typeface="Calibri"/>
              </a:rPr>
              <a:t>Lo que cambia es cuánto perdieron.</a:t>
            </a:r>
          </a:p>
          <a:p>
            <a:pPr>
              <a:lnSpc>
                <a:spcPct val="116000"/>
              </a:lnSpc>
              <a:spcAft>
                <a:spcPts val="1400"/>
              </a:spcAft>
            </a:pPr>
            <a:r>
              <a:rPr sz="1500" b="0">
                <a:solidFill>
                  <a:srgbClr val="F4EFE4"/>
                </a:solidFill>
                <a:latin typeface="Calibri"/>
              </a:rPr>
              <a:t>Norte y Centro quedaron 13-15% abajo de 2018; Oeste y Sur,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600" b="1">
                <a:solidFill>
                  <a:srgbClr val="15505E"/>
                </a:solidFill>
                <a:latin typeface="Bookman Old Style"/>
              </a:rPr>
              <a:t>NUESTRAS DOS HIPÓTESIS</a:t>
            </a:r>
          </a:p>
        </p:txBody>
      </p:sp>
      <p:sp>
        <p:nvSpPr>
          <p:cNvPr id="5" name="TextBox 4"/>
          <p:cNvSpPr txBox="1"/>
          <p:nvPr/>
        </p:nvSpPr>
        <p:spPr>
          <a:xfrm>
            <a:off x="822960" y="1965960"/>
            <a:ext cx="10515600" cy="731520"/>
          </a:xfrm>
          <a:prstGeom prst="rect">
            <a:avLst/>
          </a:prstGeom>
          <a:noFill/>
        </p:spPr>
        <p:txBody>
          <a:bodyPr wrap="square" lIns="0" rIns="0" tIns="0" bIns="0" anchor="t">
            <a:spAutoFit/>
          </a:bodyPr>
          <a:lstStyle/>
          <a:p>
            <a:pPr algn="l">
              <a:lnSpc>
                <a:spcPct val="116000"/>
              </a:lnSpc>
              <a:spcAft>
                <a:spcPts val="1300"/>
              </a:spcAft>
            </a:pPr>
            <a:r>
              <a:rPr sz="1700" b="0">
                <a:solidFill>
                  <a:srgbClr val="15505E"/>
                </a:solidFill>
                <a:latin typeface="Calibri"/>
              </a:rPr>
              <a:t>Decir que la jerarquía de precios entre comunas es estable describe, pero no explica nada. Buscamos dos regularidades que sí pidan una explicación.</a:t>
            </a:r>
          </a:p>
        </p:txBody>
      </p:sp>
      <p:sp>
        <p:nvSpPr>
          <p:cNvPr id="6" name="TextBox 5"/>
          <p:cNvSpPr txBox="1"/>
          <p:nvPr/>
        </p:nvSpPr>
        <p:spPr>
          <a:xfrm>
            <a:off x="822960" y="3017520"/>
            <a:ext cx="5029200" cy="283464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1) El faltante como termómetro de la oferta</a:t>
            </a:r>
          </a:p>
          <a:p>
            <a:pPr>
              <a:lnSpc>
                <a:spcPct val="116000"/>
              </a:lnSpc>
              <a:spcAft>
                <a:spcPts val="1600"/>
              </a:spcAft>
            </a:pPr>
            <a:r>
              <a:rPr sz="1650" b="0">
                <a:solidFill>
                  <a:srgbClr val="15505E"/>
                </a:solidFill>
                <a:latin typeface="Calibri"/>
              </a:rPr>
              <a:t>La fuente solo publica una comuna si supera un mínimo de avisos, así que el faltante nos sirve de medida indirecta de la oferta. Si la Ley de Alquileres la retrajo, deberíamos ver más faltantes durante la ley y menos después.</a:t>
            </a:r>
          </a:p>
        </p:txBody>
      </p:sp>
      <p:sp>
        <p:nvSpPr>
          <p:cNvPr id="7" name="TextBox 6"/>
          <p:cNvSpPr txBox="1"/>
          <p:nvPr/>
        </p:nvSpPr>
        <p:spPr>
          <a:xfrm>
            <a:off x="6355080" y="3017520"/>
            <a:ext cx="4983480" cy="283464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2) El lujo amplifica el ciclo</a:t>
            </a:r>
          </a:p>
          <a:p>
            <a:pPr>
              <a:lnSpc>
                <a:spcPct val="116000"/>
              </a:lnSpc>
              <a:spcAft>
                <a:spcPts val="1600"/>
              </a:spcAft>
            </a:pPr>
            <a:r>
              <a:rPr sz="1650" b="0">
                <a:solidFill>
                  <a:srgbClr val="15505E"/>
                </a:solidFill>
                <a:latin typeface="Calibri"/>
              </a:rPr>
              <a:t>En finanzas la beta mide cuánto se mueve un activo cuando se mueve el mercado. Pensamos que las comunas caras funcionan como un activo de beta alta: suben más en los auges y caen más en las bajas.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4389120" cy="1463040"/>
          </a:xfrm>
          <a:prstGeom prst="rect">
            <a:avLst/>
          </a:prstGeom>
          <a:noFill/>
        </p:spPr>
        <p:txBody>
          <a:bodyPr wrap="square" lIns="0" rIns="0" tIns="0" bIns="0" anchor="t">
            <a:spAutoFit/>
          </a:bodyPr>
          <a:lstStyle/>
          <a:p>
            <a:pPr algn="l">
              <a:lnSpc>
                <a:spcPct val="95000"/>
              </a:lnSpc>
              <a:spcAft>
                <a:spcPts val="0"/>
              </a:spcAft>
            </a:pPr>
            <a:r>
              <a:rPr sz="4600" b="1">
                <a:solidFill>
                  <a:srgbClr val="F4EFE4"/>
                </a:solidFill>
                <a:latin typeface="Bookman Old Style"/>
              </a:rPr>
              <a:t>LOS FALTANTES</a:t>
            </a:r>
          </a:p>
        </p:txBody>
      </p:sp>
      <p:sp>
        <p:nvSpPr>
          <p:cNvPr id="5" name="TextBox 4"/>
          <p:cNvSpPr txBox="1"/>
          <p:nvPr/>
        </p:nvSpPr>
        <p:spPr>
          <a:xfrm>
            <a:off x="822960" y="2377440"/>
            <a:ext cx="4389120" cy="3566160"/>
          </a:xfrm>
          <a:prstGeom prst="rect">
            <a:avLst/>
          </a:prstGeom>
          <a:noFill/>
        </p:spPr>
        <p:txBody>
          <a:bodyPr wrap="square" lIns="0" rIns="0" tIns="0" bIns="0" anchor="t">
            <a:spAutoFit/>
          </a:bodyPr>
          <a:lstStyle/>
          <a:p>
            <a:pPr algn="l">
              <a:lnSpc>
                <a:spcPct val="110000"/>
              </a:lnSpc>
              <a:spcAft>
                <a:spcPts val="500"/>
              </a:spcAft>
            </a:pPr>
            <a:r>
              <a:rPr sz="1700" b="1">
                <a:solidFill>
                  <a:srgbClr val="F4EFE4"/>
                </a:solidFill>
                <a:latin typeface="Calibri"/>
              </a:rPr>
              <a:t>Faltan 199 de 1.530 datos (13%).</a:t>
            </a:r>
          </a:p>
          <a:p>
            <a:pPr>
              <a:lnSpc>
                <a:spcPct val="116000"/>
              </a:lnSpc>
              <a:spcAft>
                <a:spcPts val="1600"/>
              </a:spcAft>
            </a:pPr>
            <a:r>
              <a:rPr sz="1600" b="0">
                <a:solidFill>
                  <a:srgbClr val="F4EFE4"/>
                </a:solidFill>
                <a:latin typeface="Calibri"/>
              </a:rPr>
              <a:t>No están repartidos al azar: la fuente solo publica una comuna si alcanza un mínimo de avisos, así que el faltante depende del propio mercado.</a:t>
            </a:r>
          </a:p>
          <a:p>
            <a:pPr>
              <a:lnSpc>
                <a:spcPct val="110000"/>
              </a:lnSpc>
              <a:spcAft>
                <a:spcPts val="500"/>
              </a:spcAft>
            </a:pPr>
            <a:r>
              <a:rPr sz="1700" b="1">
                <a:solidFill>
                  <a:srgbClr val="F4EFE4"/>
                </a:solidFill>
                <a:latin typeface="Calibri"/>
              </a:rPr>
              <a:t>Es lo que en clase llamamos MNAR.</a:t>
            </a:r>
          </a:p>
          <a:p>
            <a:pPr>
              <a:lnSpc>
                <a:spcPct val="116000"/>
              </a:lnSpc>
              <a:spcAft>
                <a:spcPts val="1600"/>
              </a:spcAft>
            </a:pPr>
            <a:r>
              <a:rPr sz="1600" b="0">
                <a:solidFill>
                  <a:srgbClr val="F4EFE4"/>
                </a:solidFill>
                <a:latin typeface="Calibri"/>
              </a:rPr>
              <a:t>Ni borrar ni imputar arreglan ese sesgo. Por eso no imputamos ningún precio.</a:t>
            </a:r>
          </a:p>
          <a:p>
            <a:pPr>
              <a:lnSpc>
                <a:spcPct val="110000"/>
              </a:lnSpc>
              <a:spcAft>
                <a:spcPts val="500"/>
              </a:spcAft>
            </a:pPr>
            <a:r>
              <a:rPr sz="1700" b="1">
                <a:solidFill>
                  <a:srgbClr val="F4EFE4"/>
                </a:solidFill>
                <a:latin typeface="Calibri"/>
              </a:rPr>
              <a:t>El caso extremo es la Comuna 8.</a:t>
            </a:r>
          </a:p>
          <a:p>
            <a:pPr>
              <a:lnSpc>
                <a:spcPct val="116000"/>
              </a:lnSpc>
              <a:spcAft>
                <a:spcPts val="1600"/>
              </a:spcAft>
            </a:pPr>
            <a:r>
              <a:rPr sz="1600" b="0">
                <a:solidFill>
                  <a:srgbClr val="F4EFE4"/>
                </a:solidFill>
                <a:latin typeface="Calibri"/>
              </a:rPr>
              <a:t>Villa Soldati, Lugano y Riachuelo: 3 datos en 8 años. La dejamos afuera de todo lo que necesita serie completa.</a:t>
            </a:r>
          </a:p>
        </p:txBody>
      </p:sp>
      <p:graphicFrame>
        <p:nvGraphicFramePr>
          <p:cNvPr id="6" name="Table 5"/>
          <p:cNvGraphicFramePr>
            <a:graphicFrameLocks noGrp="1"/>
          </p:cNvGraphicFramePr>
          <p:nvPr/>
        </p:nvGraphicFramePr>
        <p:xfrm>
          <a:off x="5852160" y="1417320"/>
          <a:ext cx="5486400" cy="4315968"/>
        </p:xfrm>
        <a:graphic>
          <a:graphicData uri="http://schemas.openxmlformats.org/drawingml/2006/table">
            <a:tbl>
              <a:tblPr>
                <a:tableStyleId>{5C22544A-7EE6-4342-B048-85BDC9FD1C3A}</a:tableStyleId>
              </a:tblPr>
              <a:tblGrid>
                <a:gridCol w="3291840"/>
                <a:gridCol w="2194560"/>
              </a:tblGrid>
              <a:tr h="512064">
                <a:tc>
                  <a:txBody>
                    <a:bodyPr wrap="square"/>
                    <a:lstStyle/>
                    <a:p>
                      <a:pPr algn="ctr">
                        <a:lnSpc>
                          <a:spcPct val="102000"/>
                        </a:lnSpc>
                        <a:spcAft>
                          <a:spcPts val="0"/>
                        </a:spcAft>
                      </a:pPr>
                      <a:r>
                        <a:rPr sz="1500" b="1">
                          <a:solidFill>
                            <a:srgbClr val="F4EFE4"/>
                          </a:solidFill>
                          <a:latin typeface="Calibri"/>
                        </a:rPr>
                        <a:t>Corte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500" b="0">
                          <a:solidFill>
                            <a:srgbClr val="15505E"/>
                          </a:solidFill>
                          <a:latin typeface="Calibri"/>
                        </a:rPr>
                        <a:t>Total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13,0%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45,1%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1 ambiente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17,1%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2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500" b="0">
                          <a:solidFill>
                            <a:srgbClr val="15505E"/>
                          </a:solidFill>
                          <a:latin typeface="Calibri"/>
                        </a:rPr>
                        <a:t>3 ambientes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14,1%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200" b="1">
                <a:solidFill>
                  <a:srgbClr val="15505E"/>
                </a:solidFill>
                <a:latin typeface="Bookman Old Style"/>
              </a:rPr>
              <a:t>QUÉ HACEMOS CON LOS FALTANTES</a:t>
            </a:r>
          </a:p>
        </p:txBody>
      </p:sp>
      <p:sp>
        <p:nvSpPr>
          <p:cNvPr id="5" name="TextBox 4"/>
          <p:cNvSpPr txBox="1"/>
          <p:nvPr/>
        </p:nvSpPr>
        <p:spPr>
          <a:xfrm>
            <a:off x="822960" y="1920240"/>
            <a:ext cx="10515600" cy="548640"/>
          </a:xfrm>
          <a:prstGeom prst="rect">
            <a:avLst/>
          </a:prstGeom>
          <a:noFill/>
        </p:spPr>
        <p:txBody>
          <a:bodyPr wrap="square" lIns="0" rIns="0" tIns="0" bIns="0" anchor="t">
            <a:spAutoFit/>
          </a:bodyPr>
          <a:lstStyle/>
          <a:p>
            <a:pPr algn="l">
              <a:lnSpc>
                <a:spcPct val="116000"/>
              </a:lnSpc>
              <a:spcAft>
                <a:spcPts val="1300"/>
              </a:spcAft>
            </a:pPr>
            <a:r>
              <a:rPr sz="1700" b="0">
                <a:solidFill>
                  <a:srgbClr val="15505E"/>
                </a:solidFill>
                <a:latin typeface="Calibri"/>
              </a:rPr>
              <a:t>No tomamos una sola decisión para toda la base: depende de para qué usamos el dato en cada hipótesis.</a:t>
            </a:r>
          </a:p>
        </p:txBody>
      </p:sp>
      <p:graphicFrame>
        <p:nvGraphicFramePr>
          <p:cNvPr id="6" name="Table 5"/>
          <p:cNvGraphicFramePr>
            <a:graphicFrameLocks noGrp="1"/>
          </p:cNvGraphicFramePr>
          <p:nvPr/>
        </p:nvGraphicFramePr>
        <p:xfrm>
          <a:off x="822960" y="2743200"/>
          <a:ext cx="10515600" cy="2103120"/>
        </p:xfrm>
        <a:graphic>
          <a:graphicData uri="http://schemas.openxmlformats.org/drawingml/2006/table">
            <a:tbl>
              <a:tblPr>
                <a:tableStyleId>{5C22544A-7EE6-4342-B048-85BDC9FD1C3A}</a:tableStyleId>
              </a:tblPr>
              <a:tblGrid>
                <a:gridCol w="5257800"/>
                <a:gridCol w="5257800"/>
              </a:tblGrid>
              <a:tr h="548640">
                <a:tc>
                  <a:txBody>
                    <a:bodyPr wrap="square"/>
                    <a:lstStyle/>
                    <a:p>
                      <a:pPr algn="ctr">
                        <a:lnSpc>
                          <a:spcPct val="102000"/>
                        </a:lnSpc>
                        <a:spcAft>
                          <a:spcPts val="0"/>
                        </a:spcAft>
                      </a:pPr>
                      <a:r>
                        <a:rPr sz="1600" b="1">
                          <a:solidFill>
                            <a:srgbClr val="F4EFE4"/>
                          </a:solidFill>
                          <a:latin typeface="Calibri"/>
                        </a:rPr>
                        <a:t>Hipótesis 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600" b="1">
                          <a:solidFill>
                            <a:srgbClr val="F4EFE4"/>
                          </a:solidFill>
                          <a:latin typeface="Calibri"/>
                        </a:rPr>
                        <a:t>Hipótesis 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1554480">
                <a:tc>
                  <a:txBody>
                    <a:bodyPr wrap="square"/>
                    <a:lstStyle/>
                    <a:p>
                      <a:pPr algn="ctr">
                        <a:lnSpc>
                          <a:spcPct val="102000"/>
                        </a:lnSpc>
                        <a:spcAft>
                          <a:spcPts val="0"/>
                        </a:spcAft>
                      </a:pPr>
                      <a:r>
                        <a:rPr sz="1600" b="0">
                          <a:solidFill>
                            <a:srgbClr val="15505E"/>
                          </a:solidFill>
                          <a:latin typeface="Calibri"/>
                        </a:rPr>
                        <a:t>Los mantenemos. El faltante es la variable que queremos estudiar: imputarlo sería borrar justo lo que medimos.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600" b="0">
                          <a:solidFill>
                            <a:srgbClr val="15505E"/>
                          </a:solidFill>
                          <a:latin typeface="Calibri"/>
                        </a:rPr>
                        <a:t>Panel balanceado. Interpolamos los huecos de hasta 4 trimestres y dejamos afuera las series incompletas.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822960" y="5120640"/>
            <a:ext cx="1051560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15505E"/>
                </a:solidFill>
                <a:latin typeface="Calibri"/>
              </a:rPr>
              <a:t>Qué consecuencias tiene. </a:t>
            </a:r>
            <a:r>
              <a:rPr sz="1600" b="0">
                <a:solidFill>
                  <a:srgbClr val="15505E"/>
                </a:solidFill>
                <a:latin typeface="Calibri"/>
              </a:rPr>
              <a:t>El panel queda con 38 de las 45 series y el Sur apenas con 5, así que ahí queda subrepresentado. Interpolamos 22 valores, 8 de ellos en 2023, y eso suaviza el pico de esas series.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OUTLIERS: EL PICO DE 2023</a:t>
            </a:r>
          </a:p>
        </p:txBody>
      </p:sp>
      <p:sp>
        <p:nvSpPr>
          <p:cNvPr id="5" name="TextBox 4"/>
          <p:cNvSpPr txBox="1"/>
          <p:nvPr/>
        </p:nvSpPr>
        <p:spPr>
          <a:xfrm>
            <a:off x="822960" y="2148840"/>
            <a:ext cx="5577840" cy="3749039"/>
          </a:xfrm>
          <a:prstGeom prst="rect">
            <a:avLst/>
          </a:prstGeom>
          <a:noFill/>
        </p:spPr>
        <p:txBody>
          <a:bodyPr wrap="square" lIns="0" rIns="0" tIns="0" bIns="0" anchor="t">
            <a:spAutoFit/>
          </a:bodyPr>
          <a:lstStyle/>
          <a:p>
            <a:pPr algn="l">
              <a:lnSpc>
                <a:spcPct val="110000"/>
              </a:lnSpc>
              <a:spcAft>
                <a:spcPts val="500"/>
              </a:spcAft>
            </a:pPr>
            <a:r>
              <a:rPr sz="1800" b="1">
                <a:solidFill>
                  <a:srgbClr val="F4EFE4"/>
                </a:solidFill>
                <a:latin typeface="Calibri"/>
              </a:rPr>
              <a:t>Criterio: el rango intercuartílico.</a:t>
            </a:r>
          </a:p>
          <a:p>
            <a:pPr>
              <a:lnSpc>
                <a:spcPct val="116000"/>
              </a:lnSpc>
              <a:spcAft>
                <a:spcPts val="1600"/>
              </a:spcAft>
            </a:pPr>
            <a:r>
              <a:rPr sz="1650" b="0">
                <a:solidFill>
                  <a:srgbClr val="F4EFE4"/>
                </a:solidFill>
                <a:latin typeface="Calibri"/>
              </a:rPr>
              <a:t>Es atípico lo que cae fuera de Q1 − 1,5·IQR y Q3 + 1,5·IQR. Lo aplicamos sobre el precio relativo y sobre el logaritmo del precio por m², porque el precio en pesos es asimétrico.</a:t>
            </a:r>
          </a:p>
          <a:p>
            <a:pPr>
              <a:lnSpc>
                <a:spcPct val="110000"/>
              </a:lnSpc>
              <a:spcAft>
                <a:spcPts val="500"/>
              </a:spcAft>
            </a:pPr>
            <a:r>
              <a:rPr sz="1800" b="1">
                <a:solidFill>
                  <a:srgbClr val="F4EFE4"/>
                </a:solidFill>
                <a:latin typeface="Calibri"/>
              </a:rPr>
              <a:t>Son datos reales, no errores.</a:t>
            </a:r>
          </a:p>
          <a:p>
            <a:pPr>
              <a:lnSpc>
                <a:spcPct val="116000"/>
              </a:lnSpc>
              <a:spcAft>
                <a:spcPts val="1600"/>
              </a:spcAft>
            </a:pPr>
            <a:r>
              <a:rPr sz="1650" b="0">
                <a:solidFill>
                  <a:srgbClr val="F4EFE4"/>
                </a:solidFill>
                <a:latin typeface="Calibri"/>
              </a:rPr>
              <a:t>No hay valores imposibles ni saltos de un orden de magnitud, y aparecen todos en el mismo episodio: el pico real de 2023.</a:t>
            </a:r>
          </a:p>
        </p:txBody>
      </p:sp>
      <p:graphicFrame>
        <p:nvGraphicFramePr>
          <p:cNvPr id="6" name="Table 5"/>
          <p:cNvGraphicFramePr>
            <a:graphicFrameLocks noGrp="1"/>
          </p:cNvGraphicFramePr>
          <p:nvPr/>
        </p:nvGraphicFramePr>
        <p:xfrm>
          <a:off x="6812280" y="2148840"/>
          <a:ext cx="4526280" cy="1865376"/>
        </p:xfrm>
        <a:graphic>
          <a:graphicData uri="http://schemas.openxmlformats.org/drawingml/2006/table">
            <a:tbl>
              <a:tblPr>
                <a:tableStyleId>{5C22544A-7EE6-4342-B048-85BDC9FD1C3A}</a:tableStyleId>
              </a:tblPr>
              <a:tblGrid>
                <a:gridCol w="2331720"/>
                <a:gridCol w="1097280"/>
                <a:gridCol w="1097280"/>
              </a:tblGrid>
              <a:tr h="548640">
                <a:tc>
                  <a:txBody>
                    <a:bodyPr wrap="square"/>
                    <a:lstStyle/>
                    <a:p>
                      <a:pPr algn="ctr">
                        <a:lnSpc>
                          <a:spcPct val="102000"/>
                        </a:lnSpc>
                        <a:spcAft>
                          <a:spcPts val="0"/>
                        </a:spcAft>
                      </a:pPr>
                      <a:r>
                        <a:rPr sz="1500" b="1">
                          <a:solidFill>
                            <a:srgbClr val="F4EFE4"/>
                          </a:solidFill>
                          <a:latin typeface="Calibri"/>
                        </a:rPr>
                        <a:t>Criterio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Casos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500" b="1">
                          <a:solidFill>
                            <a:srgbClr val="F4EFE4"/>
                          </a:solidFill>
                          <a:latin typeface="Calibri"/>
                        </a:rPr>
                        <a:t>En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658368">
                <a:tc>
                  <a:txBody>
                    <a:bodyPr wrap="square"/>
                    <a:lstStyle/>
                    <a:p>
                      <a:pPr algn="ctr">
                        <a:lnSpc>
                          <a:spcPct val="102000"/>
                        </a:lnSpc>
                        <a:spcAft>
                          <a:spcPts val="0"/>
                        </a:spcAft>
                      </a:pPr>
                      <a:r>
                        <a:rPr sz="1500" b="0">
                          <a:solidFill>
                            <a:srgbClr val="15505E"/>
                          </a:solidFill>
                          <a:latin typeface="Calibri"/>
                        </a:rPr>
                        <a:t>Precio relativo (Ciudad = 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658368">
                <a:tc>
                  <a:txBody>
                    <a:bodyPr wrap="square"/>
                    <a:lstStyle/>
                    <a:p>
                      <a:pPr algn="ctr">
                        <a:lnSpc>
                          <a:spcPct val="102000"/>
                        </a:lnSpc>
                        <a:spcAft>
                          <a:spcPts val="0"/>
                        </a:spcAft>
                      </a:pPr>
                      <a:r>
                        <a:rPr sz="1500" b="0">
                          <a:solidFill>
                            <a:srgbClr val="15505E"/>
                          </a:solidFill>
                          <a:latin typeface="Calibri"/>
                        </a:rPr>
                        <a:t>log del precio por m²</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60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6812280" y="4297680"/>
            <a:ext cx="4526280" cy="16459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Los mantenemos. </a:t>
            </a:r>
            <a:r>
              <a:rPr sz="1600" b="0">
                <a:solidFill>
                  <a:srgbClr val="F4EFE4"/>
                </a:solidFill>
                <a:latin typeface="Calibri"/>
              </a:rPr>
              <a:t>El pico de 2023 es el auge donde la hipótesis 2 mide la amplificación: borrarlo sería borrar el fenómeno. Para que no dominen trabajamos en logaritmos y usamos tests no paramétricos.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000" b="1">
                <a:solidFill>
                  <a:srgbClr val="15505E"/>
                </a:solidFill>
                <a:latin typeface="Bookman Old Style"/>
              </a:rPr>
              <a:t>H1. LA OFERTA Y LA LEY DE ALQUILERES</a:t>
            </a:r>
          </a:p>
        </p:txBody>
      </p:sp>
      <p:pic>
        <p:nvPicPr>
          <p:cNvPr id="5" name="Picture 4" descr="i2_g01_faltantes_trimestre.png"/>
          <p:cNvPicPr>
            <a:picLocks noChangeAspect="1"/>
          </p:cNvPicPr>
          <p:nvPr/>
        </p:nvPicPr>
        <p:blipFill>
          <a:blip r:embed="rId3"/>
          <a:stretch>
            <a:fillRect/>
          </a:stretch>
        </p:blipFill>
        <p:spPr>
          <a:xfrm>
            <a:off x="777240" y="2011680"/>
            <a:ext cx="7223760" cy="3756355"/>
          </a:xfrm>
          <a:prstGeom prst="rect">
            <a:avLst/>
          </a:prstGeom>
        </p:spPr>
      </p:pic>
      <p:sp>
        <p:nvSpPr>
          <p:cNvPr id="6" name="TextBox 5"/>
          <p:cNvSpPr txBox="1"/>
          <p:nvPr/>
        </p:nvSpPr>
        <p:spPr>
          <a:xfrm>
            <a:off x="8275320" y="1920240"/>
            <a:ext cx="3108960" cy="4023360"/>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Tres períodos para comparar.</a:t>
            </a:r>
          </a:p>
          <a:p>
            <a:pPr>
              <a:lnSpc>
                <a:spcPct val="116000"/>
              </a:lnSpc>
              <a:spcAft>
                <a:spcPts val="1600"/>
              </a:spcAft>
            </a:pPr>
            <a:r>
              <a:rPr sz="1600" b="0">
                <a:solidFill>
                  <a:srgbClr val="15505E"/>
                </a:solidFill>
                <a:latin typeface="Calibri"/>
              </a:rPr>
              <a:t>La Ley 27.551 rigió desde mediados de 2020 y fue derogada a fines de diciembre de 2023.</a:t>
            </a:r>
          </a:p>
          <a:p>
            <a:pPr>
              <a:lnSpc>
                <a:spcPct val="110000"/>
              </a:lnSpc>
              <a:spcAft>
                <a:spcPts val="500"/>
              </a:spcAft>
            </a:pPr>
            <a:r>
              <a:rPr sz="1700" b="1">
                <a:solidFill>
                  <a:srgbClr val="15505E"/>
                </a:solidFill>
                <a:latin typeface="Calibri"/>
              </a:rPr>
              <a:t>Antes: 12,7% sin dato. Durante la ley: 17,6%. Después: 6,9%.</a:t>
            </a:r>
          </a:p>
          <a:p>
            <a:pPr>
              <a:lnSpc>
                <a:spcPct val="116000"/>
              </a:lnSpc>
              <a:spcAft>
                <a:spcPts val="1600"/>
              </a:spcAft>
            </a:pPr>
            <a:r>
              <a:rPr sz="1600" b="0">
                <a:solidFill>
                  <a:srgbClr val="15505E"/>
                </a:solidFill>
                <a:latin typeface="Calibri"/>
              </a:rPr>
              <a:t>El salto de 2024 es el más fuerte de toda la serie.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4937760"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TEST CHI-CUADRADO</a:t>
            </a:r>
          </a:p>
        </p:txBody>
      </p:sp>
      <p:sp>
        <p:nvSpPr>
          <p:cNvPr id="5" name="TextBox 4"/>
          <p:cNvSpPr txBox="1"/>
          <p:nvPr/>
        </p:nvSpPr>
        <p:spPr>
          <a:xfrm>
            <a:off x="822960" y="2240280"/>
            <a:ext cx="4937760" cy="3657600"/>
          </a:xfrm>
          <a:prstGeom prst="rect">
            <a:avLst/>
          </a:prstGeom>
          <a:noFill/>
        </p:spPr>
        <p:txBody>
          <a:bodyPr wrap="square" lIns="0" rIns="0" tIns="0" bIns="0" anchor="t">
            <a:spAutoFit/>
          </a:bodyPr>
          <a:lstStyle/>
          <a:p>
            <a:pPr algn="l">
              <a:lnSpc>
                <a:spcPct val="110000"/>
              </a:lnSpc>
              <a:spcAft>
                <a:spcPts val="1400"/>
              </a:spcAft>
            </a:pPr>
            <a:r>
              <a:rPr sz="1700" b="1">
                <a:solidFill>
                  <a:srgbClr val="F4EFE4"/>
                </a:solidFill>
                <a:latin typeface="Calibri"/>
              </a:rPr>
              <a:t>H0: tener dato publicado es independiente del período.</a:t>
            </a:r>
          </a:p>
          <a:p>
            <a:pPr>
              <a:lnSpc>
                <a:spcPct val="110000"/>
              </a:lnSpc>
              <a:spcAft>
                <a:spcPts val="1400"/>
              </a:spcAft>
            </a:pPr>
            <a:r>
              <a:rPr sz="1700" b="1">
                <a:solidFill>
                  <a:srgbClr val="F4EFE4"/>
                </a:solidFill>
                <a:latin typeface="Calibri"/>
              </a:rPr>
              <a:t>H1: la proporción de faltantes cambia entre períodos.</a:t>
            </a:r>
          </a:p>
          <a:p>
            <a:pPr>
              <a:lnSpc>
                <a:spcPct val="110000"/>
              </a:lnSpc>
              <a:spcAft>
                <a:spcPts val="500"/>
              </a:spcAft>
            </a:pPr>
            <a:r>
              <a:rPr sz="1700" b="1">
                <a:solidFill>
                  <a:srgbClr val="F4EFE4"/>
                </a:solidFill>
                <a:latin typeface="Calibri"/>
              </a:rPr>
              <a:t>χ² = 26,78 (2 gl), p &lt; 0,001.</a:t>
            </a:r>
          </a:p>
          <a:p>
            <a:pPr>
              <a:lnSpc>
                <a:spcPct val="116000"/>
              </a:lnSpc>
              <a:spcAft>
                <a:spcPts val="1400"/>
              </a:spcAft>
            </a:pPr>
            <a:r>
              <a:rPr sz="1600" b="0">
                <a:solidFill>
                  <a:srgbClr val="F4EFE4"/>
                </a:solidFill>
                <a:latin typeface="Calibri"/>
              </a:rPr>
              <a:t>La V de Cramér da 0,13: la asociación existe pero es moderada. Los residuos muestran dónde está, +4,49 durante la ley y −4,59 después.</a:t>
            </a:r>
          </a:p>
        </p:txBody>
      </p:sp>
      <p:graphicFrame>
        <p:nvGraphicFramePr>
          <p:cNvPr id="6" name="Table 5"/>
          <p:cNvGraphicFramePr>
            <a:graphicFrameLocks noGrp="1"/>
          </p:cNvGraphicFramePr>
          <p:nvPr/>
        </p:nvGraphicFramePr>
        <p:xfrm>
          <a:off x="6126480" y="1463040"/>
          <a:ext cx="5212080" cy="2212848"/>
        </p:xfrm>
        <a:graphic>
          <a:graphicData uri="http://schemas.openxmlformats.org/drawingml/2006/table">
            <a:tbl>
              <a:tblPr>
                <a:tableStyleId>{5C22544A-7EE6-4342-B048-85BDC9FD1C3A}</a:tableStyleId>
              </a:tblPr>
              <a:tblGrid>
                <a:gridCol w="1600200"/>
                <a:gridCol w="960120"/>
                <a:gridCol w="914400"/>
                <a:gridCol w="868680"/>
                <a:gridCol w="868680"/>
              </a:tblGrid>
              <a:tr h="566928">
                <a:tc>
                  <a:txBody>
                    <a:bodyPr wrap="square"/>
                    <a:lstStyle/>
                    <a:p>
                      <a:pPr algn="ctr">
                        <a:lnSpc>
                          <a:spcPct val="102000"/>
                        </a:lnSpc>
                        <a:spcAft>
                          <a:spcPts val="0"/>
                        </a:spcAft>
                      </a:pPr>
                      <a:r>
                        <a:rPr sz="1350" b="1">
                          <a:solidFill>
                            <a:srgbClr val="F4EFE4"/>
                          </a:solidFill>
                          <a:latin typeface="Calibri"/>
                        </a:rPr>
                        <a:t>Período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Con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Sin dato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Residuo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48640">
                <a:tc>
                  <a:txBody>
                    <a:bodyPr wrap="square"/>
                    <a:lstStyle/>
                    <a:p>
                      <a:pPr algn="ctr">
                        <a:lnSpc>
                          <a:spcPct val="102000"/>
                        </a:lnSpc>
                        <a:spcAft>
                          <a:spcPts val="0"/>
                        </a:spcAft>
                      </a:pPr>
                      <a:r>
                        <a:rPr sz="1400" b="0">
                          <a:solidFill>
                            <a:srgbClr val="15505E"/>
                          </a:solidFill>
                          <a:latin typeface="Calibri"/>
                        </a:rPr>
                        <a:t>Antes de la 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393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Ley de Alquileres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111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17,6%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+4,49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48640">
                <a:tc>
                  <a:txBody>
                    <a:bodyPr wrap="square"/>
                    <a:lstStyle/>
                    <a:p>
                      <a:pPr algn="ctr">
                        <a:lnSpc>
                          <a:spcPct val="102000"/>
                        </a:lnSpc>
                        <a:spcAft>
                          <a:spcPts val="0"/>
                        </a:spcAft>
                      </a:pPr>
                      <a:r>
                        <a:rPr sz="140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6126480" y="4114800"/>
            <a:ext cx="5212080" cy="1828800"/>
          </a:xfrm>
          <a:prstGeom prst="rect">
            <a:avLst/>
          </a:prstGeom>
          <a:noFill/>
        </p:spPr>
        <p:txBody>
          <a:bodyPr wrap="square" lIns="0" rIns="0" tIns="0" bIns="0" anchor="t">
            <a:spAutoFit/>
          </a:bodyPr>
          <a:lstStyle/>
          <a:p>
            <a:pPr algn="l">
              <a:lnSpc>
                <a:spcPct val="116000"/>
              </a:lnSpc>
              <a:spcAft>
                <a:spcPts val="1300"/>
              </a:spcAft>
            </a:pPr>
            <a:r>
              <a:rPr sz="1550" b="1">
                <a:solidFill>
                  <a:srgbClr val="F4EFE4"/>
                </a:solidFill>
                <a:latin typeface="Calibri"/>
              </a:rPr>
              <a:t>El supuesto flojo es la independencia: </a:t>
            </a:r>
            <a:r>
              <a:rPr sz="1550" b="0">
                <a:solidFill>
                  <a:srgbClr val="F4EFE4"/>
                </a:solidFill>
                <a:latin typeface="Calibri"/>
              </a:rPr>
              <a:t>los 34 trimestres de una misma comuna no lo son. Por eso agregamos un test apareado. De las 14 series con faltantes, 12 tuvieron más durante la ley que después y ninguna tuvo menos (Wilcoxon, p = 0,0005).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H1. DÓNDE PASA Y QUÉ DICEN LOS ÍNDICES</a:t>
            </a:r>
          </a:p>
        </p:txBody>
      </p:sp>
      <p:sp>
        <p:nvSpPr>
          <p:cNvPr id="5" name="TextBox 4"/>
          <p:cNvSpPr txBox="1"/>
          <p:nvPr/>
        </p:nvSpPr>
        <p:spPr>
          <a:xfrm>
            <a:off x="822960" y="1847088"/>
            <a:ext cx="512064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El mismo test dentro de cada zona</a:t>
            </a:r>
          </a:p>
        </p:txBody>
      </p:sp>
      <p:graphicFrame>
        <p:nvGraphicFramePr>
          <p:cNvPr id="6" name="Table 5"/>
          <p:cNvGraphicFramePr>
            <a:graphicFrameLocks noGrp="1"/>
          </p:cNvGraphicFramePr>
          <p:nvPr/>
        </p:nvGraphicFramePr>
        <p:xfrm>
          <a:off x="822960" y="2331720"/>
          <a:ext cx="5120640" cy="2414016"/>
        </p:xfrm>
        <a:graphic>
          <a:graphicData uri="http://schemas.openxmlformats.org/drawingml/2006/table">
            <a:tbl>
              <a:tblPr>
                <a:tableStyleId>{5C22544A-7EE6-4342-B048-85BDC9FD1C3A}</a:tableStyleId>
              </a:tblPr>
              <a:tblGrid>
                <a:gridCol w="1097280"/>
                <a:gridCol w="1005840"/>
                <a:gridCol w="1005840"/>
                <a:gridCol w="1097280"/>
                <a:gridCol w="914400"/>
              </a:tblGrid>
              <a:tr h="512064">
                <a:tc>
                  <a:txBody>
                    <a:bodyPr wrap="square"/>
                    <a:lstStyle/>
                    <a:p>
                      <a:pPr algn="ctr">
                        <a:lnSpc>
                          <a:spcPct val="102000"/>
                        </a:lnSpc>
                        <a:spcAft>
                          <a:spcPts val="0"/>
                        </a:spcAft>
                      </a:pPr>
                      <a:r>
                        <a:rPr sz="13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V</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8,7%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45,8%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58,3%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25,8%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0,27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822960" y="4937760"/>
            <a:ext cx="5120640" cy="118872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Todo el efecto está en el Sur y el Oeste, donde la oferta ya estaba cerca del umbral. En el Norte y el Centro no pasa nada.</a:t>
            </a:r>
          </a:p>
        </p:txBody>
      </p:sp>
      <p:sp>
        <p:nvSpPr>
          <p:cNvPr id="8" name="TextBox 7"/>
          <p:cNvSpPr txBox="1"/>
          <p:nvPr/>
        </p:nvSpPr>
        <p:spPr>
          <a:xfrm>
            <a:off x="6400800" y="1847088"/>
            <a:ext cx="4937760" cy="457200"/>
          </a:xfrm>
          <a:prstGeom prst="rect">
            <a:avLst/>
          </a:prstGeom>
          <a:noFill/>
        </p:spPr>
        <p:txBody>
          <a:bodyPr wrap="square" lIns="0" rIns="0" tIns="0" bIns="0" anchor="t">
            <a:spAutoFit/>
          </a:bodyPr>
          <a:lstStyle/>
          <a:p>
            <a:pPr algn="l">
              <a:lnSpc>
                <a:spcPct val="116000"/>
              </a:lnSpc>
              <a:spcAft>
                <a:spcPts val="1300"/>
              </a:spcAft>
            </a:pPr>
            <a:r>
              <a:rPr sz="1700" b="1">
                <a:solidFill>
                  <a:srgbClr val="15505E"/>
                </a:solidFill>
                <a:latin typeface="Calibri"/>
              </a:rPr>
              <a:t>Precio real y desigualdad</a:t>
            </a:r>
          </a:p>
        </p:txBody>
      </p:sp>
      <p:graphicFrame>
        <p:nvGraphicFramePr>
          <p:cNvPr id="9" name="Table 8"/>
          <p:cNvGraphicFramePr>
            <a:graphicFrameLocks noGrp="1"/>
          </p:cNvGraphicFramePr>
          <p:nvPr/>
        </p:nvGraphicFramePr>
        <p:xfrm>
          <a:off x="6400800" y="2331720"/>
          <a:ext cx="4937760" cy="1938528"/>
        </p:xfrm>
        <a:graphic>
          <a:graphicData uri="http://schemas.openxmlformats.org/drawingml/2006/table">
            <a:tbl>
              <a:tblPr>
                <a:tableStyleId>{5C22544A-7EE6-4342-B048-85BDC9FD1C3A}</a:tableStyleId>
              </a:tblPr>
              <a:tblGrid>
                <a:gridCol w="1371600"/>
                <a:gridCol w="1188720"/>
                <a:gridCol w="1188720"/>
                <a:gridCol w="1188720"/>
              </a:tblGrid>
              <a:tr h="512064">
                <a:tc>
                  <a:txBody>
                    <a:bodyPr wrap="square"/>
                    <a:lstStyle/>
                    <a:p>
                      <a:pPr algn="ctr">
                        <a:lnSpc>
                          <a:spcPct val="102000"/>
                        </a:lnSpc>
                        <a:spcAft>
                          <a:spcPts val="0"/>
                        </a:spcAft>
                      </a:pPr>
                      <a:r>
                        <a:rPr sz="1350" b="1">
                          <a:solidFill>
                            <a:srgbClr val="F4EFE4"/>
                          </a:solidFill>
                          <a:latin typeface="Calibri"/>
                        </a:rPr>
                        <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Índice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Sin 2023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50" b="1">
                          <a:solidFill>
                            <a:srgbClr val="F4EFE4"/>
                          </a:solidFill>
                          <a:latin typeface="Calibri"/>
                        </a:rPr>
                        <a:t>Theil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00" b="0">
                          <a:solidFill>
                            <a:srgbClr val="15505E"/>
                          </a:solidFill>
                          <a:latin typeface="Calibri"/>
                        </a:rPr>
                        <a:t>Antes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91,7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5,98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Ley</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106,9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98,0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6,57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00" b="0">
                          <a:solidFill>
                            <a:srgbClr val="15505E"/>
                          </a:solidFill>
                          <a:latin typeface="Calibri"/>
                        </a:rPr>
                        <a:t>Después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90,1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00" b="0">
                          <a:solidFill>
                            <a:srgbClr val="15505E"/>
                          </a:solidFill>
                          <a:latin typeface="Calibri"/>
                        </a:rPr>
                        <a:t>3,65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10" name="TextBox 9"/>
          <p:cNvSpPr txBox="1"/>
          <p:nvPr/>
        </p:nvSpPr>
        <p:spPr>
          <a:xfrm>
            <a:off x="6400800" y="4480560"/>
            <a:ext cx="4937760" cy="164592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El precio real fue más alto durante la ley (107 contra 92 y 90). Pero si sacamos 2023 cae a 98: buena parte de ese pico es el salto inflacionario, no la ley.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H1. LAS DOS SERIES</a:t>
            </a:r>
          </a:p>
        </p:txBody>
      </p:sp>
      <p:pic>
        <p:nvPicPr>
          <p:cNvPr id="5" name="Picture 4" descr="i2_g02_indice_real.png"/>
          <p:cNvPicPr>
            <a:picLocks noChangeAspect="1"/>
          </p:cNvPicPr>
          <p:nvPr/>
        </p:nvPicPr>
        <p:blipFill>
          <a:blip r:embed="rId3"/>
          <a:stretch>
            <a:fillRect/>
          </a:stretch>
        </p:blipFill>
        <p:spPr>
          <a:xfrm>
            <a:off x="777240" y="1874519"/>
            <a:ext cx="5303520" cy="2757830"/>
          </a:xfrm>
          <a:prstGeom prst="rect">
            <a:avLst/>
          </a:prstGeom>
        </p:spPr>
      </p:pic>
      <p:pic>
        <p:nvPicPr>
          <p:cNvPr id="6" name="Picture 5" descr="i2_g03_theil.png"/>
          <p:cNvPicPr>
            <a:picLocks noChangeAspect="1"/>
          </p:cNvPicPr>
          <p:nvPr/>
        </p:nvPicPr>
        <p:blipFill>
          <a:blip r:embed="rId4"/>
          <a:stretch>
            <a:fillRect/>
          </a:stretch>
        </p:blipFill>
        <p:spPr>
          <a:xfrm>
            <a:off x="6172200" y="1874519"/>
            <a:ext cx="5303520" cy="2757830"/>
          </a:xfrm>
          <a:prstGeom prst="rect">
            <a:avLst/>
          </a:prstGeom>
        </p:spPr>
      </p:pic>
      <p:sp>
        <p:nvSpPr>
          <p:cNvPr id="7" name="TextBox 6"/>
          <p:cNvSpPr txBox="1"/>
          <p:nvPr/>
        </p:nvSpPr>
        <p:spPr>
          <a:xfrm>
            <a:off x="777240" y="5074920"/>
            <a:ext cx="10698480" cy="1188720"/>
          </a:xfrm>
          <a:prstGeom prst="rect">
            <a:avLst/>
          </a:prstGeom>
          <a:noFill/>
        </p:spPr>
        <p:txBody>
          <a:bodyPr wrap="square" lIns="0" rIns="0" tIns="0" bIns="0" anchor="t">
            <a:spAutoFit/>
          </a:bodyPr>
          <a:lstStyle/>
          <a:p>
            <a:pPr algn="l">
              <a:lnSpc>
                <a:spcPct val="116000"/>
              </a:lnSpc>
              <a:spcAft>
                <a:spcPts val="1300"/>
              </a:spcAft>
            </a:pPr>
            <a:r>
              <a:rPr sz="1600" b="1">
                <a:solidFill>
                  <a:srgbClr val="F4EFE4"/>
                </a:solidFill>
                <a:latin typeface="Calibri"/>
              </a:rPr>
              <a:t>Lo que vemos. </a:t>
            </a:r>
            <a:r>
              <a:rPr sz="1600" b="0">
                <a:solidFill>
                  <a:srgbClr val="F4EFE4"/>
                </a:solidFill>
                <a:latin typeface="Calibri"/>
              </a:rPr>
              <a:t>El alquiler real estuvo más caro durante la ley, pero el pico es de 2023 y coincide con la aceleración de la inflación: con estos datos no podemos separar una cosa de la otra. La desigualdad hace lo mismo. Esa forma fue la que nos llevó a la segunda hipótesis.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3800" b="1">
                <a:solidFill>
                  <a:srgbClr val="15505E"/>
                </a:solidFill>
                <a:latin typeface="Bookman Old Style"/>
              </a:rPr>
              <a:t>H2. CÓMO MEDIMOS LA SENSIBILIDAD</a:t>
            </a:r>
          </a:p>
        </p:txBody>
      </p:sp>
      <p:sp>
        <p:nvSpPr>
          <p:cNvPr id="5" name="TextBox 4"/>
          <p:cNvSpPr txBox="1"/>
          <p:nvPr/>
        </p:nvSpPr>
        <p:spPr>
          <a:xfrm>
            <a:off x="822960" y="2103120"/>
            <a:ext cx="5852160" cy="3840480"/>
          </a:xfrm>
          <a:prstGeom prst="rect">
            <a:avLst/>
          </a:prstGeom>
          <a:noFill/>
        </p:spPr>
        <p:txBody>
          <a:bodyPr wrap="square" lIns="0" rIns="0" tIns="0" bIns="0" anchor="t">
            <a:spAutoFit/>
          </a:bodyPr>
          <a:lstStyle/>
          <a:p>
            <a:pPr algn="l">
              <a:lnSpc>
                <a:spcPct val="110000"/>
              </a:lnSpc>
              <a:spcAft>
                <a:spcPts val="500"/>
              </a:spcAft>
            </a:pPr>
            <a:r>
              <a:rPr sz="1800" b="1">
                <a:solidFill>
                  <a:srgbClr val="15505E"/>
                </a:solidFill>
                <a:latin typeface="Calibri"/>
              </a:rPr>
              <a:t>La beta de cada comuna.</a:t>
            </a:r>
          </a:p>
          <a:p>
            <a:pPr>
              <a:lnSpc>
                <a:spcPct val="116000"/>
              </a:lnSpc>
              <a:spcAft>
                <a:spcPts val="1600"/>
              </a:spcAft>
            </a:pPr>
            <a:r>
              <a:rPr sz="1650" b="0">
                <a:solidFill>
                  <a:srgbClr val="15505E"/>
                </a:solidFill>
                <a:latin typeface="Calibri"/>
              </a:rPr>
              <a:t>Para cada una de las 38 series calculamos el retorno real trimestral y estimamos la pendiente de una regresión contra el retorno del mercado. Una beta de 1,3 quiere decir que, si el mercado sube 10%, esa comuna tiende a subir 13%.</a:t>
            </a:r>
          </a:p>
          <a:p>
            <a:pPr>
              <a:lnSpc>
                <a:spcPct val="110000"/>
              </a:lnSpc>
              <a:spcAft>
                <a:spcPts val="500"/>
              </a:spcAft>
            </a:pPr>
            <a:r>
              <a:rPr sz="1800" b="1">
                <a:solidFill>
                  <a:srgbClr val="15505E"/>
                </a:solidFill>
                <a:latin typeface="Calibri"/>
              </a:rPr>
              <a:t>El mercado excluye a la propia comuna.</a:t>
            </a:r>
          </a:p>
          <a:p>
            <a:pPr>
              <a:lnSpc>
                <a:spcPct val="116000"/>
              </a:lnSpc>
              <a:spcAft>
                <a:spcPts val="1600"/>
              </a:spcAft>
            </a:pPr>
            <a:r>
              <a:rPr sz="1650" b="0">
                <a:solidFill>
                  <a:srgbClr val="15505E"/>
                </a:solidFill>
                <a:latin typeface="Calibri"/>
              </a:rPr>
              <a:t>Si la incluyéramos, parte de la correlación sería mecánica y la beta daría más alta de lo que es.</a:t>
            </a:r>
          </a:p>
        </p:txBody>
      </p:sp>
      <p:graphicFrame>
        <p:nvGraphicFramePr>
          <p:cNvPr id="6" name="Table 5"/>
          <p:cNvGraphicFramePr>
            <a:graphicFrameLocks noGrp="1"/>
          </p:cNvGraphicFramePr>
          <p:nvPr/>
        </p:nvGraphicFramePr>
        <p:xfrm>
          <a:off x="7086600" y="2194560"/>
          <a:ext cx="4251960" cy="2670048"/>
        </p:xfrm>
        <a:graphic>
          <a:graphicData uri="http://schemas.openxmlformats.org/drawingml/2006/table">
            <a:tbl>
              <a:tblPr>
                <a:tableStyleId>{5C22544A-7EE6-4342-B048-85BDC9FD1C3A}</a:tableStyleId>
              </a:tblPr>
              <a:tblGrid>
                <a:gridCol w="1188720"/>
                <a:gridCol w="685800"/>
                <a:gridCol w="1097280"/>
                <a:gridCol w="1280160"/>
              </a:tblGrid>
              <a:tr h="548640">
                <a:tc>
                  <a:txBody>
                    <a:bodyPr wrap="square"/>
                    <a:lstStyle/>
                    <a:p>
                      <a:pPr algn="ctr">
                        <a:lnSpc>
                          <a:spcPct val="102000"/>
                        </a:lnSpc>
                        <a:spcAft>
                          <a:spcPts val="0"/>
                        </a:spcAft>
                      </a:pPr>
                      <a:r>
                        <a:rPr sz="1450" b="1">
                          <a:solidFill>
                            <a:srgbClr val="F4EFE4"/>
                          </a:solidFill>
                          <a:latin typeface="Calibri"/>
                        </a:rPr>
                        <a:t>Zona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n</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50" b="1">
                          <a:solidFill>
                            <a:srgbClr val="F4EFE4"/>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530352">
                <a:tc>
                  <a:txBody>
                    <a:bodyPr wrap="square"/>
                    <a:lstStyle/>
                    <a:p>
                      <a:pPr algn="ctr">
                        <a:lnSpc>
                          <a:spcPct val="102000"/>
                        </a:lnSpc>
                        <a:spcAft>
                          <a:spcPts val="0"/>
                        </a:spcAft>
                      </a:pPr>
                      <a:r>
                        <a:rPr sz="1500" b="0">
                          <a:solidFill>
                            <a:srgbClr val="15505E"/>
                          </a:solidFill>
                          <a:latin typeface="Calibri"/>
                        </a:rPr>
                        <a:t>Norte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Centro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1,00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Oeste</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9,1%</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530352">
                <a:tc>
                  <a:txBody>
                    <a:bodyPr wrap="square"/>
                    <a:lstStyle/>
                    <a:p>
                      <a:pPr algn="ctr">
                        <a:lnSpc>
                          <a:spcPct val="102000"/>
                        </a:lnSpc>
                        <a:spcAft>
                          <a:spcPts val="0"/>
                        </a:spcAft>
                      </a:pPr>
                      <a:r>
                        <a:rPr sz="1500" b="0">
                          <a:solidFill>
                            <a:srgbClr val="15505E"/>
                          </a:solidFill>
                          <a:latin typeface="Calibri"/>
                        </a:rPr>
                        <a:t>Sur</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0,88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500" b="0">
                          <a:solidFill>
                            <a:srgbClr val="15505E"/>
                          </a:solidFill>
                          <a:latin typeface="Calibri"/>
                        </a:rPr>
                        <a:t>9,2%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
        <p:nvSpPr>
          <p:cNvPr id="7" name="TextBox 6"/>
          <p:cNvSpPr txBox="1"/>
          <p:nvPr/>
        </p:nvSpPr>
        <p:spPr>
          <a:xfrm>
            <a:off x="7086600" y="4983480"/>
            <a:ext cx="4251960" cy="1097280"/>
          </a:xfrm>
          <a:prstGeom prst="rect">
            <a:avLst/>
          </a:prstGeom>
          <a:noFill/>
        </p:spPr>
        <p:txBody>
          <a:bodyPr wrap="square" lIns="0" rIns="0" tIns="0" bIns="0" anchor="t">
            <a:spAutoFit/>
          </a:bodyPr>
          <a:lstStyle/>
          <a:p>
            <a:pPr algn="l">
              <a:lnSpc>
                <a:spcPct val="116000"/>
              </a:lnSpc>
              <a:spcAft>
                <a:spcPts val="1300"/>
              </a:spcAft>
            </a:pPr>
            <a:r>
              <a:rPr sz="1600" b="0">
                <a:solidFill>
                  <a:srgbClr val="15505E"/>
                </a:solidFill>
                <a:latin typeface="Calibri"/>
              </a:rPr>
              <a:t>El orden es el que esperábamos, pero las diferencias son chicas. Hay que ver si son significativas.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5486400" cy="1463040"/>
          </a:xfrm>
          <a:prstGeom prst="rect">
            <a:avLst/>
          </a:prstGeom>
          <a:noFill/>
        </p:spPr>
        <p:txBody>
          <a:bodyPr wrap="square" lIns="0" rIns="0" tIns="0" bIns="0" anchor="t">
            <a:spAutoFit/>
          </a:bodyPr>
          <a:lstStyle/>
          <a:p>
            <a:pPr algn="l">
              <a:lnSpc>
                <a:spcPct val="95000"/>
              </a:lnSpc>
              <a:spcAft>
                <a:spcPts val="0"/>
              </a:spcAft>
            </a:pPr>
            <a:r>
              <a:rPr sz="3800" b="1">
                <a:solidFill>
                  <a:srgbClr val="F4EFE4"/>
                </a:solidFill>
                <a:latin typeface="Bookman Old Style"/>
              </a:rPr>
              <a:t>H2. ANOVA DE LA BETA POR ZONA</a:t>
            </a:r>
          </a:p>
        </p:txBody>
      </p:sp>
      <p:sp>
        <p:nvSpPr>
          <p:cNvPr id="5" name="TextBox 4"/>
          <p:cNvSpPr txBox="1"/>
          <p:nvPr/>
        </p:nvSpPr>
        <p:spPr>
          <a:xfrm>
            <a:off x="822960" y="2194560"/>
            <a:ext cx="5486400" cy="1371600"/>
          </a:xfrm>
          <a:prstGeom prst="rect">
            <a:avLst/>
          </a:prstGeom>
          <a:noFill/>
        </p:spPr>
        <p:txBody>
          <a:bodyPr wrap="square" lIns="0" rIns="0" tIns="0" bIns="0" anchor="t">
            <a:spAutoFit/>
          </a:bodyPr>
          <a:lstStyle/>
          <a:p>
            <a:pPr algn="l">
              <a:lnSpc>
                <a:spcPct val="110000"/>
              </a:lnSpc>
              <a:spcAft>
                <a:spcPts val="800"/>
              </a:spcAft>
            </a:pPr>
            <a:r>
              <a:rPr sz="1700" b="1">
                <a:solidFill>
                  <a:srgbClr val="F4EFE4"/>
                </a:solidFill>
                <a:latin typeface="Calibri"/>
              </a:rPr>
              <a:t>H0: la beta media es igual en las cuatro zonas.</a:t>
            </a:r>
          </a:p>
          <a:p>
            <a:pPr>
              <a:lnSpc>
                <a:spcPct val="110000"/>
              </a:lnSpc>
              <a:spcAft>
                <a:spcPts val="800"/>
              </a:spcAft>
            </a:pPr>
            <a:r>
              <a:rPr sz="1700" b="1">
                <a:solidFill>
                  <a:srgbClr val="F4EFE4"/>
                </a:solidFill>
                <a:latin typeface="Calibri"/>
              </a:rPr>
              <a:t>H1: al menos una zona tiene una beta media distinta.</a:t>
            </a:r>
          </a:p>
        </p:txBody>
      </p:sp>
      <p:graphicFrame>
        <p:nvGraphicFramePr>
          <p:cNvPr id="6" name="Table 5"/>
          <p:cNvGraphicFramePr>
            <a:graphicFrameLocks noGrp="1"/>
          </p:cNvGraphicFramePr>
          <p:nvPr/>
        </p:nvGraphicFramePr>
        <p:xfrm>
          <a:off x="822960" y="3749039"/>
          <a:ext cx="5486400" cy="2414016"/>
        </p:xfrm>
        <a:graphic>
          <a:graphicData uri="http://schemas.openxmlformats.org/drawingml/2006/table">
            <a:tbl>
              <a:tblPr>
                <a:tableStyleId>{5C22544A-7EE6-4342-B048-85BDC9FD1C3A}</a:tableStyleId>
              </a:tblPr>
              <a:tblGrid>
                <a:gridCol w="2651760"/>
                <a:gridCol w="1554480"/>
                <a:gridCol w="1280160"/>
              </a:tblGrid>
              <a:tr h="512064">
                <a:tc>
                  <a:txBody>
                    <a:bodyPr wrap="square"/>
                    <a:lstStyle/>
                    <a:p>
                      <a:pPr algn="ctr">
                        <a:lnSpc>
                          <a:spcPct val="102000"/>
                        </a:lnSpc>
                        <a:spcAft>
                          <a:spcPts val="0"/>
                        </a:spcAft>
                      </a:pPr>
                      <a:r>
                        <a:rPr sz="1400" b="1">
                          <a:solidFill>
                            <a:srgbClr val="F4EFE4"/>
                          </a:solidFill>
                          <a:latin typeface="Calibri"/>
                        </a:rPr>
                        <a:t>Test</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Estadístico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4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75488">
                <a:tc>
                  <a:txBody>
                    <a:bodyPr wrap="square"/>
                    <a:lstStyle/>
                    <a:p>
                      <a:pPr algn="ctr">
                        <a:lnSpc>
                          <a:spcPct val="102000"/>
                        </a:lnSpc>
                        <a:spcAft>
                          <a:spcPts val="0"/>
                        </a:spcAft>
                      </a:pPr>
                      <a:r>
                        <a:rPr sz="1450" b="0">
                          <a:solidFill>
                            <a:srgbClr val="15505E"/>
                          </a:solidFill>
                          <a:latin typeface="Calibri"/>
                        </a:rPr>
                        <a:t>ANOVA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0,042</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Welch</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2,44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Kruskal-Wallis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6,05</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0,109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75488">
                <a:tc>
                  <a:txBody>
                    <a:bodyPr wrap="square"/>
                    <a:lstStyle/>
                    <a:p>
                      <a:pPr algn="ctr">
                        <a:lnSpc>
                          <a:spcPct val="102000"/>
                        </a:lnSpc>
                        <a:spcAft>
                          <a:spcPts val="0"/>
                        </a:spcAft>
                      </a:pPr>
                      <a:r>
                        <a:rPr sz="1450" b="0">
                          <a:solidFill>
                            <a:srgbClr val="15505E"/>
                          </a:solidFill>
                          <a:latin typeface="Calibri"/>
                        </a:rPr>
                        <a:t>Interacción zona × tipo</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3,24</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450" b="0">
                          <a:solidFill>
                            <a:srgbClr val="15505E"/>
                          </a:solidFill>
                          <a:latin typeface="Calibri"/>
                        </a:rPr>
                        <a:t>0,016</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pic>
        <p:nvPicPr>
          <p:cNvPr id="7" name="Picture 6" descr="i2_g05_beta_por_zona.png"/>
          <p:cNvPicPr>
            <a:picLocks noChangeAspect="1"/>
          </p:cNvPicPr>
          <p:nvPr/>
        </p:nvPicPr>
        <p:blipFill>
          <a:blip r:embed="rId3"/>
          <a:stretch>
            <a:fillRect/>
          </a:stretch>
        </p:blipFill>
        <p:spPr>
          <a:xfrm>
            <a:off x="6537960" y="1508760"/>
            <a:ext cx="4800600" cy="2987040"/>
          </a:xfrm>
          <a:prstGeom prst="rect">
            <a:avLst/>
          </a:prstGeom>
        </p:spPr>
      </p:pic>
      <p:sp>
        <p:nvSpPr>
          <p:cNvPr id="8" name="TextBox 7"/>
          <p:cNvSpPr txBox="1"/>
          <p:nvPr/>
        </p:nvSpPr>
        <p:spPr>
          <a:xfrm>
            <a:off x="6537960" y="4663440"/>
            <a:ext cx="4800600" cy="1463040"/>
          </a:xfrm>
          <a:prstGeom prst="rect">
            <a:avLst/>
          </a:prstGeom>
          <a:noFill/>
        </p:spPr>
        <p:txBody>
          <a:bodyPr wrap="square" lIns="0" rIns="0" tIns="0" bIns="0" anchor="t">
            <a:spAutoFit/>
          </a:bodyPr>
          <a:lstStyle/>
          <a:p>
            <a:pPr algn="l">
              <a:lnSpc>
                <a:spcPct val="116000"/>
              </a:lnSpc>
              <a:spcAft>
                <a:spcPts val="1300"/>
              </a:spcAft>
            </a:pPr>
            <a:r>
              <a:rPr sz="1500" b="1">
                <a:solidFill>
                  <a:srgbClr val="F4EFE4"/>
                </a:solidFill>
                <a:latin typeface="Calibri"/>
              </a:rPr>
              <a:t>El ANOVA da significativo (p = 0,042) pero no resiste las versiones robustas: </a:t>
            </a:r>
            <a:r>
              <a:rPr sz="1500" b="0">
                <a:solidFill>
                  <a:srgbClr val="F4EFE4"/>
                </a:solidFill>
                <a:latin typeface="Calibri"/>
              </a:rPr>
              <a:t>con Welch y Kruskal-Wallis sube a 0,11. Los supuestos se cumplen. El problema es que agrupar por zona pierde información: son muy heterogéneas por dentro.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35240" y="1417320"/>
            <a:ext cx="37033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H2. LA PRUEBA DIRECTA</a:t>
            </a:r>
          </a:p>
        </p:txBody>
      </p:sp>
      <p:pic>
        <p:nvPicPr>
          <p:cNvPr id="5" name="Picture 4" descr="i2_g04_beta_vs_nivel.png"/>
          <p:cNvPicPr>
            <a:picLocks noChangeAspect="1"/>
          </p:cNvPicPr>
          <p:nvPr/>
        </p:nvPicPr>
        <p:blipFill>
          <a:blip r:embed="rId3"/>
          <a:stretch>
            <a:fillRect/>
          </a:stretch>
        </p:blipFill>
        <p:spPr>
          <a:xfrm>
            <a:off x="777240" y="1417320"/>
            <a:ext cx="6629400" cy="3977640"/>
          </a:xfrm>
          <a:prstGeom prst="rect">
            <a:avLst/>
          </a:prstGeom>
        </p:spPr>
      </p:pic>
      <p:sp>
        <p:nvSpPr>
          <p:cNvPr id="6" name="TextBox 5"/>
          <p:cNvSpPr txBox="1"/>
          <p:nvPr/>
        </p:nvSpPr>
        <p:spPr>
          <a:xfrm>
            <a:off x="7635240" y="2834640"/>
            <a:ext cx="3703320" cy="3108960"/>
          </a:xfrm>
          <a:prstGeom prst="rect">
            <a:avLst/>
          </a:prstGeom>
          <a:noFill/>
        </p:spPr>
        <p:txBody>
          <a:bodyPr wrap="square" lIns="0" rIns="0" tIns="0" bIns="0" anchor="t">
            <a:spAutoFit/>
          </a:bodyPr>
          <a:lstStyle/>
          <a:p>
            <a:pPr algn="l">
              <a:lnSpc>
                <a:spcPct val="110000"/>
              </a:lnSpc>
              <a:spcAft>
                <a:spcPts val="500"/>
              </a:spcAft>
            </a:pPr>
            <a:r>
              <a:rPr sz="1650" b="1">
                <a:solidFill>
                  <a:srgbClr val="15505E"/>
                </a:solidFill>
                <a:latin typeface="Calibri"/>
              </a:rPr>
              <a:t>La hipótesis habla de comunas, no de zonas.</a:t>
            </a:r>
          </a:p>
          <a:p>
            <a:pPr>
              <a:lnSpc>
                <a:spcPct val="116000"/>
              </a:lnSpc>
              <a:spcAft>
                <a:spcPts val="1600"/>
              </a:spcAft>
            </a:pPr>
            <a:r>
              <a:rPr sz="1550" b="0">
                <a:solidFill>
                  <a:srgbClr val="15505E"/>
                </a:solidFill>
                <a:latin typeface="Calibri"/>
              </a:rPr>
              <a:t>Entonces la prueba directa es relacionar la beta con el nivel de precio, que es una variable continua. Usamos Spearman, que trabaja sobre rangos.</a:t>
            </a:r>
          </a:p>
        </p:txBody>
      </p:sp>
      <p:graphicFrame>
        <p:nvGraphicFramePr>
          <p:cNvPr id="7" name="Table 6"/>
          <p:cNvGraphicFramePr>
            <a:graphicFrameLocks noGrp="1"/>
          </p:cNvGraphicFramePr>
          <p:nvPr/>
        </p:nvGraphicFramePr>
        <p:xfrm>
          <a:off x="7635240" y="4617720"/>
          <a:ext cx="3703319" cy="2048256"/>
        </p:xfrm>
        <a:graphic>
          <a:graphicData uri="http://schemas.openxmlformats.org/drawingml/2006/table">
            <a:tbl>
              <a:tblPr>
                <a:tableStyleId>{5C22544A-7EE6-4342-B048-85BDC9FD1C3A}</a:tableStyleId>
              </a:tblPr>
              <a:tblGrid>
                <a:gridCol w="1874519"/>
                <a:gridCol w="914400"/>
                <a:gridCol w="914400"/>
              </a:tblGrid>
              <a:tr h="438912">
                <a:tc>
                  <a:txBody>
                    <a:bodyPr wrap="square"/>
                    <a:lstStyle/>
                    <a:p>
                      <a:pPr algn="ctr">
                        <a:lnSpc>
                          <a:spcPct val="102000"/>
                        </a:lnSpc>
                        <a:spcAft>
                          <a:spcPts val="0"/>
                        </a:spcAft>
                      </a:pPr>
                      <a:r>
                        <a:rPr sz="1300" b="1">
                          <a:solidFill>
                            <a:srgbClr val="F4EFE4"/>
                          </a:solidFill>
                          <a:latin typeface="Calibri"/>
                        </a:rPr>
                        <a:t>Relación con el nivel</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ρ</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c>
                  <a:txBody>
                    <a:bodyPr wrap="square"/>
                    <a:lstStyle/>
                    <a:p>
                      <a:pPr algn="ctr">
                        <a:lnSpc>
                          <a:spcPct val="102000"/>
                        </a:lnSpc>
                        <a:spcAft>
                          <a:spcPts val="0"/>
                        </a:spcAft>
                      </a:pPr>
                      <a:r>
                        <a:rPr sz="1300" b="1">
                          <a:solidFill>
                            <a:srgbClr val="F4EFE4"/>
                          </a:solidFill>
                          <a:latin typeface="Calibri"/>
                        </a:rPr>
                        <a:t>p</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15505E"/>
                    </a:solidFill>
                  </a:tcPr>
                </a:tc>
              </a:tr>
              <a:tr h="402336">
                <a:tc>
                  <a:txBody>
                    <a:bodyPr wrap="square"/>
                    <a:lstStyle/>
                    <a:p>
                      <a:pPr algn="ctr">
                        <a:lnSpc>
                          <a:spcPct val="102000"/>
                        </a:lnSpc>
                        <a:spcAft>
                          <a:spcPts val="0"/>
                        </a:spcAft>
                      </a:pPr>
                      <a:r>
                        <a:rPr sz="1350" b="0">
                          <a:solidFill>
                            <a:srgbClr val="15505E"/>
                          </a:solidFill>
                          <a:latin typeface="Calibri"/>
                        </a:rPr>
                        <a:t>Beta</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0,003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caídas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0,40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0,013</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Beta en subas</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0,07</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0,670</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r h="402336">
                <a:tc>
                  <a:txBody>
                    <a:bodyPr wrap="square"/>
                    <a:lstStyle/>
                    <a:p>
                      <a:pPr algn="ctr">
                        <a:lnSpc>
                          <a:spcPct val="102000"/>
                        </a:lnSpc>
                        <a:spcAft>
                          <a:spcPts val="0"/>
                        </a:spcAft>
                      </a:pPr>
                      <a:r>
                        <a:rPr sz="1350" b="0">
                          <a:solidFill>
                            <a:srgbClr val="15505E"/>
                          </a:solidFill>
                          <a:latin typeface="Calibri"/>
                        </a:rPr>
                        <a:t>Volatilidad</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0,38</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c>
                  <a:txBody>
                    <a:bodyPr wrap="square"/>
                    <a:lstStyle/>
                    <a:p>
                      <a:pPr algn="ctr">
                        <a:lnSpc>
                          <a:spcPct val="102000"/>
                        </a:lnSpc>
                        <a:spcAft>
                          <a:spcPts val="0"/>
                        </a:spcAft>
                      </a:pPr>
                      <a:r>
                        <a:rPr sz="1350" b="0">
                          <a:solidFill>
                            <a:srgbClr val="15505E"/>
                          </a:solidFill>
                          <a:latin typeface="Calibri"/>
                        </a:rPr>
                        <a:t>0,019</a:t>
                      </a:r>
                    </a:p>
                  </a:txBody>
                  <a:tcPr marL="91440" marR="91440" marT="36576" marB="36576" anchor="ctr">
                    <a:lnB w="25400" cap="flat" cmpd="sng" algn="ctr">
                      <a:solidFill>
                        <a:srgbClr val="15505E"/>
                      </a:solidFill>
                    </a:lnB>
                    <a:lnT w="25400" cap="flat" cmpd="sng" algn="ctr">
                      <a:solidFill>
                        <a:srgbClr val="15505E"/>
                      </a:solidFill>
                    </a:lnT>
                    <a:lnR w="25400" cap="flat" cmpd="sng" algn="ctr">
                      <a:solidFill>
                        <a:srgbClr val="15505E"/>
                      </a:solidFill>
                    </a:lnR>
                    <a:lnL w="25400" cap="flat" cmpd="sng" algn="ctr">
                      <a:solidFill>
                        <a:srgbClr val="15505E"/>
                      </a:solidFill>
                    </a:lnL>
                    <a:solidFill>
                      <a:srgbClr val="F4EFE4"/>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oscu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F4EF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58368"/>
            <a:ext cx="10545775" cy="1463040"/>
          </a:xfrm>
          <a:prstGeom prst="rect">
            <a:avLst/>
          </a:prstGeom>
          <a:noFill/>
        </p:spPr>
        <p:txBody>
          <a:bodyPr wrap="square" lIns="0" rIns="0" tIns="0" bIns="0" anchor="t">
            <a:spAutoFit/>
          </a:bodyPr>
          <a:lstStyle/>
          <a:p>
            <a:pPr algn="l">
              <a:lnSpc>
                <a:spcPct val="95000"/>
              </a:lnSpc>
              <a:spcAft>
                <a:spcPts val="0"/>
              </a:spcAft>
            </a:pPr>
            <a:r>
              <a:rPr sz="4400" b="1">
                <a:solidFill>
                  <a:srgbClr val="F4EFE4"/>
                </a:solidFill>
                <a:latin typeface="Bookman Old Style"/>
              </a:rPr>
              <a:t>H2. AMPLIFICA MÁS LAS CAÍDAS</a:t>
            </a:r>
          </a:p>
        </p:txBody>
      </p:sp>
      <p:pic>
        <p:nvPicPr>
          <p:cNvPr id="5" name="Picture 4" descr="i2_g06_asimetria.png"/>
          <p:cNvPicPr>
            <a:picLocks noChangeAspect="1"/>
          </p:cNvPicPr>
          <p:nvPr/>
        </p:nvPicPr>
        <p:blipFill>
          <a:blip r:embed="rId3"/>
          <a:stretch>
            <a:fillRect/>
          </a:stretch>
        </p:blipFill>
        <p:spPr>
          <a:xfrm>
            <a:off x="777240" y="2011680"/>
            <a:ext cx="6126480" cy="3812032"/>
          </a:xfrm>
          <a:prstGeom prst="rect">
            <a:avLst/>
          </a:prstGeom>
        </p:spPr>
      </p:pic>
      <p:sp>
        <p:nvSpPr>
          <p:cNvPr id="6" name="TextBox 5"/>
          <p:cNvSpPr txBox="1"/>
          <p:nvPr/>
        </p:nvSpPr>
        <p:spPr>
          <a:xfrm>
            <a:off x="7269480" y="1920240"/>
            <a:ext cx="4069080" cy="4023360"/>
          </a:xfrm>
          <a:prstGeom prst="rect">
            <a:avLst/>
          </a:prstGeom>
          <a:noFill/>
        </p:spPr>
        <p:txBody>
          <a:bodyPr wrap="square" lIns="0" rIns="0" tIns="0" bIns="0" anchor="t">
            <a:spAutoFit/>
          </a:bodyPr>
          <a:lstStyle/>
          <a:p>
            <a:pPr algn="l">
              <a:lnSpc>
                <a:spcPct val="110000"/>
              </a:lnSpc>
              <a:spcAft>
                <a:spcPts val="500"/>
              </a:spcAft>
            </a:pPr>
            <a:r>
              <a:rPr sz="1650" b="1">
                <a:solidFill>
                  <a:srgbClr val="F4EFE4"/>
                </a:solidFill>
                <a:latin typeface="Calibri"/>
              </a:rPr>
              <a:t>En el Norte la diferencia es clara.</a:t>
            </a:r>
          </a:p>
          <a:p>
            <a:pPr>
              <a:lnSpc>
                <a:spcPct val="116000"/>
              </a:lnSpc>
              <a:spcAft>
                <a:spcPts val="1600"/>
              </a:spcAft>
            </a:pPr>
            <a:r>
              <a:rPr sz="1550" b="0">
                <a:solidFill>
                  <a:srgbClr val="F4EFE4"/>
                </a:solidFill>
                <a:latin typeface="Calibri"/>
              </a:rPr>
              <a:t>Beta de 1,21 cuando el mercado cae contra 0,80 cuando sube. Un Wilcoxon apareado da p = 0,004. En el Oeste y el Sur no hay diferencia.</a:t>
            </a:r>
          </a:p>
          <a:p>
            <a:pPr>
              <a:lnSpc>
                <a:spcPct val="110000"/>
              </a:lnSpc>
              <a:spcAft>
                <a:spcPts val="500"/>
              </a:spcAft>
            </a:pPr>
            <a:r>
              <a:rPr sz="1650" b="1">
                <a:solidFill>
                  <a:srgbClr val="F4EFE4"/>
                </a:solidFill>
                <a:latin typeface="Calibri"/>
              </a:rPr>
              <a:t>El ciclo del Norte fue más amplio de los dos lados.</a:t>
            </a:r>
          </a:p>
          <a:p>
            <a:pPr>
              <a:lnSpc>
                <a:spcPct val="116000"/>
              </a:lnSpc>
              <a:spcAft>
                <a:spcPts val="1600"/>
              </a:spcAft>
            </a:pPr>
            <a:r>
              <a:rPr sz="1550" b="0">
                <a:solidFill>
                  <a:srgbClr val="F4EFE4"/>
                </a:solidFill>
                <a:latin typeface="Calibri"/>
              </a:rPr>
              <a:t>Del piso de 2019-2020 al pico de 2023 el Norte subió 97% y el Sur 79%. Desde el pico, el Norte cayó 46% y el Sur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ndo_claro.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237744" y="237744"/>
            <a:ext cx="11716207" cy="6382512"/>
          </a:xfrm>
          <a:prstGeom prst="roundRect">
            <a:avLst>
              <a:gd name="adj" fmla="val 2800"/>
            </a:avLst>
          </a:prstGeom>
          <a:noFill/>
          <a:ln w="15875">
            <a:solidFill>
              <a:srgbClr val="1550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5760720" cy="1463040"/>
          </a:xfrm>
          <a:prstGeom prst="rect">
            <a:avLst/>
          </a:prstGeom>
          <a:noFill/>
        </p:spPr>
        <p:txBody>
          <a:bodyPr wrap="square" lIns="0" rIns="0" tIns="0" bIns="0" anchor="t">
            <a:spAutoFit/>
          </a:bodyPr>
          <a:lstStyle/>
          <a:p>
            <a:pPr algn="l">
              <a:lnSpc>
                <a:spcPct val="95000"/>
              </a:lnSpc>
              <a:spcAft>
                <a:spcPts val="0"/>
              </a:spcAft>
            </a:pPr>
            <a:r>
              <a:rPr sz="3600" b="1">
                <a:solidFill>
                  <a:srgbClr val="15505E"/>
                </a:solidFill>
                <a:latin typeface="Bookman Old Style"/>
              </a:rPr>
              <a:t>QUÉ NOS DEJAN LAS DOS HIPÓTESIS</a:t>
            </a:r>
          </a:p>
        </p:txBody>
      </p:sp>
      <p:sp>
        <p:nvSpPr>
          <p:cNvPr id="5" name="TextBox 4"/>
          <p:cNvSpPr txBox="1"/>
          <p:nvPr/>
        </p:nvSpPr>
        <p:spPr>
          <a:xfrm>
            <a:off x="822960" y="2194560"/>
            <a:ext cx="5760720" cy="3749039"/>
          </a:xfrm>
          <a:prstGeom prst="rect">
            <a:avLst/>
          </a:prstGeom>
          <a:noFill/>
        </p:spPr>
        <p:txBody>
          <a:bodyPr wrap="square" lIns="0" rIns="0" tIns="0" bIns="0" anchor="t">
            <a:spAutoFit/>
          </a:bodyPr>
          <a:lstStyle/>
          <a:p>
            <a:pPr algn="l">
              <a:lnSpc>
                <a:spcPct val="110000"/>
              </a:lnSpc>
              <a:spcAft>
                <a:spcPts val="500"/>
              </a:spcAft>
            </a:pPr>
            <a:r>
              <a:rPr sz="1700" b="1">
                <a:solidFill>
                  <a:srgbClr val="15505E"/>
                </a:solidFill>
                <a:latin typeface="Calibri"/>
              </a:rPr>
              <a:t>1) La oferta se asocia al régimen regulatorio.</a:t>
            </a:r>
          </a:p>
          <a:p>
            <a:pPr>
              <a:lnSpc>
                <a:spcPct val="116000"/>
              </a:lnSpc>
              <a:spcAft>
                <a:spcPts val="1300"/>
              </a:spcAft>
            </a:pPr>
            <a:r>
              <a:rPr sz="1550" b="0">
                <a:solidFill>
                  <a:srgbClr val="15505E"/>
                </a:solidFill>
                <a:latin typeface="Calibri"/>
              </a:rPr>
              <a:t>El efecto está concentrado en el Sur (V = 0,27) y el test apareado lo confirma. Lo que no podemos decir es que la ley lo haya causado: en esos años también pasaron la pandemia, el cepo y la inflación.</a:t>
            </a:r>
          </a:p>
          <a:p>
            <a:pPr>
              <a:lnSpc>
                <a:spcPct val="110000"/>
              </a:lnSpc>
              <a:spcAft>
                <a:spcPts val="500"/>
              </a:spcAft>
            </a:pPr>
            <a:r>
              <a:rPr sz="1700" b="1">
                <a:solidFill>
                  <a:srgbClr val="15505E"/>
                </a:solidFill>
                <a:latin typeface="Calibri"/>
              </a:rPr>
              <a:t>2) Las comunas caras amplifican el ciclo.</a:t>
            </a:r>
          </a:p>
          <a:p>
            <a:pPr>
              <a:lnSpc>
                <a:spcPct val="116000"/>
              </a:lnSpc>
              <a:spcAft>
                <a:spcPts val="1300"/>
              </a:spcAft>
            </a:pPr>
            <a:r>
              <a:rPr sz="1550" b="0">
                <a:solidFill>
                  <a:srgbClr val="15505E"/>
                </a:solidFill>
                <a:latin typeface="Calibri"/>
              </a:rPr>
              <a:t>Medido comuna por comuna, el nivel de precio se asocia a la beta (ρ = 0,47). Por zona el ANOVA no alcanza, porque las zonas son heterogéneas.</a:t>
            </a:r>
          </a:p>
          <a:p>
            <a:pPr>
              <a:lnSpc>
                <a:spcPct val="110000"/>
              </a:lnSpc>
              <a:spcAft>
                <a:spcPts val="500"/>
              </a:spcAft>
            </a:pPr>
            <a:r>
              <a:rPr sz="1700" b="1">
                <a:solidFill>
                  <a:srgbClr val="15505E"/>
                </a:solidFill>
                <a:latin typeface="Calibri"/>
              </a:rPr>
              <a:t>3) Las dos se conectan en la desigualdad.</a:t>
            </a:r>
          </a:p>
          <a:p>
            <a:pPr>
              <a:lnSpc>
                <a:spcPct val="116000"/>
              </a:lnSpc>
              <a:spcAft>
                <a:spcPts val="1300"/>
              </a:spcAft>
            </a:pPr>
            <a:r>
              <a:rPr sz="1550" b="0">
                <a:solidFill>
                  <a:srgbClr val="15505E"/>
                </a:solidFill>
                <a:latin typeface="Calibri"/>
              </a:rPr>
              <a:t>El salto del Theil en 2023, que la hipótesis 1 no podía explicar, sale de las distintas betas: cuando el mercado sube, las caras se separan.</a:t>
            </a:r>
          </a:p>
        </p:txBody>
      </p:sp>
      <p:sp>
        <p:nvSpPr>
          <p:cNvPr id="6" name="TextBox 5"/>
          <p:cNvSpPr txBox="1"/>
          <p:nvPr/>
        </p:nvSpPr>
        <p:spPr>
          <a:xfrm>
            <a:off x="7132320" y="2194560"/>
            <a:ext cx="4206240" cy="457200"/>
          </a:xfrm>
          <a:prstGeom prst="rect">
            <a:avLst/>
          </a:prstGeom>
          <a:noFill/>
        </p:spPr>
        <p:txBody>
          <a:bodyPr wrap="square" lIns="0" rIns="0" tIns="0" bIns="0" anchor="t">
            <a:spAutoFit/>
          </a:bodyPr>
          <a:lstStyle/>
          <a:p>
            <a:pPr algn="l">
              <a:lnSpc>
                <a:spcPct val="116000"/>
              </a:lnSpc>
              <a:spcAft>
                <a:spcPts val="1300"/>
              </a:spcAft>
            </a:pPr>
            <a:r>
              <a:rPr sz="2100" b="1">
                <a:solidFill>
                  <a:srgbClr val="15505E"/>
                </a:solidFill>
                <a:latin typeface="Calibri"/>
              </a:rPr>
              <a:t>Próximos pasos</a:t>
            </a:r>
          </a:p>
        </p:txBody>
      </p:sp>
      <p:sp>
        <p:nvSpPr>
          <p:cNvPr id="7" name="TextBox 6"/>
          <p:cNvSpPr txBox="1"/>
          <p:nvPr/>
        </p:nvSpPr>
        <p:spPr>
          <a:xfrm>
            <a:off x="7132320" y="2834640"/>
            <a:ext cx="4206240" cy="3108960"/>
          </a:xfrm>
          <a:prstGeom prst="rect">
            <a:avLst/>
          </a:prstGeom>
          <a:noFill/>
        </p:spPr>
        <p:txBody>
          <a:bodyPr wrap="square" lIns="0" rIns="0" tIns="0" bIns="0" anchor="t">
            <a:spAutoFit/>
          </a:bodyPr>
          <a:lstStyle/>
          <a:p>
            <a:pPr algn="l">
              <a:lnSpc>
                <a:spcPct val="116000"/>
              </a:lnSpc>
              <a:spcAft>
                <a:spcPts val="1300"/>
              </a:spcAft>
            </a:pPr>
            <a:r>
              <a:rPr sz="1550" b="0">
                <a:solidFill>
                  <a:srgbClr val="15505E"/>
                </a:solidFill>
                <a:latin typeface="Calibri"/>
              </a:rPr>
              <a:t>Clustering de comunas por nivel, beta y faltantes, para ver si los grupos coinciden con las zonas.</a:t>
            </a:r>
          </a:p>
          <a:p>
            <a:pPr>
              <a:lnSpc>
                <a:spcPct val="116000"/>
              </a:lnSpc>
              <a:spcAft>
                <a:spcPts val="1300"/>
              </a:spcAft>
            </a:pPr>
            <a:r>
              <a:rPr sz="1550" b="0">
                <a:solidFill>
                  <a:srgbClr val="15505E"/>
                </a:solidFill>
                <a:latin typeface="Calibri"/>
              </a:rPr>
              <a:t>Separar la ley de la inflación comparando trimestres de inflación alta y baja dentro de cada período.</a:t>
            </a:r>
          </a:p>
          <a:p>
            <a:pPr>
              <a:lnSpc>
                <a:spcPct val="116000"/>
              </a:lnSpc>
              <a:spcAft>
                <a:spcPts val="1300"/>
              </a:spcAft>
            </a:pPr>
            <a:r>
              <a:rPr sz="1550" b="0">
                <a:solidFill>
                  <a:srgbClr val="15505E"/>
                </a:solidFill>
                <a:latin typeface="Calibri"/>
              </a:rPr>
              <a:t>Sumar ingresos por comuna (EAH) para relacionar la beta con la capacidad de pago.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