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10332720" cy="365760"/>
          </a:xfrm>
          <a:prstGeom prst="rect">
            <a:avLst/>
          </a:prstGeom>
          <a:noFill/>
        </p:spPr>
        <p:txBody>
          <a:bodyPr wrap="square" lIns="0" rIns="0" tIns="0" bIns="0" anchor="t">
            <a:spAutoFit/>
          </a:bodyPr>
          <a:lstStyle/>
          <a:p>
            <a:pPr algn="l">
              <a:spcBef>
                <a:spcPts val="0"/>
              </a:spcBef>
              <a:spcAft>
                <a:spcPts val="0"/>
              </a:spcAft>
            </a:pPr>
            <a:r>
              <a:rPr sz="1300" b="1" i="0">
                <a:solidFill>
                  <a:srgbClr val="E7E8D1"/>
                </a:solidFill>
                <a:latin typeface="Calibri"/>
              </a:rPr>
              <a:t>TRABAJO PRÁCTICO · INSTANCIA 1</a:t>
            </a:r>
          </a:p>
        </p:txBody>
      </p:sp>
      <p:sp>
        <p:nvSpPr>
          <p:cNvPr id="4" name="TextBox 3"/>
          <p:cNvSpPr txBox="1"/>
          <p:nvPr/>
        </p:nvSpPr>
        <p:spPr>
          <a:xfrm>
            <a:off x="914400" y="2148840"/>
            <a:ext cx="10332720" cy="1737360"/>
          </a:xfrm>
          <a:prstGeom prst="rect">
            <a:avLst/>
          </a:prstGeom>
          <a:noFill/>
        </p:spPr>
        <p:txBody>
          <a:bodyPr wrap="square" lIns="0" rIns="0" tIns="0" bIns="0" anchor="t">
            <a:spAutoFit/>
          </a:bodyPr>
          <a:lstStyle/>
          <a:p>
            <a:pPr algn="l">
              <a:lnSpc>
                <a:spcPct val="105000"/>
              </a:lnSpc>
              <a:spcBef>
                <a:spcPts val="0"/>
              </a:spcBef>
              <a:spcAft>
                <a:spcPts val="0"/>
              </a:spcAft>
            </a:pPr>
            <a:r>
              <a:rPr sz="4400" b="1" i="0">
                <a:solidFill>
                  <a:srgbClr val="FFFFFF"/>
                </a:solidFill>
                <a:latin typeface="Cambria"/>
              </a:rPr>
              <a:t>Precio de las viviendas</a:t>
            </a:r>
          </a:p>
          <a:p>
            <a:pPr>
              <a:lnSpc>
                <a:spcPct val="105000"/>
              </a:lnSpc>
              <a:spcBef>
                <a:spcPts val="0"/>
              </a:spcBef>
              <a:spcAft>
                <a:spcPts val="0"/>
              </a:spcAft>
            </a:pPr>
            <a:r>
              <a:rPr sz="4400" b="1" i="0">
                <a:solidFill>
                  <a:srgbClr val="FFFFFF"/>
                </a:solidFill>
                <a:latin typeface="Cambria"/>
              </a:rPr>
              <a:t>en alquiler en CABA</a:t>
            </a:r>
          </a:p>
        </p:txBody>
      </p:sp>
      <p:sp>
        <p:nvSpPr>
          <p:cNvPr id="5" name="TextBox 4"/>
          <p:cNvSpPr txBox="1"/>
          <p:nvPr/>
        </p:nvSpPr>
        <p:spPr>
          <a:xfrm>
            <a:off x="914400" y="3931920"/>
            <a:ext cx="10332720" cy="457200"/>
          </a:xfrm>
          <a:prstGeom prst="rect">
            <a:avLst/>
          </a:prstGeom>
          <a:noFill/>
        </p:spPr>
        <p:txBody>
          <a:bodyPr wrap="square" lIns="0" rIns="0" tIns="0" bIns="0" anchor="t">
            <a:spAutoFit/>
          </a:bodyPr>
          <a:lstStyle/>
          <a:p>
            <a:pPr algn="l">
              <a:spcBef>
                <a:spcPts val="0"/>
              </a:spcBef>
              <a:spcAft>
                <a:spcPts val="0"/>
              </a:spcAft>
            </a:pPr>
            <a:r>
              <a:rPr sz="1900" b="0" i="0">
                <a:solidFill>
                  <a:srgbClr val="E7E8D1"/>
                </a:solidFill>
                <a:latin typeface="Calibri"/>
              </a:rPr>
              <a:t>Análisis exploratorio de datos · 2018 – 2026</a:t>
            </a:r>
          </a:p>
        </p:txBody>
      </p:sp>
      <p:sp>
        <p:nvSpPr>
          <p:cNvPr id="6" name="TextBox 5"/>
          <p:cNvSpPr txBox="1"/>
          <p:nvPr/>
        </p:nvSpPr>
        <p:spPr>
          <a:xfrm>
            <a:off x="914400" y="5074920"/>
            <a:ext cx="5943600" cy="1188720"/>
          </a:xfrm>
          <a:prstGeom prst="rect">
            <a:avLst/>
          </a:prstGeom>
          <a:noFill/>
        </p:spPr>
        <p:txBody>
          <a:bodyPr wrap="square" lIns="0" rIns="0" tIns="0" bIns="0" anchor="t">
            <a:spAutoFit/>
          </a:bodyPr>
          <a:lstStyle/>
          <a:p>
            <a:pPr algn="l">
              <a:spcBef>
                <a:spcPts val="0"/>
              </a:spcBef>
              <a:spcAft>
                <a:spcPts val="300"/>
              </a:spcAft>
            </a:pPr>
            <a:r>
              <a:rPr sz="1300" b="1" i="0">
                <a:solidFill>
                  <a:srgbClr val="FFFFFF"/>
                </a:solidFill>
                <a:latin typeface="Calibri"/>
              </a:rPr>
              <a:t>Ciencia de Datos para Economía y Negocios</a:t>
            </a:r>
          </a:p>
          <a:p>
            <a:pPr>
              <a:spcBef>
                <a:spcPts val="0"/>
              </a:spcBef>
              <a:spcAft>
                <a:spcPts val="0"/>
              </a:spcAft>
            </a:pPr>
            <a:r>
              <a:rPr sz="1200" b="0" i="0">
                <a:solidFill>
                  <a:srgbClr val="E7E8D1"/>
                </a:solidFill>
                <a:latin typeface="Calibri"/>
              </a:rPr>
              <a:t>Facultad de Ciencias Económicas — UBA · 2° cuatrimestre 2026</a:t>
            </a:r>
          </a:p>
        </p:txBody>
      </p:sp>
      <p:sp>
        <p:nvSpPr>
          <p:cNvPr id="7" name="TextBox 6"/>
          <p:cNvSpPr txBox="1"/>
          <p:nvPr/>
        </p:nvSpPr>
        <p:spPr>
          <a:xfrm>
            <a:off x="7315200" y="5074920"/>
            <a:ext cx="3931920" cy="1188720"/>
          </a:xfrm>
          <a:prstGeom prst="rect">
            <a:avLst/>
          </a:prstGeom>
          <a:noFill/>
        </p:spPr>
        <p:txBody>
          <a:bodyPr wrap="square" lIns="0" rIns="0" tIns="0" bIns="0" anchor="t">
            <a:spAutoFit/>
          </a:bodyPr>
          <a:lstStyle/>
          <a:p>
            <a:pPr algn="l">
              <a:spcBef>
                <a:spcPts val="0"/>
              </a:spcBef>
              <a:spcAft>
                <a:spcPts val="300"/>
              </a:spcAft>
            </a:pPr>
            <a:r>
              <a:rPr sz="1300" b="1" i="0">
                <a:solidFill>
                  <a:srgbClr val="FFFFFF"/>
                </a:solidFill>
                <a:latin typeface="Calibri"/>
              </a:rPr>
              <a:t>Integrantes</a:t>
            </a:r>
          </a:p>
          <a:p>
            <a:pPr>
              <a:lnSpc>
                <a:spcPct val="105000"/>
              </a:lnSpc>
              <a:spcBef>
                <a:spcPts val="0"/>
              </a:spcBef>
              <a:spcAft>
                <a:spcPts val="100"/>
              </a:spcAft>
            </a:pPr>
            <a:r>
              <a:rPr sz="1200" b="0" i="0">
                <a:solidFill>
                  <a:srgbClr val="E7E8D1"/>
                </a:solidFill>
                <a:latin typeface="Calibri"/>
              </a:rPr>
              <a:t>- Ignacio Garcia Carzoglio N°R: 916884</a:t>
            </a:r>
          </a:p>
          <a:p>
            <a:pPr>
              <a:lnSpc>
                <a:spcPct val="105000"/>
              </a:lnSpc>
              <a:spcBef>
                <a:spcPts val="0"/>
              </a:spcBef>
              <a:spcAft>
                <a:spcPts val="100"/>
              </a:spcAft>
            </a:pPr>
            <a:r>
              <a:rPr sz="1200" b="0" i="0">
                <a:solidFill>
                  <a:srgbClr val="E7E8D1"/>
                </a:solidFill>
                <a:latin typeface="Calibri"/>
              </a:rPr>
              <a:t>- Joaquín Martínez N°R: 917415</a:t>
            </a:r>
          </a:p>
          <a:p>
            <a:pPr>
              <a:lnSpc>
                <a:spcPct val="105000"/>
              </a:lnSpc>
              <a:spcBef>
                <a:spcPts val="0"/>
              </a:spcBef>
              <a:spcAft>
                <a:spcPts val="100"/>
              </a:spcAft>
            </a:pPr>
            <a:r>
              <a:rPr sz="1200" b="0" i="0">
                <a:solidFill>
                  <a:srgbClr val="E7E8D1"/>
                </a:solidFill>
                <a:latin typeface="Calibri"/>
              </a:rPr>
              <a:t>- Tomás Bendersky N°R: 910884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1. PRESENTACIÓN DE LA BASE</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¿Qué datos tenemos?</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2</a:t>
            </a:r>
          </a:p>
        </p:txBody>
      </p:sp>
      <p:sp>
        <p:nvSpPr>
          <p:cNvPr id="5" name="TextBox 4"/>
          <p:cNvSpPr txBox="1"/>
          <p:nvPr/>
        </p:nvSpPr>
        <p:spPr>
          <a:xfrm>
            <a:off x="566928" y="1627632"/>
            <a:ext cx="6400800" cy="4663440"/>
          </a:xfrm>
          <a:prstGeom prst="rect">
            <a:avLst/>
          </a:prstGeom>
          <a:noFill/>
        </p:spPr>
        <p:txBody>
          <a:bodyPr wrap="square" lIns="0" rIns="0" tIns="0" bIns="0" anchor="t">
            <a:spAutoFit/>
          </a:bodyPr>
          <a:lstStyle/>
          <a:p>
            <a:pPr algn="l">
              <a:spcAft>
                <a:spcPts val="1400"/>
              </a:spcAft>
            </a:pPr>
            <a:r>
              <a:rPr sz="1400" b="1">
                <a:solidFill>
                  <a:srgbClr val="B85042"/>
                </a:solidFill>
                <a:latin typeface="Calibri"/>
              </a:rPr>
              <a:t>Nombre. </a:t>
            </a:r>
            <a:r>
              <a:rPr sz="1400" b="0">
                <a:solidFill>
                  <a:srgbClr val="2B2B2B"/>
                </a:solidFill>
                <a:latin typeface="Calibri"/>
              </a:rPr>
              <a:t>Precio promedio de publicación (pesos) de departamentos en alquiler de 1, 2 y 3 ambientes usados, por comuna.</a:t>
            </a:r>
          </a:p>
          <a:p>
            <a:pPr>
              <a:spcAft>
                <a:spcPts val="1400"/>
              </a:spcAft>
            </a:pPr>
            <a:r>
              <a:rPr sz="1400" b="1">
                <a:solidFill>
                  <a:srgbClr val="B85042"/>
                </a:solidFill>
                <a:latin typeface="Calibri"/>
              </a:rPr>
              <a:t>Fuente. </a:t>
            </a:r>
            <a:r>
              <a:rPr sz="1400" b="0">
                <a:solidFill>
                  <a:srgbClr val="2B2B2B"/>
                </a:solidFill>
                <a:latin typeface="Calibri"/>
              </a:rPr>
              <a:t>Instituto de Estadística y Censos de la Ciudad Autónoma de Buenos Aires (GCBA), sobre la base de datos de Argenprop.</a:t>
            </a:r>
          </a:p>
          <a:p>
            <a:pPr>
              <a:spcAft>
                <a:spcPts val="1400"/>
              </a:spcAft>
            </a:pPr>
            <a:r>
              <a:rPr sz="1400" b="1">
                <a:solidFill>
                  <a:srgbClr val="B85042"/>
                </a:solidFill>
                <a:latin typeface="Calibri"/>
              </a:rPr>
              <a:t>Qué representa. </a:t>
            </a:r>
            <a:r>
              <a:rPr sz="1400" b="0">
                <a:solidFill>
                  <a:srgbClr val="2B2B2B"/>
                </a:solidFill>
                <a:latin typeface="Calibri"/>
              </a:rPr>
              <a:t>La oferta de departamentos publicados en alquiler en la Ciudad. Mide precios de publicación, no los precios efectivamente pactados en los contratos.</a:t>
            </a:r>
          </a:p>
          <a:p>
            <a:pPr>
              <a:spcAft>
                <a:spcPts val="1400"/>
              </a:spcAft>
            </a:pPr>
            <a:r>
              <a:rPr sz="1400" b="1">
                <a:solidFill>
                  <a:srgbClr val="B85042"/>
                </a:solidFill>
                <a:latin typeface="Calibri"/>
              </a:rPr>
              <a:t>Unidad de observación. </a:t>
            </a:r>
            <a:r>
              <a:rPr sz="1400" b="0">
                <a:solidFill>
                  <a:srgbClr val="2B2B2B"/>
                </a:solidFill>
                <a:latin typeface="Calibri"/>
              </a:rPr>
              <a:t>Cada fila es una comuna, para un tipo de departamento, en un trimestre.</a:t>
            </a:r>
          </a:p>
          <a:p>
            <a:pPr>
              <a:spcAft>
                <a:spcPts val="1400"/>
              </a:spcAft>
            </a:pPr>
            <a:r>
              <a:rPr sz="1400" b="1">
                <a:solidFill>
                  <a:srgbClr val="B85042"/>
                </a:solidFill>
                <a:latin typeface="Calibri"/>
              </a:rPr>
              <a:t>Por qué comuna y no barrio. </a:t>
            </a:r>
            <a:r>
              <a:rPr sz="1400" b="0">
                <a:solidFill>
                  <a:srgbClr val="2B2B2B"/>
                </a:solidFill>
                <a:latin typeface="Calibri"/>
              </a:rPr>
              <a:t>La fuente publica las dos desagregaciones, pero a nivel de barrio falta el 62% de los datos y hay 8 barrios sin una sola publicación en ocho años. Por comuna falta el 13%.</a:t>
            </a:r>
          </a:p>
          <a:p>
            <a:pPr>
              <a:spcAft>
                <a:spcPts val="1400"/>
              </a:spcAft>
            </a:pPr>
            <a:r>
              <a:rPr sz="1400" b="1">
                <a:solidFill>
                  <a:srgbClr val="B85042"/>
                </a:solidFill>
                <a:latin typeface="Calibri"/>
              </a:rPr>
              <a:t>Periodicidad. </a:t>
            </a:r>
            <a:r>
              <a:rPr sz="1400" b="0">
                <a:solidFill>
                  <a:srgbClr val="2B2B2B"/>
                </a:solidFill>
                <a:latin typeface="Calibri"/>
              </a:rPr>
              <a:t>Difusión trimestral (la fuente recibe la información mensual).</a:t>
            </a:r>
          </a:p>
          <a:p>
            <a:pPr>
              <a:spcAft>
                <a:spcPts val="0"/>
              </a:spcAft>
            </a:pPr>
            <a:r>
              <a:rPr sz="1400" b="1">
                <a:solidFill>
                  <a:srgbClr val="B85042"/>
                </a:solidFill>
                <a:latin typeface="Calibri"/>
              </a:rPr>
              <a:t>Cómo se mide. </a:t>
            </a:r>
            <a:r>
              <a:rPr sz="1400" b="0">
                <a:solidFill>
                  <a:srgbClr val="2B2B2B"/>
                </a:solidFill>
                <a:latin typeface="Calibri"/>
              </a:rPr>
              <a:t>Alquiler mensual publicado, llevado a una superficie fija (30, 43 y 70 m²). Lo deflactamos con el IPC del INDEC (región GBA) para expresarlo en pesos del 2do trimestre de 2026.</a:t>
            </a:r>
          </a:p>
        </p:txBody>
      </p:sp>
      <p:sp>
        <p:nvSpPr>
          <p:cNvPr id="6" name="Rounded Rectangle 5"/>
          <p:cNvSpPr/>
          <p:nvPr/>
        </p:nvSpPr>
        <p:spPr>
          <a:xfrm>
            <a:off x="7269480" y="1572768"/>
            <a:ext cx="2103120" cy="1371600"/>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70648" y="1755648"/>
            <a:ext cx="1700784" cy="1051560"/>
          </a:xfrm>
          <a:prstGeom prst="rect">
            <a:avLst/>
          </a:prstGeom>
          <a:noFill/>
        </p:spPr>
        <p:txBody>
          <a:bodyPr wrap="square" lIns="0" rIns="0" tIns="0" bIns="0" anchor="t">
            <a:spAutoFit/>
          </a:bodyPr>
          <a:lstStyle/>
          <a:p>
            <a:pPr algn="l">
              <a:spcBef>
                <a:spcPts val="0"/>
              </a:spcBef>
              <a:spcAft>
                <a:spcPts val="200"/>
              </a:spcAft>
            </a:pPr>
            <a:r>
              <a:rPr sz="3000" b="1" i="0">
                <a:solidFill>
                  <a:srgbClr val="B85042"/>
                </a:solidFill>
                <a:latin typeface="Cambria"/>
              </a:rPr>
              <a:t>1.530</a:t>
            </a:r>
          </a:p>
          <a:p>
            <a:pPr>
              <a:lnSpc>
                <a:spcPct val="95000"/>
              </a:lnSpc>
              <a:spcBef>
                <a:spcPts val="0"/>
              </a:spcBef>
              <a:spcAft>
                <a:spcPts val="0"/>
              </a:spcAft>
            </a:pPr>
            <a:r>
              <a:rPr sz="1150" b="0" i="0">
                <a:solidFill>
                  <a:srgbClr val="2B2B2B"/>
                </a:solidFill>
                <a:latin typeface="Calibri"/>
              </a:rPr>
              <a:t>observaciones
(15 × 3 × 34)</a:t>
            </a:r>
          </a:p>
        </p:txBody>
      </p:sp>
      <p:sp>
        <p:nvSpPr>
          <p:cNvPr id="8" name="Rounded Rectangle 7"/>
          <p:cNvSpPr/>
          <p:nvPr/>
        </p:nvSpPr>
        <p:spPr>
          <a:xfrm>
            <a:off x="9528048" y="1572768"/>
            <a:ext cx="2103120" cy="1371600"/>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29216" y="1755648"/>
            <a:ext cx="1700784" cy="1051560"/>
          </a:xfrm>
          <a:prstGeom prst="rect">
            <a:avLst/>
          </a:prstGeom>
          <a:noFill/>
        </p:spPr>
        <p:txBody>
          <a:bodyPr wrap="square" lIns="0" rIns="0" tIns="0" bIns="0" anchor="t">
            <a:spAutoFit/>
          </a:bodyPr>
          <a:lstStyle/>
          <a:p>
            <a:pPr algn="l">
              <a:spcBef>
                <a:spcPts val="0"/>
              </a:spcBef>
              <a:spcAft>
                <a:spcPts val="200"/>
              </a:spcAft>
            </a:pPr>
            <a:r>
              <a:rPr sz="3000" b="1" i="0">
                <a:solidFill>
                  <a:srgbClr val="B85042"/>
                </a:solidFill>
                <a:latin typeface="Cambria"/>
              </a:rPr>
              <a:t>11</a:t>
            </a:r>
          </a:p>
          <a:p>
            <a:pPr>
              <a:lnSpc>
                <a:spcPct val="95000"/>
              </a:lnSpc>
              <a:spcBef>
                <a:spcPts val="0"/>
              </a:spcBef>
              <a:spcAft>
                <a:spcPts val="0"/>
              </a:spcAft>
            </a:pPr>
            <a:r>
              <a:rPr sz="1150" b="0" i="0">
                <a:solidFill>
                  <a:srgbClr val="2B2B2B"/>
                </a:solidFill>
                <a:latin typeface="Calibri"/>
              </a:rPr>
              <a:t>variables</a:t>
            </a:r>
          </a:p>
        </p:txBody>
      </p:sp>
      <p:sp>
        <p:nvSpPr>
          <p:cNvPr id="10" name="Rounded Rectangle 9"/>
          <p:cNvSpPr/>
          <p:nvPr/>
        </p:nvSpPr>
        <p:spPr>
          <a:xfrm>
            <a:off x="7269480" y="3154680"/>
            <a:ext cx="2103120" cy="1371600"/>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70648" y="3337560"/>
            <a:ext cx="1700784" cy="1051560"/>
          </a:xfrm>
          <a:prstGeom prst="rect">
            <a:avLst/>
          </a:prstGeom>
          <a:noFill/>
        </p:spPr>
        <p:txBody>
          <a:bodyPr wrap="square" lIns="0" rIns="0" tIns="0" bIns="0" anchor="t">
            <a:spAutoFit/>
          </a:bodyPr>
          <a:lstStyle/>
          <a:p>
            <a:pPr algn="l">
              <a:spcBef>
                <a:spcPts val="0"/>
              </a:spcBef>
              <a:spcAft>
                <a:spcPts val="200"/>
              </a:spcAft>
            </a:pPr>
            <a:r>
              <a:rPr sz="3000" b="1" i="0">
                <a:solidFill>
                  <a:srgbClr val="B85042"/>
                </a:solidFill>
                <a:latin typeface="Cambria"/>
              </a:rPr>
              <a:t>15</a:t>
            </a:r>
          </a:p>
          <a:p>
            <a:pPr>
              <a:lnSpc>
                <a:spcPct val="95000"/>
              </a:lnSpc>
              <a:spcBef>
                <a:spcPts val="0"/>
              </a:spcBef>
              <a:spcAft>
                <a:spcPts val="0"/>
              </a:spcAft>
            </a:pPr>
            <a:r>
              <a:rPr sz="1150" b="0" i="0">
                <a:solidFill>
                  <a:srgbClr val="2B2B2B"/>
                </a:solidFill>
                <a:latin typeface="Calibri"/>
              </a:rPr>
              <a:t>comunas de
la Ciudad</a:t>
            </a:r>
          </a:p>
        </p:txBody>
      </p:sp>
      <p:sp>
        <p:nvSpPr>
          <p:cNvPr id="12" name="Rounded Rectangle 11"/>
          <p:cNvSpPr/>
          <p:nvPr/>
        </p:nvSpPr>
        <p:spPr>
          <a:xfrm>
            <a:off x="9528048" y="3154680"/>
            <a:ext cx="2103120" cy="1371600"/>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729216" y="3337560"/>
            <a:ext cx="1700784" cy="1051560"/>
          </a:xfrm>
          <a:prstGeom prst="rect">
            <a:avLst/>
          </a:prstGeom>
          <a:noFill/>
        </p:spPr>
        <p:txBody>
          <a:bodyPr wrap="square" lIns="0" rIns="0" tIns="0" bIns="0" anchor="t">
            <a:spAutoFit/>
          </a:bodyPr>
          <a:lstStyle/>
          <a:p>
            <a:pPr algn="l">
              <a:spcBef>
                <a:spcPts val="0"/>
              </a:spcBef>
              <a:spcAft>
                <a:spcPts val="200"/>
              </a:spcAft>
            </a:pPr>
            <a:r>
              <a:rPr sz="3000" b="1" i="0">
                <a:solidFill>
                  <a:srgbClr val="B85042"/>
                </a:solidFill>
                <a:latin typeface="Cambria"/>
              </a:rPr>
              <a:t>34</a:t>
            </a:r>
          </a:p>
          <a:p>
            <a:pPr>
              <a:lnSpc>
                <a:spcPct val="95000"/>
              </a:lnSpc>
              <a:spcBef>
                <a:spcPts val="0"/>
              </a:spcBef>
              <a:spcAft>
                <a:spcPts val="0"/>
              </a:spcAft>
            </a:pPr>
            <a:r>
              <a:rPr sz="1150" b="0" i="0">
                <a:solidFill>
                  <a:srgbClr val="2B2B2B"/>
                </a:solidFill>
                <a:latin typeface="Calibri"/>
              </a:rPr>
              <a:t>trimestres
2018 a 2026</a:t>
            </a:r>
          </a:p>
        </p:txBody>
      </p:sp>
      <p:sp>
        <p:nvSpPr>
          <p:cNvPr id="14" name="Rounded Rectangle 13"/>
          <p:cNvSpPr/>
          <p:nvPr/>
        </p:nvSpPr>
        <p:spPr>
          <a:xfrm>
            <a:off x="7269480" y="4892040"/>
            <a:ext cx="4361688" cy="572262"/>
          </a:xfrm>
          <a:prstGeom prst="roundRect">
            <a:avLst>
              <a:gd name="adj" fmla="val 6000"/>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52360" y="5029200"/>
            <a:ext cx="3995927" cy="297942"/>
          </a:xfrm>
          <a:prstGeom prst="rect">
            <a:avLst/>
          </a:prstGeom>
          <a:noFill/>
        </p:spPr>
        <p:txBody>
          <a:bodyPr wrap="square" lIns="0" rIns="0" tIns="0" bIns="0" anchor="t">
            <a:spAutoFit/>
          </a:bodyPr>
          <a:lstStyle/>
          <a:p>
            <a:pPr algn="l">
              <a:lnSpc>
                <a:spcPct val="100000"/>
              </a:lnSpc>
              <a:spcBef>
                <a:spcPts val="0"/>
              </a:spcBef>
              <a:spcAft>
                <a:spcPts val="0"/>
              </a:spcAft>
            </a:pPr>
            <a:r>
              <a:rPr sz="1150" b="0" i="0">
                <a:solidFill>
                  <a:srgbClr val="2B2B2B"/>
                </a:solidFill>
                <a:latin typeface="Calibri"/>
              </a:rPr>
              <a:t>Período: 1er trimestre de 2018 – 2do trimestre de 2026. Los últimos cuatro trimestres son datos provisorios.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1. PRESENTACIÓN DE LA BASE</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¿Cómo están estructurados?</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3</a:t>
            </a:r>
          </a:p>
        </p:txBody>
      </p:sp>
      <p:sp>
        <p:nvSpPr>
          <p:cNvPr id="5" name="TextBox 4"/>
          <p:cNvSpPr txBox="1"/>
          <p:nvPr/>
        </p:nvSpPr>
        <p:spPr>
          <a:xfrm>
            <a:off x="566928" y="1554480"/>
            <a:ext cx="5394960" cy="3200400"/>
          </a:xfrm>
          <a:prstGeom prst="rect">
            <a:avLst/>
          </a:prstGeom>
          <a:noFill/>
        </p:spPr>
        <p:txBody>
          <a:bodyPr wrap="square" lIns="0" rIns="0" tIns="0" bIns="0" anchor="t">
            <a:spAutoFit/>
          </a:bodyPr>
          <a:lstStyle/>
          <a:p>
            <a:pPr algn="l">
              <a:spcBef>
                <a:spcPts val="0"/>
              </a:spcBef>
              <a:spcAft>
                <a:spcPts val="1000"/>
              </a:spcAft>
            </a:pPr>
            <a:r>
              <a:rPr sz="1500" b="1" i="0">
                <a:solidFill>
                  <a:srgbClr val="2B2B2B"/>
                </a:solidFill>
                <a:latin typeface="Cambria"/>
              </a:rPr>
              <a:t>Del cuadro original a la base de análisis</a:t>
            </a:r>
          </a:p>
          <a:p>
            <a:pPr>
              <a:lnSpc>
                <a:spcPct val="100000"/>
              </a:lnSpc>
              <a:spcBef>
                <a:spcPts val="0"/>
              </a:spcBef>
              <a:spcAft>
                <a:spcPts val="900"/>
              </a:spcAft>
            </a:pPr>
            <a:r>
              <a:rPr sz="1300" b="0" i="0">
                <a:solidFill>
                  <a:srgbClr val="2B2B2B"/>
                </a:solidFill>
                <a:latin typeface="Calibri"/>
              </a:rPr>
              <a:t>La fuente publica tres cuadros de Excel separados —uno por tipo de departamento— en formato ancho: las comunas en las filas y los 34 trimestres desplegados en las columnas.</a:t>
            </a:r>
          </a:p>
          <a:p>
            <a:pPr>
              <a:lnSpc>
                <a:spcPct val="100000"/>
              </a:lnSpc>
              <a:spcBef>
                <a:spcPts val="0"/>
              </a:spcBef>
              <a:spcAft>
                <a:spcPts val="900"/>
              </a:spcAft>
            </a:pPr>
            <a:r>
              <a:rPr sz="1300" b="0" i="0">
                <a:solidFill>
                  <a:srgbClr val="2B2B2B"/>
                </a:solidFill>
                <a:latin typeface="Calibri"/>
              </a:rPr>
              <a:t>Los pasamos a formato largo, los unimos en una sola base y separamos la fila «Total», que no es una comuna. Después deflactamos los precios con el IPC para poder comparar años distintos.</a:t>
            </a:r>
          </a:p>
          <a:p>
            <a:pPr>
              <a:spcAft>
                <a:spcPts val="0"/>
              </a:spcAft>
            </a:pPr>
            <a:r>
              <a:rPr sz="1300" b="1">
                <a:solidFill>
                  <a:srgbClr val="2B2B2B"/>
                </a:solidFill>
                <a:latin typeface="Calibri"/>
              </a:rPr>
              <a:t>El código «///» del Excel es el dato faltante</a:t>
            </a:r>
            <a:r>
              <a:rPr sz="1300" b="0">
                <a:solidFill>
                  <a:srgbClr val="2B2B2B"/>
                </a:solidFill>
                <a:latin typeface="Calibri"/>
              </a:rPr>
              <a:t>: la fuente solo publica las comunas que alcanzan una cantidad mínima de unidades ofertadas.</a:t>
            </a:r>
          </a:p>
        </p:txBody>
      </p:sp>
      <p:sp>
        <p:nvSpPr>
          <p:cNvPr id="6" name="Rounded Rectangle 5"/>
          <p:cNvSpPr/>
          <p:nvPr/>
        </p:nvSpPr>
        <p:spPr>
          <a:xfrm>
            <a:off x="6355080" y="1572768"/>
            <a:ext cx="4937760" cy="896112"/>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0" y="1719072"/>
            <a:ext cx="4206240" cy="640080"/>
          </a:xfrm>
          <a:prstGeom prst="rect">
            <a:avLst/>
          </a:prstGeom>
          <a:noFill/>
        </p:spPr>
        <p:txBody>
          <a:bodyPr wrap="square" lIns="0" rIns="0" tIns="0" bIns="0" anchor="t">
            <a:spAutoFit/>
          </a:bodyPr>
          <a:lstStyle/>
          <a:p>
            <a:pPr algn="l">
              <a:spcBef>
                <a:spcPts val="0"/>
              </a:spcBef>
              <a:spcAft>
                <a:spcPts val="200"/>
              </a:spcAft>
            </a:pPr>
            <a:r>
              <a:rPr sz="1450" b="1" i="0">
                <a:solidFill>
                  <a:srgbClr val="B85042"/>
                </a:solidFill>
                <a:latin typeface="Cambria"/>
              </a:rPr>
              <a:t>3 archivos .xlsx</a:t>
            </a:r>
          </a:p>
          <a:p>
            <a:pPr>
              <a:spcBef>
                <a:spcPts val="0"/>
              </a:spcBef>
              <a:spcAft>
                <a:spcPts val="0"/>
              </a:spcAft>
            </a:pPr>
            <a:r>
              <a:rPr sz="1150" b="0" i="0">
                <a:solidFill>
                  <a:srgbClr val="2B2B2B"/>
                </a:solidFill>
                <a:latin typeface="Calibri"/>
              </a:rPr>
              <a:t>formato ancho · 15 filas × 34 columnas</a:t>
            </a:r>
          </a:p>
        </p:txBody>
      </p:sp>
      <p:sp>
        <p:nvSpPr>
          <p:cNvPr id="8" name="Oval 7"/>
          <p:cNvSpPr/>
          <p:nvPr/>
        </p:nvSpPr>
        <p:spPr>
          <a:xfrm>
            <a:off x="6519672" y="1865376"/>
            <a:ext cx="310896" cy="31089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9" name="Rounded Rectangle 8"/>
          <p:cNvSpPr/>
          <p:nvPr/>
        </p:nvSpPr>
        <p:spPr>
          <a:xfrm>
            <a:off x="6355080" y="2651760"/>
            <a:ext cx="4937760" cy="896112"/>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0" y="2798064"/>
            <a:ext cx="4206240" cy="640080"/>
          </a:xfrm>
          <a:prstGeom prst="rect">
            <a:avLst/>
          </a:prstGeom>
          <a:noFill/>
        </p:spPr>
        <p:txBody>
          <a:bodyPr wrap="square" lIns="0" rIns="0" tIns="0" bIns="0" anchor="t">
            <a:spAutoFit/>
          </a:bodyPr>
          <a:lstStyle/>
          <a:p>
            <a:pPr algn="l">
              <a:spcBef>
                <a:spcPts val="0"/>
              </a:spcBef>
              <a:spcAft>
                <a:spcPts val="200"/>
              </a:spcAft>
            </a:pPr>
            <a:r>
              <a:rPr sz="1450" b="1" i="0">
                <a:solidFill>
                  <a:srgbClr val="B85042"/>
                </a:solidFill>
                <a:latin typeface="Cambria"/>
              </a:rPr>
              <a:t>Formato largo</a:t>
            </a:r>
          </a:p>
          <a:p>
            <a:pPr>
              <a:spcBef>
                <a:spcPts val="0"/>
              </a:spcBef>
              <a:spcAft>
                <a:spcPts val="0"/>
              </a:spcAft>
            </a:pPr>
            <a:r>
              <a:rPr sz="1150" b="0" i="0">
                <a:solidFill>
                  <a:srgbClr val="2B2B2B"/>
                </a:solidFill>
                <a:latin typeface="Calibri"/>
              </a:rPr>
              <a:t>una fila por observación</a:t>
            </a:r>
          </a:p>
        </p:txBody>
      </p:sp>
      <p:sp>
        <p:nvSpPr>
          <p:cNvPr id="11" name="Oval 10"/>
          <p:cNvSpPr/>
          <p:nvPr/>
        </p:nvSpPr>
        <p:spPr>
          <a:xfrm>
            <a:off x="6519672" y="2944368"/>
            <a:ext cx="310896" cy="31089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2" name="Rounded Rectangle 11"/>
          <p:cNvSpPr/>
          <p:nvPr/>
        </p:nvSpPr>
        <p:spPr>
          <a:xfrm>
            <a:off x="6355080" y="3730752"/>
            <a:ext cx="4937760" cy="896112"/>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858000" y="3877056"/>
            <a:ext cx="4206240" cy="640080"/>
          </a:xfrm>
          <a:prstGeom prst="rect">
            <a:avLst/>
          </a:prstGeom>
          <a:noFill/>
        </p:spPr>
        <p:txBody>
          <a:bodyPr wrap="square" lIns="0" rIns="0" tIns="0" bIns="0" anchor="t">
            <a:spAutoFit/>
          </a:bodyPr>
          <a:lstStyle/>
          <a:p>
            <a:pPr algn="l">
              <a:spcBef>
                <a:spcPts val="0"/>
              </a:spcBef>
              <a:spcAft>
                <a:spcPts val="200"/>
              </a:spcAft>
            </a:pPr>
            <a:r>
              <a:rPr sz="1450" b="1" i="0">
                <a:solidFill>
                  <a:srgbClr val="B85042"/>
                </a:solidFill>
                <a:latin typeface="Cambria"/>
              </a:rPr>
              <a:t>Deflactado con el IPC</a:t>
            </a:r>
          </a:p>
          <a:p>
            <a:pPr>
              <a:spcBef>
                <a:spcPts val="0"/>
              </a:spcBef>
              <a:spcAft>
                <a:spcPts val="0"/>
              </a:spcAft>
            </a:pPr>
            <a:r>
              <a:rPr sz="1150" b="0" i="0">
                <a:solidFill>
                  <a:srgbClr val="2B2B2B"/>
                </a:solidFill>
                <a:latin typeface="Calibri"/>
              </a:rPr>
              <a:t>pesos constantes del 2do trimestre de 2026</a:t>
            </a:r>
          </a:p>
        </p:txBody>
      </p:sp>
      <p:sp>
        <p:nvSpPr>
          <p:cNvPr id="14" name="Oval 13"/>
          <p:cNvSpPr/>
          <p:nvPr/>
        </p:nvSpPr>
        <p:spPr>
          <a:xfrm>
            <a:off x="6519672" y="4023360"/>
            <a:ext cx="310896" cy="31089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5" name="Rounded Rectangle 14"/>
          <p:cNvSpPr/>
          <p:nvPr/>
        </p:nvSpPr>
        <p:spPr>
          <a:xfrm>
            <a:off x="6355080" y="4809744"/>
            <a:ext cx="4937760" cy="896112"/>
          </a:xfrm>
          <a:prstGeom prst="roundRect">
            <a:avLst>
              <a:gd name="adj" fmla="val 6000"/>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858000" y="4956048"/>
            <a:ext cx="4206240" cy="640080"/>
          </a:xfrm>
          <a:prstGeom prst="rect">
            <a:avLst/>
          </a:prstGeom>
          <a:noFill/>
        </p:spPr>
        <p:txBody>
          <a:bodyPr wrap="square" lIns="0" rIns="0" tIns="0" bIns="0" anchor="t">
            <a:spAutoFit/>
          </a:bodyPr>
          <a:lstStyle/>
          <a:p>
            <a:pPr algn="l">
              <a:spcBef>
                <a:spcPts val="0"/>
              </a:spcBef>
              <a:spcAft>
                <a:spcPts val="200"/>
              </a:spcAft>
            </a:pPr>
            <a:r>
              <a:rPr sz="1450" b="1" i="0">
                <a:solidFill>
                  <a:srgbClr val="B85042"/>
                </a:solidFill>
                <a:latin typeface="Cambria"/>
              </a:rPr>
              <a:t>Base de análisis</a:t>
            </a:r>
          </a:p>
          <a:p>
            <a:pPr>
              <a:spcBef>
                <a:spcPts val="0"/>
              </a:spcBef>
              <a:spcAft>
                <a:spcPts val="0"/>
              </a:spcAft>
            </a:pPr>
            <a:r>
              <a:rPr sz="1150" b="0" i="0">
                <a:solidFill>
                  <a:srgbClr val="2B2B2B"/>
                </a:solidFill>
                <a:latin typeface="Calibri"/>
              </a:rPr>
              <a:t>1.530 filas · 11 variables</a:t>
            </a:r>
          </a:p>
        </p:txBody>
      </p:sp>
      <p:sp>
        <p:nvSpPr>
          <p:cNvPr id="17" name="Oval 16"/>
          <p:cNvSpPr/>
          <p:nvPr/>
        </p:nvSpPr>
        <p:spPr>
          <a:xfrm>
            <a:off x="6519672" y="5102352"/>
            <a:ext cx="310896" cy="31089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8" name="TextBox 17"/>
          <p:cNvSpPr txBox="1"/>
          <p:nvPr/>
        </p:nvSpPr>
        <p:spPr>
          <a:xfrm>
            <a:off x="566928" y="4919472"/>
            <a:ext cx="5394960" cy="256032"/>
          </a:xfrm>
          <a:prstGeom prst="rect">
            <a:avLst/>
          </a:prstGeom>
          <a:noFill/>
        </p:spPr>
        <p:txBody>
          <a:bodyPr wrap="square" lIns="0" rIns="0" tIns="0" bIns="0" anchor="t">
            <a:spAutoFit/>
          </a:bodyPr>
          <a:lstStyle/>
          <a:p>
            <a:pPr algn="l">
              <a:spcBef>
                <a:spcPts val="0"/>
              </a:spcBef>
              <a:spcAft>
                <a:spcPts val="0"/>
              </a:spcAft>
            </a:pPr>
            <a:r>
              <a:rPr sz="1100" b="1" i="0">
                <a:solidFill>
                  <a:srgbClr val="2B2B2B"/>
                </a:solidFill>
                <a:latin typeface="Calibri"/>
              </a:rPr>
              <a:t>Algunas filas de la base final</a:t>
            </a:r>
          </a:p>
        </p:txBody>
      </p:sp>
      <p:graphicFrame>
        <p:nvGraphicFramePr>
          <p:cNvPr id="19" name="Table 18"/>
          <p:cNvGraphicFramePr>
            <a:graphicFrameLocks noGrp="1"/>
          </p:cNvGraphicFramePr>
          <p:nvPr/>
        </p:nvGraphicFramePr>
        <p:xfrm>
          <a:off x="566928" y="5230368"/>
          <a:ext cx="5394960" cy="1115568"/>
        </p:xfrm>
        <a:graphic>
          <a:graphicData uri="http://schemas.openxmlformats.org/drawingml/2006/table">
            <a:tbl>
              <a:tblPr>
                <a:tableStyleId>{5C22544A-7EE6-4342-B048-85BDC9FD1C3A}</a:tableStyleId>
              </a:tblPr>
              <a:tblGrid>
                <a:gridCol w="777240"/>
                <a:gridCol w="1143000"/>
                <a:gridCol w="868680"/>
                <a:gridCol w="1371600"/>
                <a:gridCol w="1234440"/>
              </a:tblGrid>
              <a:tr h="292608">
                <a:tc>
                  <a:txBody>
                    <a:bodyPr wrap="square"/>
                    <a:lstStyle/>
                    <a:p>
                      <a:pPr algn="l">
                        <a:spcAft>
                          <a:spcPts val="0"/>
                        </a:spcAft>
                      </a:pPr>
                      <a:r>
                        <a:rPr sz="950" b="1">
                          <a:solidFill>
                            <a:srgbClr val="FFFFFF"/>
                          </a:solidFill>
                          <a:latin typeface="Calibri"/>
                        </a:rPr>
                        <a:t>comuna</a:t>
                      </a:r>
                    </a:p>
                  </a:txBody>
                  <a:tcPr marL="73152" marR="73152" marT="18288" marB="18288" anchor="ctr">
                    <a:solidFill>
                      <a:srgbClr val="B85042"/>
                    </a:solidFill>
                  </a:tcPr>
                </a:tc>
                <a:tc>
                  <a:txBody>
                    <a:bodyPr wrap="square"/>
                    <a:lstStyle/>
                    <a:p>
                      <a:pPr algn="l">
                        <a:spcAft>
                          <a:spcPts val="0"/>
                        </a:spcAft>
                      </a:pPr>
                      <a:r>
                        <a:rPr sz="950" b="1">
                          <a:solidFill>
                            <a:srgbClr val="FFFFFF"/>
                          </a:solidFill>
                          <a:latin typeface="Calibri"/>
                        </a:rPr>
                        <a:t>ambientes</a:t>
                      </a:r>
                    </a:p>
                  </a:txBody>
                  <a:tcPr marL="73152" marR="73152" marT="18288" marB="18288" anchor="ctr">
                    <a:solidFill>
                      <a:srgbClr val="B85042"/>
                    </a:solidFill>
                  </a:tcPr>
                </a:tc>
                <a:tc>
                  <a:txBody>
                    <a:bodyPr wrap="square"/>
                    <a:lstStyle/>
                    <a:p>
                      <a:pPr algn="l">
                        <a:spcAft>
                          <a:spcPts val="0"/>
                        </a:spcAft>
                      </a:pPr>
                      <a:r>
                        <a:rPr sz="950" b="1">
                          <a:solidFill>
                            <a:srgbClr val="FFFFFF"/>
                          </a:solidFill>
                          <a:latin typeface="Calibri"/>
                        </a:rPr>
                        <a:t>periodo</a:t>
                      </a:r>
                    </a:p>
                  </a:txBody>
                  <a:tcPr marL="73152" marR="73152" marT="18288" marB="18288" anchor="ctr">
                    <a:solidFill>
                      <a:srgbClr val="B85042"/>
                    </a:solidFill>
                  </a:tcPr>
                </a:tc>
                <a:tc>
                  <a:txBody>
                    <a:bodyPr wrap="square"/>
                    <a:lstStyle/>
                    <a:p>
                      <a:pPr algn="r">
                        <a:spcAft>
                          <a:spcPts val="0"/>
                        </a:spcAft>
                      </a:pPr>
                      <a:r>
                        <a:rPr sz="950" b="1">
                          <a:solidFill>
                            <a:srgbClr val="FFFFFF"/>
                          </a:solidFill>
                          <a:latin typeface="Calibri"/>
                        </a:rPr>
                        <a:t>precio_corriente</a:t>
                      </a:r>
                    </a:p>
                  </a:txBody>
                  <a:tcPr marL="73152" marR="73152" marT="18288" marB="18288" anchor="ctr">
                    <a:solidFill>
                      <a:srgbClr val="B85042"/>
                    </a:solidFill>
                  </a:tcPr>
                </a:tc>
                <a:tc>
                  <a:txBody>
                    <a:bodyPr wrap="square"/>
                    <a:lstStyle/>
                    <a:p>
                      <a:pPr algn="r">
                        <a:spcAft>
                          <a:spcPts val="0"/>
                        </a:spcAft>
                      </a:pPr>
                      <a:r>
                        <a:rPr sz="950" b="1">
                          <a:solidFill>
                            <a:srgbClr val="FFFFFF"/>
                          </a:solidFill>
                          <a:latin typeface="Calibri"/>
                        </a:rPr>
                        <a:t>precio_real</a:t>
                      </a:r>
                    </a:p>
                  </a:txBody>
                  <a:tcPr marL="73152" marR="73152" marT="18288" marB="18288" anchor="ctr">
                    <a:solidFill>
                      <a:srgbClr val="B85042"/>
                    </a:solidFill>
                  </a:tcPr>
                </a:tc>
              </a:tr>
              <a:tr h="274320">
                <a:tc>
                  <a:txBody>
                    <a:bodyPr wrap="square"/>
                    <a:lstStyle/>
                    <a:p>
                      <a:pPr algn="l">
                        <a:spcAft>
                          <a:spcPts val="0"/>
                        </a:spcAft>
                      </a:pPr>
                      <a:r>
                        <a:rPr sz="1050" b="0">
                          <a:solidFill>
                            <a:srgbClr val="2B2B2B"/>
                          </a:solidFill>
                          <a:latin typeface="Calibri"/>
                        </a:rPr>
                        <a:t>14</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2 ambientes</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2018-T1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12.152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1.080.271</a:t>
                      </a:r>
                    </a:p>
                  </a:txBody>
                  <a:tcPr marL="73152" marR="73152" marT="18288" marB="18288" anchor="ctr">
                    <a:solidFill>
                      <a:srgbClr val="FFFFFF"/>
                    </a:solidFill>
                  </a:tcPr>
                </a:tc>
              </a:tr>
              <a:tr h="274320">
                <a:tc>
                  <a:txBody>
                    <a:bodyPr wrap="square"/>
                    <a:lstStyle/>
                    <a:p>
                      <a:pPr algn="l">
                        <a:spcAft>
                          <a:spcPts val="0"/>
                        </a:spcAft>
                      </a:pPr>
                      <a:r>
                        <a:rPr sz="1050" b="0">
                          <a:solidFill>
                            <a:srgbClr val="2B2B2B"/>
                          </a:solidFill>
                          <a:latin typeface="Calibri"/>
                        </a:rPr>
                        <a:t>14</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2 ambientes</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2026-T2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839.053</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839.053</a:t>
                      </a:r>
                    </a:p>
                  </a:txBody>
                  <a:tcPr marL="73152" marR="73152" marT="18288" marB="18288" anchor="ctr">
                    <a:solidFill>
                      <a:srgbClr val="F2EFE6"/>
                    </a:solidFill>
                  </a:tcPr>
                </a:tc>
              </a:tr>
              <a:tr h="274320">
                <a:tc>
                  <a:txBody>
                    <a:bodyPr wrap="square"/>
                    <a:lstStyle/>
                    <a:p>
                      <a:pPr algn="l">
                        <a:spcAft>
                          <a:spcPts val="0"/>
                        </a:spcAft>
                      </a:pPr>
                      <a:r>
                        <a:rPr sz="1050" b="0">
                          <a:solidFill>
                            <a:srgbClr val="2B2B2B"/>
                          </a:solidFill>
                          <a:latin typeface="Calibri"/>
                        </a:rPr>
                        <a:t>8</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2 ambientes</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2026-T2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s/d</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s/d</a:t>
                      </a:r>
                    </a:p>
                  </a:txBody>
                  <a:tcPr marL="73152" marR="73152" marT="18288" marB="18288"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2. DESCRIPCIÓN DE LAS VARIABLES</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Las 11 variables de la base</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4</a:t>
            </a:r>
          </a:p>
        </p:txBody>
      </p:sp>
      <p:graphicFrame>
        <p:nvGraphicFramePr>
          <p:cNvPr id="5" name="Table 4"/>
          <p:cNvGraphicFramePr>
            <a:graphicFrameLocks noGrp="1"/>
          </p:cNvGraphicFramePr>
          <p:nvPr/>
        </p:nvGraphicFramePr>
        <p:xfrm>
          <a:off x="566928" y="1517904"/>
          <a:ext cx="11064240" cy="3968496"/>
        </p:xfrm>
        <a:graphic>
          <a:graphicData uri="http://schemas.openxmlformats.org/drawingml/2006/table">
            <a:tbl>
              <a:tblPr>
                <a:tableStyleId>{5C22544A-7EE6-4342-B048-85BDC9FD1C3A}</a:tableStyleId>
              </a:tblPr>
              <a:tblGrid>
                <a:gridCol w="1828800"/>
                <a:gridCol w="5760720"/>
                <a:gridCol w="2011680"/>
                <a:gridCol w="1463040"/>
              </a:tblGrid>
              <a:tr h="347472">
                <a:tc>
                  <a:txBody>
                    <a:bodyPr wrap="square"/>
                    <a:lstStyle/>
                    <a:p>
                      <a:pPr algn="l">
                        <a:spcAft>
                          <a:spcPts val="0"/>
                        </a:spcAft>
                      </a:pPr>
                      <a:r>
                        <a:rPr sz="1100" b="1">
                          <a:solidFill>
                            <a:srgbClr val="FFFFFF"/>
                          </a:solidFill>
                          <a:latin typeface="Calibri"/>
                        </a:rPr>
                        <a:t>Variable</a:t>
                      </a:r>
                    </a:p>
                  </a:txBody>
                  <a:tcPr marL="73152" marR="73152" marT="18288" marB="18288" anchor="ctr">
                    <a:solidFill>
                      <a:srgbClr val="B85042"/>
                    </a:solidFill>
                  </a:tcPr>
                </a:tc>
                <a:tc>
                  <a:txBody>
                    <a:bodyPr wrap="square"/>
                    <a:lstStyle/>
                    <a:p>
                      <a:pPr algn="l">
                        <a:spcAft>
                          <a:spcPts val="0"/>
                        </a:spcAft>
                      </a:pPr>
                      <a:r>
                        <a:rPr sz="1100" b="1">
                          <a:solidFill>
                            <a:srgbClr val="FFFFFF"/>
                          </a:solidFill>
                          <a:latin typeface="Calibri"/>
                        </a:rPr>
                        <a:t>Qué representa</a:t>
                      </a:r>
                    </a:p>
                  </a:txBody>
                  <a:tcPr marL="73152" marR="73152" marT="18288" marB="18288" anchor="ctr">
                    <a:solidFill>
                      <a:srgbClr val="B85042"/>
                    </a:solidFill>
                  </a:tcPr>
                </a:tc>
                <a:tc>
                  <a:txBody>
                    <a:bodyPr wrap="square"/>
                    <a:lstStyle/>
                    <a:p>
                      <a:pPr algn="l">
                        <a:spcAft>
                          <a:spcPts val="0"/>
                        </a:spcAft>
                      </a:pPr>
                      <a:r>
                        <a:rPr sz="1100" b="1">
                          <a:solidFill>
                            <a:srgbClr val="FFFFFF"/>
                          </a:solidFill>
                          <a:latin typeface="Calibri"/>
                        </a:rPr>
                        <a:t>Tipo</a:t>
                      </a:r>
                    </a:p>
                  </a:txBody>
                  <a:tcPr marL="73152" marR="73152" marT="18288" marB="18288" anchor="ctr">
                    <a:solidFill>
                      <a:srgbClr val="B85042"/>
                    </a:solidFill>
                  </a:tcPr>
                </a:tc>
                <a:tc>
                  <a:txBody>
                    <a:bodyPr wrap="square"/>
                    <a:lstStyle/>
                    <a:p>
                      <a:pPr algn="r">
                        <a:spcAft>
                          <a:spcPts val="0"/>
                        </a:spcAft>
                      </a:pPr>
                      <a:r>
                        <a:rPr sz="1100" b="1">
                          <a:solidFill>
                            <a:srgbClr val="FFFFFF"/>
                          </a:solidFill>
                          <a:latin typeface="Calibri"/>
                        </a:rPr>
                        <a:t>Nulos</a:t>
                      </a:r>
                    </a:p>
                  </a:txBody>
                  <a:tcPr marL="73152" marR="73152" marT="18288" marB="18288" anchor="ctr">
                    <a:solidFill>
                      <a:srgbClr val="B85042"/>
                    </a:solidFill>
                  </a:tcPr>
                </a:tc>
              </a:tr>
              <a:tr h="329184">
                <a:tc>
                  <a:txBody>
                    <a:bodyPr wrap="square"/>
                    <a:lstStyle/>
                    <a:p>
                      <a:pPr algn="l">
                        <a:spcAft>
                          <a:spcPts val="0"/>
                        </a:spcAft>
                      </a:pPr>
                      <a:r>
                        <a:rPr sz="1100" b="0">
                          <a:solidFill>
                            <a:srgbClr val="2B2B2B"/>
                          </a:solidFill>
                          <a:latin typeface="Calibri"/>
                        </a:rPr>
                        <a:t>comuna</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Comuna de la Ciudad (1 a 15)</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Categórica</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0</a:t>
                      </a:r>
                    </a:p>
                  </a:txBody>
                  <a:tcPr marL="73152" marR="73152" marT="18288" marB="18288" anchor="ctr">
                    <a:solidFill>
                      <a:srgbClr val="FFFFFF"/>
                    </a:solidFill>
                  </a:tcPr>
                </a:tc>
              </a:tr>
              <a:tr h="329184">
                <a:tc>
                  <a:txBody>
                    <a:bodyPr wrap="square"/>
                    <a:lstStyle/>
                    <a:p>
                      <a:pPr algn="l">
                        <a:spcAft>
                          <a:spcPts val="0"/>
                        </a:spcAft>
                      </a:pPr>
                      <a:r>
                        <a:rPr sz="1100" b="0">
                          <a:solidFill>
                            <a:srgbClr val="2B2B2B"/>
                          </a:solidFill>
                          <a:latin typeface="Calibri"/>
                        </a:rPr>
                        <a:t>zona</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Agrupamiento de comunas: Norte, Centro, Oeste, Sur</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Categórica</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0</a:t>
                      </a:r>
                    </a:p>
                  </a:txBody>
                  <a:tcPr marL="73152" marR="73152" marT="18288" marB="18288" anchor="ctr">
                    <a:solidFill>
                      <a:srgbClr val="F2EFE6"/>
                    </a:solidFill>
                  </a:tcPr>
                </a:tc>
              </a:tr>
              <a:tr h="329184">
                <a:tc>
                  <a:txBody>
                    <a:bodyPr wrap="square"/>
                    <a:lstStyle/>
                    <a:p>
                      <a:pPr algn="l">
                        <a:spcAft>
                          <a:spcPts val="0"/>
                        </a:spcAft>
                      </a:pPr>
                      <a:r>
                        <a:rPr sz="1100" b="0">
                          <a:solidFill>
                            <a:srgbClr val="2B2B2B"/>
                          </a:solidFill>
                          <a:latin typeface="Calibri"/>
                        </a:rPr>
                        <a:t>ambientes</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Tipo de departamento: 1, 2 o 3 ambientes (usados)</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Categórica ordinal</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0</a:t>
                      </a:r>
                    </a:p>
                  </a:txBody>
                  <a:tcPr marL="73152" marR="73152" marT="18288" marB="18288" anchor="ctr">
                    <a:solidFill>
                      <a:srgbClr val="FFFFFF"/>
                    </a:solidFill>
                  </a:tcPr>
                </a:tc>
              </a:tr>
              <a:tr h="329184">
                <a:tc>
                  <a:txBody>
                    <a:bodyPr wrap="square"/>
                    <a:lstStyle/>
                    <a:p>
                      <a:pPr algn="l">
                        <a:spcAft>
                          <a:spcPts val="0"/>
                        </a:spcAft>
                      </a:pPr>
                      <a:r>
                        <a:rPr sz="1100" b="0">
                          <a:solidFill>
                            <a:srgbClr val="2B2B2B"/>
                          </a:solidFill>
                          <a:latin typeface="Calibri"/>
                        </a:rPr>
                        <a:t>superficie_m2</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Superficie de referencia: 30, 43 o 70 m²</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Numérica</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0</a:t>
                      </a:r>
                    </a:p>
                  </a:txBody>
                  <a:tcPr marL="73152" marR="73152" marT="18288" marB="18288" anchor="ctr">
                    <a:solidFill>
                      <a:srgbClr val="F2EFE6"/>
                    </a:solidFill>
                  </a:tcPr>
                </a:tc>
              </a:tr>
              <a:tr h="329184">
                <a:tc>
                  <a:txBody>
                    <a:bodyPr wrap="square"/>
                    <a:lstStyle/>
                    <a:p>
                      <a:pPr algn="l">
                        <a:spcAft>
                          <a:spcPts val="0"/>
                        </a:spcAft>
                      </a:pPr>
                      <a:r>
                        <a:rPr sz="1100" b="0">
                          <a:solidFill>
                            <a:srgbClr val="2B2B2B"/>
                          </a:solidFill>
                          <a:latin typeface="Calibri"/>
                        </a:rPr>
                        <a:t>anio</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Año del dato (2018 a 2026)</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Temporal</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0</a:t>
                      </a:r>
                    </a:p>
                  </a:txBody>
                  <a:tcPr marL="73152" marR="73152" marT="18288" marB="18288" anchor="ctr">
                    <a:solidFill>
                      <a:srgbClr val="FFFFFF"/>
                    </a:solidFill>
                  </a:tcPr>
                </a:tc>
              </a:tr>
              <a:tr h="329184">
                <a:tc>
                  <a:txBody>
                    <a:bodyPr wrap="square"/>
                    <a:lstStyle/>
                    <a:p>
                      <a:pPr algn="l">
                        <a:spcAft>
                          <a:spcPts val="0"/>
                        </a:spcAft>
                      </a:pPr>
                      <a:r>
                        <a:rPr sz="1100" b="0">
                          <a:solidFill>
                            <a:srgbClr val="2B2B2B"/>
                          </a:solidFill>
                          <a:latin typeface="Calibri"/>
                        </a:rPr>
                        <a:t>trimestre</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Trimestre del año (1 a 4)</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Temporal</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0</a:t>
                      </a:r>
                    </a:p>
                  </a:txBody>
                  <a:tcPr marL="73152" marR="73152" marT="18288" marB="18288" anchor="ctr">
                    <a:solidFill>
                      <a:srgbClr val="F2EFE6"/>
                    </a:solidFill>
                  </a:tcPr>
                </a:tc>
              </a:tr>
              <a:tr h="329184">
                <a:tc>
                  <a:txBody>
                    <a:bodyPr wrap="square"/>
                    <a:lstStyle/>
                    <a:p>
                      <a:pPr algn="l">
                        <a:spcAft>
                          <a:spcPts val="0"/>
                        </a:spcAft>
                      </a:pPr>
                      <a:r>
                        <a:rPr sz="1100" b="0">
                          <a:solidFill>
                            <a:srgbClr val="2B2B2B"/>
                          </a:solidFill>
                          <a:latin typeface="Calibri"/>
                        </a:rPr>
                        <a:t>periodo</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Etiqueta año-trimestre, por ejemplo 2018-T1</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Temporal</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0</a:t>
                      </a:r>
                    </a:p>
                  </a:txBody>
                  <a:tcPr marL="73152" marR="73152" marT="18288" marB="18288" anchor="ctr">
                    <a:solidFill>
                      <a:srgbClr val="FFFFFF"/>
                    </a:solidFill>
                  </a:tcPr>
                </a:tc>
              </a:tr>
              <a:tr h="329184">
                <a:tc>
                  <a:txBody>
                    <a:bodyPr wrap="square"/>
                    <a:lstStyle/>
                    <a:p>
                      <a:pPr algn="l">
                        <a:spcAft>
                          <a:spcPts val="0"/>
                        </a:spcAft>
                      </a:pPr>
                      <a:r>
                        <a:rPr sz="1100" b="0">
                          <a:solidFill>
                            <a:srgbClr val="2B2B2B"/>
                          </a:solidFill>
                          <a:latin typeface="Calibri"/>
                        </a:rPr>
                        <a:t>precio_corriente</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Alquiler mensual promedio publicado, en pesos corrientes (dato original)</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Numérica</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199</a:t>
                      </a:r>
                    </a:p>
                  </a:txBody>
                  <a:tcPr marL="73152" marR="73152" marT="18288" marB="18288" anchor="ctr">
                    <a:solidFill>
                      <a:srgbClr val="F2EFE6"/>
                    </a:solidFill>
                  </a:tcPr>
                </a:tc>
              </a:tr>
              <a:tr h="329184">
                <a:tc>
                  <a:txBody>
                    <a:bodyPr wrap="square"/>
                    <a:lstStyle/>
                    <a:p>
                      <a:pPr algn="l">
                        <a:spcAft>
                          <a:spcPts val="0"/>
                        </a:spcAft>
                      </a:pPr>
                      <a:r>
                        <a:rPr sz="1100" b="0">
                          <a:solidFill>
                            <a:srgbClr val="2B2B2B"/>
                          </a:solidFill>
                          <a:latin typeface="Calibri"/>
                        </a:rPr>
                        <a:t>precio_real</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Alquiler mensual en pesos constantes de 2026-T2 (deflactado por IPC)</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Numérica</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199</a:t>
                      </a:r>
                    </a:p>
                  </a:txBody>
                  <a:tcPr marL="73152" marR="73152" marT="18288" marB="18288" anchor="ctr">
                    <a:solidFill>
                      <a:srgbClr val="FFFFFF"/>
                    </a:solidFill>
                  </a:tcPr>
                </a:tc>
              </a:tr>
              <a:tr h="329184">
                <a:tc>
                  <a:txBody>
                    <a:bodyPr wrap="square"/>
                    <a:lstStyle/>
                    <a:p>
                      <a:pPr algn="l">
                        <a:spcAft>
                          <a:spcPts val="0"/>
                        </a:spcAft>
                      </a:pPr>
                      <a:r>
                        <a:rPr sz="1100" b="0">
                          <a:solidFill>
                            <a:srgbClr val="2B2B2B"/>
                          </a:solidFill>
                          <a:latin typeface="Calibri"/>
                        </a:rPr>
                        <a:t>precio_m2_real</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Precio real por metro cuadrado (precio_real ÷ superficie)</a:t>
                      </a:r>
                    </a:p>
                  </a:txBody>
                  <a:tcPr marL="73152" marR="73152" marT="18288" marB="18288" anchor="ctr">
                    <a:solidFill>
                      <a:srgbClr val="F2EFE6"/>
                    </a:solidFill>
                  </a:tcPr>
                </a:tc>
                <a:tc>
                  <a:txBody>
                    <a:bodyPr wrap="square"/>
                    <a:lstStyle/>
                    <a:p>
                      <a:pPr algn="l">
                        <a:spcAft>
                          <a:spcPts val="0"/>
                        </a:spcAft>
                      </a:pPr>
                      <a:r>
                        <a:rPr sz="1100" b="0">
                          <a:solidFill>
                            <a:srgbClr val="2B2B2B"/>
                          </a:solidFill>
                          <a:latin typeface="Calibri"/>
                        </a:rPr>
                        <a:t>Numérica</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199</a:t>
                      </a:r>
                    </a:p>
                  </a:txBody>
                  <a:tcPr marL="73152" marR="73152" marT="18288" marB="18288" anchor="ctr">
                    <a:solidFill>
                      <a:srgbClr val="F2EFE6"/>
                    </a:solidFill>
                  </a:tcPr>
                </a:tc>
              </a:tr>
              <a:tr h="329184">
                <a:tc>
                  <a:txBody>
                    <a:bodyPr wrap="square"/>
                    <a:lstStyle/>
                    <a:p>
                      <a:pPr algn="l">
                        <a:spcAft>
                          <a:spcPts val="0"/>
                        </a:spcAft>
                      </a:pPr>
                      <a:r>
                        <a:rPr sz="1100" b="0">
                          <a:solidFill>
                            <a:srgbClr val="2B2B2B"/>
                          </a:solidFill>
                          <a:latin typeface="Calibri"/>
                        </a:rPr>
                        <a:t>precio_relativo</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Precio de la comuna como % del promedio de la Ciudad</a:t>
                      </a:r>
                    </a:p>
                  </a:txBody>
                  <a:tcPr marL="73152" marR="73152" marT="18288" marB="18288" anchor="ctr">
                    <a:solidFill>
                      <a:srgbClr val="FFFFFF"/>
                    </a:solidFill>
                  </a:tcPr>
                </a:tc>
                <a:tc>
                  <a:txBody>
                    <a:bodyPr wrap="square"/>
                    <a:lstStyle/>
                    <a:p>
                      <a:pPr algn="l">
                        <a:spcAft>
                          <a:spcPts val="0"/>
                        </a:spcAft>
                      </a:pPr>
                      <a:r>
                        <a:rPr sz="1100" b="0">
                          <a:solidFill>
                            <a:srgbClr val="2B2B2B"/>
                          </a:solidFill>
                          <a:latin typeface="Calibri"/>
                        </a:rPr>
                        <a:t>Numérica</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199</a:t>
                      </a:r>
                    </a:p>
                  </a:txBody>
                  <a:tcPr marL="73152" marR="73152" marT="18288" marB="18288" anchor="ctr">
                    <a:solidFill>
                      <a:srgbClr val="FFFFFF"/>
                    </a:solidFill>
                  </a:tcPr>
                </a:tc>
              </a:tr>
            </a:tbl>
          </a:graphicData>
        </a:graphic>
      </p:graphicFrame>
      <p:sp>
        <p:nvSpPr>
          <p:cNvPr id="6" name="Rounded Rectangle 5"/>
          <p:cNvSpPr/>
          <p:nvPr/>
        </p:nvSpPr>
        <p:spPr>
          <a:xfrm>
            <a:off x="566928" y="5669280"/>
            <a:ext cx="11064240" cy="572262"/>
          </a:xfrm>
          <a:prstGeom prst="roundRect">
            <a:avLst>
              <a:gd name="adj" fmla="val 6000"/>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9808" y="5806440"/>
            <a:ext cx="10698480" cy="297942"/>
          </a:xfrm>
          <a:prstGeom prst="rect">
            <a:avLst/>
          </a:prstGeom>
          <a:noFill/>
        </p:spPr>
        <p:txBody>
          <a:bodyPr wrap="square" lIns="0" rIns="0" tIns="0" bIns="0" anchor="t">
            <a:spAutoFit/>
          </a:bodyPr>
          <a:lstStyle/>
          <a:p>
            <a:pPr algn="l">
              <a:lnSpc>
                <a:spcPct val="100000"/>
              </a:lnSpc>
              <a:spcBef>
                <a:spcPts val="0"/>
              </a:spcBef>
              <a:spcAft>
                <a:spcPts val="0"/>
              </a:spcAft>
            </a:pPr>
            <a:r>
              <a:rPr sz="1150" b="0" i="0">
                <a:solidFill>
                  <a:srgbClr val="2B2B2B"/>
                </a:solidFill>
                <a:latin typeface="Calibri"/>
              </a:rPr>
              <a:t>Las tres últimas son derivadas: precio_real sale de deflactar precio_corriente con el IPC, y precio_m2_real y precio_relativo se calculan a partir de los precios. Los 199 nulos (13%) son siempre los mismos: cuando no hay precio publicado, tampoco hay ninguna derivada.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3. EXPLORACIÓN</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Los datos faltantes no son aleatorios</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5</a:t>
            </a:r>
          </a:p>
        </p:txBody>
      </p:sp>
      <p:pic>
        <p:nvPicPr>
          <p:cNvPr id="5" name="Picture 4" descr="g01_faltantes_por_comuna.png"/>
          <p:cNvPicPr>
            <a:picLocks noChangeAspect="1"/>
          </p:cNvPicPr>
          <p:nvPr/>
        </p:nvPicPr>
        <p:blipFill>
          <a:blip r:embed="rId2"/>
          <a:stretch>
            <a:fillRect/>
          </a:stretch>
        </p:blipFill>
        <p:spPr>
          <a:xfrm>
            <a:off x="566928" y="1554480"/>
            <a:ext cx="6675120" cy="4450080"/>
          </a:xfrm>
          <a:prstGeom prst="rect">
            <a:avLst/>
          </a:prstGeom>
        </p:spPr>
      </p:pic>
      <p:sp>
        <p:nvSpPr>
          <p:cNvPr id="6" name="TextBox 5"/>
          <p:cNvSpPr txBox="1"/>
          <p:nvPr/>
        </p:nvSpPr>
        <p:spPr>
          <a:xfrm>
            <a:off x="7589520" y="1600200"/>
            <a:ext cx="4114800" cy="3108960"/>
          </a:xfrm>
          <a:prstGeom prst="rect">
            <a:avLst/>
          </a:prstGeom>
          <a:noFill/>
        </p:spPr>
        <p:txBody>
          <a:bodyPr wrap="square" lIns="0" rIns="0" tIns="0" bIns="0" anchor="t">
            <a:spAutoFit/>
          </a:bodyPr>
          <a:lstStyle/>
          <a:p>
            <a:pPr algn="l">
              <a:spcAft>
                <a:spcPts val="1000"/>
              </a:spcAft>
            </a:pPr>
            <a:r>
              <a:rPr sz="1350" b="1">
                <a:solidFill>
                  <a:srgbClr val="2B2B2B"/>
                </a:solidFill>
                <a:latin typeface="Calibri"/>
              </a:rPr>
              <a:t>199 de las 1.530 observaciones (13%) no tienen precio publicado</a:t>
            </a:r>
            <a:r>
              <a:rPr sz="1350" b="0">
                <a:solidFill>
                  <a:srgbClr val="2B2B2B"/>
                </a:solidFill>
                <a:latin typeface="Calibri"/>
              </a:rPr>
              <a:t>, y se concentran casi por completo en el sur de la Ciudad.</a:t>
            </a:r>
          </a:p>
          <a:p>
            <a:pPr>
              <a:lnSpc>
                <a:spcPct val="100000"/>
              </a:lnSpc>
              <a:spcBef>
                <a:spcPts val="0"/>
              </a:spcBef>
              <a:spcAft>
                <a:spcPts val="1000"/>
              </a:spcAft>
            </a:pPr>
            <a:r>
              <a:rPr sz="1350" b="0" i="0">
                <a:solidFill>
                  <a:srgbClr val="2B2B2B"/>
                </a:solidFill>
                <a:latin typeface="Calibri"/>
              </a:rPr>
              <a:t>La Comuna 8 (Villa Soldati, Lugano y Riachuelo) no tiene dato en el 97% de los trimestres. Le siguen la Comuna 9 (49%) y la Comuna 4 (33%).</a:t>
            </a:r>
          </a:p>
          <a:p>
            <a:pPr>
              <a:lnSpc>
                <a:spcPct val="100000"/>
              </a:lnSpc>
              <a:spcBef>
                <a:spcPts val="0"/>
              </a:spcBef>
              <a:spcAft>
                <a:spcPts val="0"/>
              </a:spcAft>
            </a:pPr>
            <a:r>
              <a:rPr sz="1350" b="0" i="0">
                <a:solidFill>
                  <a:srgbClr val="2B2B2B"/>
                </a:solidFill>
                <a:latin typeface="Calibri"/>
              </a:rPr>
              <a:t>La fuente solo publica las comunas que superan un mínimo de unidades ofertadas. El faltante es, entonces, información sobre el propio mercado: donde no hay oferta formal publicada, no hay dato.</a:t>
            </a:r>
          </a:p>
        </p:txBody>
      </p:sp>
      <p:graphicFrame>
        <p:nvGraphicFramePr>
          <p:cNvPr id="7" name="Table 6"/>
          <p:cNvGraphicFramePr>
            <a:graphicFrameLocks noGrp="1"/>
          </p:cNvGraphicFramePr>
          <p:nvPr/>
        </p:nvGraphicFramePr>
        <p:xfrm>
          <a:off x="7589520" y="4892040"/>
          <a:ext cx="4114800" cy="1517904"/>
        </p:xfrm>
        <a:graphic>
          <a:graphicData uri="http://schemas.openxmlformats.org/drawingml/2006/table">
            <a:tbl>
              <a:tblPr>
                <a:tableStyleId>{5C22544A-7EE6-4342-B048-85BDC9FD1C3A}</a:tableStyleId>
              </a:tblPr>
              <a:tblGrid>
                <a:gridCol w="1234440"/>
                <a:gridCol w="914400"/>
                <a:gridCol w="1051560"/>
                <a:gridCol w="914400"/>
              </a:tblGrid>
              <a:tr h="310896">
                <a:tc>
                  <a:txBody>
                    <a:bodyPr wrap="square"/>
                    <a:lstStyle/>
                    <a:p>
                      <a:pPr algn="l">
                        <a:spcAft>
                          <a:spcPts val="0"/>
                        </a:spcAft>
                      </a:pPr>
                      <a:r>
                        <a:rPr sz="1100" b="1">
                          <a:solidFill>
                            <a:srgbClr val="FFFFFF"/>
                          </a:solidFill>
                          <a:latin typeface="Calibri"/>
                        </a:rPr>
                        <a:t>Zona</a:t>
                      </a:r>
                    </a:p>
                  </a:txBody>
                  <a:tcPr marL="73152" marR="73152" marT="18288" marB="18288" anchor="ctr">
                    <a:solidFill>
                      <a:srgbClr val="B85042"/>
                    </a:solidFill>
                  </a:tcPr>
                </a:tc>
                <a:tc>
                  <a:txBody>
                    <a:bodyPr wrap="square"/>
                    <a:lstStyle/>
                    <a:p>
                      <a:pPr algn="r">
                        <a:spcAft>
                          <a:spcPts val="0"/>
                        </a:spcAft>
                      </a:pPr>
                      <a:r>
                        <a:rPr sz="1100" b="1">
                          <a:solidFill>
                            <a:srgbClr val="FFFFFF"/>
                          </a:solidFill>
                          <a:latin typeface="Calibri"/>
                        </a:rPr>
                        <a:t>Obs.</a:t>
                      </a:r>
                    </a:p>
                  </a:txBody>
                  <a:tcPr marL="73152" marR="73152" marT="18288" marB="18288" anchor="ctr">
                    <a:solidFill>
                      <a:srgbClr val="B85042"/>
                    </a:solidFill>
                  </a:tcPr>
                </a:tc>
                <a:tc>
                  <a:txBody>
                    <a:bodyPr wrap="square"/>
                    <a:lstStyle/>
                    <a:p>
                      <a:pPr algn="r">
                        <a:spcAft>
                          <a:spcPts val="0"/>
                        </a:spcAft>
                      </a:pPr>
                      <a:r>
                        <a:rPr sz="1100" b="1">
                          <a:solidFill>
                            <a:srgbClr val="FFFFFF"/>
                          </a:solidFill>
                          <a:latin typeface="Calibri"/>
                        </a:rPr>
                        <a:t>Faltantes</a:t>
                      </a:r>
                    </a:p>
                  </a:txBody>
                  <a:tcPr marL="73152" marR="73152" marT="18288" marB="18288" anchor="ctr">
                    <a:solidFill>
                      <a:srgbClr val="B85042"/>
                    </a:solidFill>
                  </a:tcPr>
                </a:tc>
                <a:tc>
                  <a:txBody>
                    <a:bodyPr wrap="square"/>
                    <a:lstStyle/>
                    <a:p>
                      <a:pPr algn="r">
                        <a:spcAft>
                          <a:spcPts val="0"/>
                        </a:spcAft>
                      </a:pPr>
                      <a:r>
                        <a:rPr sz="1100" b="1">
                          <a:solidFill>
                            <a:srgbClr val="FFFFFF"/>
                          </a:solidFill>
                          <a:latin typeface="Calibri"/>
                        </a:rPr>
                        <a:t>%</a:t>
                      </a:r>
                    </a:p>
                  </a:txBody>
                  <a:tcPr marL="73152" marR="73152" marT="18288" marB="18288" anchor="ctr">
                    <a:solidFill>
                      <a:srgbClr val="B85042"/>
                    </a:solidFill>
                  </a:tcPr>
                </a:tc>
              </a:tr>
              <a:tr h="301752">
                <a:tc>
                  <a:txBody>
                    <a:bodyPr wrap="square"/>
                    <a:lstStyle/>
                    <a:p>
                      <a:pPr algn="l">
                        <a:spcAft>
                          <a:spcPts val="0"/>
                        </a:spcAft>
                      </a:pPr>
                      <a:r>
                        <a:rPr sz="1100" b="0">
                          <a:solidFill>
                            <a:srgbClr val="2B2B2B"/>
                          </a:solidFill>
                          <a:latin typeface="Calibri"/>
                        </a:rPr>
                        <a:t>Norte</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306</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0,3</a:t>
                      </a:r>
                    </a:p>
                  </a:txBody>
                  <a:tcPr marL="73152" marR="73152" marT="18288" marB="18288" anchor="ctr">
                    <a:solidFill>
                      <a:srgbClr val="FFFFFF"/>
                    </a:solidFill>
                  </a:tcPr>
                </a:tc>
              </a:tr>
              <a:tr h="301752">
                <a:tc>
                  <a:txBody>
                    <a:bodyPr wrap="square"/>
                    <a:lstStyle/>
                    <a:p>
                      <a:pPr algn="l">
                        <a:spcAft>
                          <a:spcPts val="0"/>
                        </a:spcAft>
                      </a:pPr>
                      <a:r>
                        <a:rPr sz="1100" b="0">
                          <a:solidFill>
                            <a:srgbClr val="2B2B2B"/>
                          </a:solidFill>
                          <a:latin typeface="Calibri"/>
                        </a:rPr>
                        <a:t>Centro</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510</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1</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0,2</a:t>
                      </a:r>
                    </a:p>
                  </a:txBody>
                  <a:tcPr marL="73152" marR="73152" marT="18288" marB="18288" anchor="ctr">
                    <a:solidFill>
                      <a:srgbClr val="F2EFE6"/>
                    </a:solidFill>
                  </a:tcPr>
                </a:tc>
              </a:tr>
              <a:tr h="301752">
                <a:tc>
                  <a:txBody>
                    <a:bodyPr wrap="square"/>
                    <a:lstStyle/>
                    <a:p>
                      <a:pPr algn="l">
                        <a:spcAft>
                          <a:spcPts val="0"/>
                        </a:spcAft>
                      </a:pPr>
                      <a:r>
                        <a:rPr sz="1100" b="0">
                          <a:solidFill>
                            <a:srgbClr val="2B2B2B"/>
                          </a:solidFill>
                          <a:latin typeface="Calibri"/>
                        </a:rPr>
                        <a:t>Oeste</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306</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13</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4,2</a:t>
                      </a:r>
                    </a:p>
                  </a:txBody>
                  <a:tcPr marL="73152" marR="73152" marT="18288" marB="18288" anchor="ctr">
                    <a:solidFill>
                      <a:srgbClr val="FFFFFF"/>
                    </a:solidFill>
                  </a:tcPr>
                </a:tc>
              </a:tr>
              <a:tr h="301752">
                <a:tc>
                  <a:txBody>
                    <a:bodyPr wrap="square"/>
                    <a:lstStyle/>
                    <a:p>
                      <a:pPr algn="l">
                        <a:spcAft>
                          <a:spcPts val="0"/>
                        </a:spcAft>
                      </a:pPr>
                      <a:r>
                        <a:rPr sz="1100" b="0">
                          <a:solidFill>
                            <a:srgbClr val="2B2B2B"/>
                          </a:solidFill>
                          <a:latin typeface="Calibri"/>
                        </a:rPr>
                        <a:t>Sur</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408</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184</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45,1</a:t>
                      </a:r>
                    </a:p>
                  </a:txBody>
                  <a:tcPr marL="73152" marR="73152" marT="18288" marB="18288" anchor="ctr">
                    <a:solidFill>
                      <a:srgbClr val="F2EFE6"/>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3. EXPLORACIÓN</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Estadísticas descriptivas</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6</a:t>
            </a:r>
          </a:p>
        </p:txBody>
      </p:sp>
      <p:sp>
        <p:nvSpPr>
          <p:cNvPr id="5" name="TextBox 4"/>
          <p:cNvSpPr txBox="1"/>
          <p:nvPr/>
        </p:nvSpPr>
        <p:spPr>
          <a:xfrm>
            <a:off x="566928" y="1508760"/>
            <a:ext cx="11064240" cy="274320"/>
          </a:xfrm>
          <a:prstGeom prst="rect">
            <a:avLst/>
          </a:prstGeom>
          <a:noFill/>
        </p:spPr>
        <p:txBody>
          <a:bodyPr wrap="square" lIns="0" rIns="0" tIns="0" bIns="0" anchor="t">
            <a:spAutoFit/>
          </a:bodyPr>
          <a:lstStyle/>
          <a:p>
            <a:pPr algn="l">
              <a:spcBef>
                <a:spcPts val="0"/>
              </a:spcBef>
              <a:spcAft>
                <a:spcPts val="0"/>
              </a:spcAft>
            </a:pPr>
            <a:r>
              <a:rPr sz="1300" b="1" i="0">
                <a:solidFill>
                  <a:srgbClr val="2B2B2B"/>
                </a:solidFill>
                <a:latin typeface="Calibri"/>
              </a:rPr>
              <a:t>Precio del alquiler mensual por comuna — 2do trimestre de 2026 (en pesos)</a:t>
            </a:r>
          </a:p>
        </p:txBody>
      </p:sp>
      <p:graphicFrame>
        <p:nvGraphicFramePr>
          <p:cNvPr id="6" name="Table 5"/>
          <p:cNvGraphicFramePr>
            <a:graphicFrameLocks noGrp="1"/>
          </p:cNvGraphicFramePr>
          <p:nvPr/>
        </p:nvGraphicFramePr>
        <p:xfrm>
          <a:off x="566928" y="1874519"/>
          <a:ext cx="10378440" cy="1572768"/>
        </p:xfrm>
        <a:graphic>
          <a:graphicData uri="http://schemas.openxmlformats.org/drawingml/2006/table">
            <a:tbl>
              <a:tblPr>
                <a:tableStyleId>{5C22544A-7EE6-4342-B048-85BDC9FD1C3A}</a:tableStyleId>
              </a:tblPr>
              <a:tblGrid>
                <a:gridCol w="1600200"/>
                <a:gridCol w="594360"/>
                <a:gridCol w="1234440"/>
                <a:gridCol w="1234440"/>
                <a:gridCol w="1143000"/>
                <a:gridCol w="731520"/>
                <a:gridCol w="1234440"/>
                <a:gridCol w="1280160"/>
                <a:gridCol w="1325880"/>
              </a:tblGrid>
              <a:tr h="420624">
                <a:tc>
                  <a:txBody>
                    <a:bodyPr wrap="square"/>
                    <a:lstStyle/>
                    <a:p>
                      <a:pPr algn="l">
                        <a:spcAft>
                          <a:spcPts val="0"/>
                        </a:spcAft>
                      </a:pPr>
                      <a:r>
                        <a:rPr sz="1050" b="1">
                          <a:solidFill>
                            <a:srgbClr val="FFFFFF"/>
                          </a:solidFill>
                          <a:latin typeface="Calibri"/>
                        </a:rPr>
                        <a:t>Tipo</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n</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Media</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Mediana</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Desvío</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CV</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Mínimo</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Máximo</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Media $/m²</a:t>
                      </a:r>
                    </a:p>
                  </a:txBody>
                  <a:tcPr marL="73152" marR="73152" marT="18288" marB="18288" anchor="ctr">
                    <a:solidFill>
                      <a:srgbClr val="B85042"/>
                    </a:solidFill>
                  </a:tcPr>
                </a:tc>
              </a:tr>
              <a:tr h="384048">
                <a:tc>
                  <a:txBody>
                    <a:bodyPr wrap="square"/>
                    <a:lstStyle/>
                    <a:p>
                      <a:pPr algn="l">
                        <a:spcAft>
                          <a:spcPts val="0"/>
                        </a:spcAft>
                      </a:pPr>
                      <a:r>
                        <a:rPr sz="1100" b="0">
                          <a:solidFill>
                            <a:srgbClr val="2B2B2B"/>
                          </a:solidFill>
                          <a:latin typeface="Calibri"/>
                        </a:rPr>
                        <a:t>1 ambiente</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14</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550.857</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550.768</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40.637</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0,07</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478.861</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613.037</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18.362</a:t>
                      </a:r>
                    </a:p>
                  </a:txBody>
                  <a:tcPr marL="73152" marR="73152" marT="18288" marB="18288" anchor="ctr">
                    <a:solidFill>
                      <a:srgbClr val="FFFFFF"/>
                    </a:solidFill>
                  </a:tcPr>
                </a:tc>
              </a:tr>
              <a:tr h="384048">
                <a:tc>
                  <a:txBody>
                    <a:bodyPr wrap="square"/>
                    <a:lstStyle/>
                    <a:p>
                      <a:pPr algn="l">
                        <a:spcAft>
                          <a:spcPts val="0"/>
                        </a:spcAft>
                      </a:pPr>
                      <a:r>
                        <a:rPr sz="1100" b="0">
                          <a:solidFill>
                            <a:srgbClr val="2B2B2B"/>
                          </a:solidFill>
                          <a:latin typeface="Calibri"/>
                        </a:rPr>
                        <a:t>2 ambientes</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14</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743.316</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722.921</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62.321</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0,08</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649.494</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839.053</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17.286</a:t>
                      </a:r>
                    </a:p>
                  </a:txBody>
                  <a:tcPr marL="73152" marR="73152" marT="18288" marB="18288" anchor="ctr">
                    <a:solidFill>
                      <a:srgbClr val="F2EFE6"/>
                    </a:solidFill>
                  </a:tcPr>
                </a:tc>
              </a:tr>
              <a:tr h="384048">
                <a:tc>
                  <a:txBody>
                    <a:bodyPr wrap="square"/>
                    <a:lstStyle/>
                    <a:p>
                      <a:pPr algn="l">
                        <a:spcAft>
                          <a:spcPts val="0"/>
                        </a:spcAft>
                      </a:pPr>
                      <a:r>
                        <a:rPr sz="1100" b="0">
                          <a:solidFill>
                            <a:srgbClr val="2B2B2B"/>
                          </a:solidFill>
                          <a:latin typeface="Calibri"/>
                        </a:rPr>
                        <a:t>3 ambientes</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15</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1.131.754</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1.133.663</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147.851</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0,13</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887.518</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1.373.145</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16.168</a:t>
                      </a:r>
                    </a:p>
                  </a:txBody>
                  <a:tcPr marL="73152" marR="73152" marT="18288" marB="18288" anchor="ctr">
                    <a:solidFill>
                      <a:srgbClr val="FFFFFF"/>
                    </a:solidFill>
                  </a:tcPr>
                </a:tc>
              </a:tr>
            </a:tbl>
          </a:graphicData>
        </a:graphic>
      </p:graphicFrame>
      <p:sp>
        <p:nvSpPr>
          <p:cNvPr id="7" name="TextBox 6"/>
          <p:cNvSpPr txBox="1"/>
          <p:nvPr/>
        </p:nvSpPr>
        <p:spPr>
          <a:xfrm>
            <a:off x="566928" y="3639312"/>
            <a:ext cx="11064240" cy="274320"/>
          </a:xfrm>
          <a:prstGeom prst="rect">
            <a:avLst/>
          </a:prstGeom>
          <a:noFill/>
        </p:spPr>
        <p:txBody>
          <a:bodyPr wrap="square" lIns="0" rIns="0" tIns="0" bIns="0" anchor="t">
            <a:spAutoFit/>
          </a:bodyPr>
          <a:lstStyle/>
          <a:p>
            <a:pPr algn="l">
              <a:spcBef>
                <a:spcPts val="0"/>
              </a:spcBef>
              <a:spcAft>
                <a:spcPts val="0"/>
              </a:spcAft>
            </a:pPr>
            <a:r>
              <a:rPr sz="1000" b="0" i="1">
                <a:solidFill>
                  <a:srgbClr val="6E6E6E"/>
                </a:solidFill>
                <a:latin typeface="Calibri"/>
              </a:rPr>
              <a:t>n = comunas con dato. La Comuna 8 solo aparece en 3 ambientes; en 1 y 2 ambientes no tiene dato.</a:t>
            </a:r>
          </a:p>
        </p:txBody>
      </p:sp>
      <p:sp>
        <p:nvSpPr>
          <p:cNvPr id="8" name="Rounded Rectangle 7"/>
          <p:cNvSpPr/>
          <p:nvPr/>
        </p:nvSpPr>
        <p:spPr>
          <a:xfrm>
            <a:off x="566928" y="4069080"/>
            <a:ext cx="3520440" cy="1417320"/>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4251960"/>
            <a:ext cx="3118104" cy="1097280"/>
          </a:xfrm>
          <a:prstGeom prst="rect">
            <a:avLst/>
          </a:prstGeom>
          <a:noFill/>
        </p:spPr>
        <p:txBody>
          <a:bodyPr wrap="square" lIns="0" rIns="0" tIns="0" bIns="0" anchor="t">
            <a:spAutoFit/>
          </a:bodyPr>
          <a:lstStyle/>
          <a:p>
            <a:pPr algn="l">
              <a:spcBef>
                <a:spcPts val="0"/>
              </a:spcBef>
              <a:spcAft>
                <a:spcPts val="200"/>
              </a:spcAft>
            </a:pPr>
            <a:r>
              <a:rPr sz="3000" b="1" i="0">
                <a:solidFill>
                  <a:srgbClr val="B85042"/>
                </a:solidFill>
                <a:latin typeface="Cambria"/>
              </a:rPr>
              <a:t>−16 %</a:t>
            </a:r>
          </a:p>
          <a:p>
            <a:pPr>
              <a:lnSpc>
                <a:spcPct val="95000"/>
              </a:lnSpc>
              <a:spcBef>
                <a:spcPts val="0"/>
              </a:spcBef>
              <a:spcAft>
                <a:spcPts val="0"/>
              </a:spcAft>
            </a:pPr>
            <a:r>
              <a:rPr sz="1150" b="0" i="0">
                <a:solidFill>
                  <a:srgbClr val="2B2B2B"/>
                </a:solidFill>
                <a:latin typeface="Calibri"/>
              </a:rPr>
              <a:t>variación real del alquiler de un 2 amb.
entre 2018-T1 y 2026-T2 (nominal: ×74)</a:t>
            </a:r>
          </a:p>
        </p:txBody>
      </p:sp>
      <p:sp>
        <p:nvSpPr>
          <p:cNvPr id="10" name="Rounded Rectangle 9"/>
          <p:cNvSpPr/>
          <p:nvPr/>
        </p:nvSpPr>
        <p:spPr>
          <a:xfrm>
            <a:off x="4325112" y="4069080"/>
            <a:ext cx="3520440" cy="1417320"/>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26280" y="4224528"/>
            <a:ext cx="3118104" cy="237744"/>
          </a:xfrm>
          <a:prstGeom prst="rect">
            <a:avLst/>
          </a:prstGeom>
          <a:noFill/>
        </p:spPr>
        <p:txBody>
          <a:bodyPr wrap="square" lIns="0" rIns="0" tIns="0" bIns="0" anchor="t">
            <a:spAutoFit/>
          </a:bodyPr>
          <a:lstStyle/>
          <a:p>
            <a:pPr algn="l">
              <a:spcBef>
                <a:spcPts val="0"/>
              </a:spcBef>
              <a:spcAft>
                <a:spcPts val="0"/>
              </a:spcAft>
            </a:pPr>
            <a:r>
              <a:rPr sz="1250" b="1" i="0">
                <a:solidFill>
                  <a:srgbClr val="B85042"/>
                </a:solidFill>
                <a:latin typeface="Cambria"/>
              </a:rPr>
              <a:t>Alquiler promedio · 2026-T2</a:t>
            </a:r>
          </a:p>
        </p:txBody>
      </p:sp>
      <p:sp>
        <p:nvSpPr>
          <p:cNvPr id="12" name="TextBox 11"/>
          <p:cNvSpPr txBox="1"/>
          <p:nvPr/>
        </p:nvSpPr>
        <p:spPr>
          <a:xfrm>
            <a:off x="4526280" y="4553712"/>
            <a:ext cx="1371600" cy="237744"/>
          </a:xfrm>
          <a:prstGeom prst="rect">
            <a:avLst/>
          </a:prstGeom>
          <a:noFill/>
        </p:spPr>
        <p:txBody>
          <a:bodyPr wrap="square" lIns="0" rIns="0" tIns="0" bIns="0" anchor="t">
            <a:spAutoFit/>
          </a:bodyPr>
          <a:lstStyle/>
          <a:p>
            <a:pPr algn="l">
              <a:spcBef>
                <a:spcPts val="0"/>
              </a:spcBef>
              <a:spcAft>
                <a:spcPts val="0"/>
              </a:spcAft>
            </a:pPr>
            <a:r>
              <a:rPr sz="1200" b="0" i="0">
                <a:solidFill>
                  <a:srgbClr val="2B2B2B"/>
                </a:solidFill>
                <a:latin typeface="Calibri"/>
              </a:rPr>
              <a:t>1 ambiente</a:t>
            </a:r>
          </a:p>
        </p:txBody>
      </p:sp>
      <p:sp>
        <p:nvSpPr>
          <p:cNvPr id="13" name="TextBox 12"/>
          <p:cNvSpPr txBox="1"/>
          <p:nvPr/>
        </p:nvSpPr>
        <p:spPr>
          <a:xfrm>
            <a:off x="5806440" y="4553712"/>
            <a:ext cx="1837943" cy="237744"/>
          </a:xfrm>
          <a:prstGeom prst="rect">
            <a:avLst/>
          </a:prstGeom>
          <a:noFill/>
        </p:spPr>
        <p:txBody>
          <a:bodyPr wrap="square" lIns="0" rIns="0" tIns="0" bIns="0" anchor="t">
            <a:spAutoFit/>
          </a:bodyPr>
          <a:lstStyle/>
          <a:p>
            <a:pPr algn="r">
              <a:spcBef>
                <a:spcPts val="0"/>
              </a:spcBef>
              <a:spcAft>
                <a:spcPts val="0"/>
              </a:spcAft>
            </a:pPr>
            <a:r>
              <a:rPr sz="1250" b="1" i="0">
                <a:solidFill>
                  <a:srgbClr val="2B2B2B"/>
                </a:solidFill>
                <a:latin typeface="Calibri"/>
              </a:rPr>
              <a:t>$ 550.857</a:t>
            </a:r>
          </a:p>
        </p:txBody>
      </p:sp>
      <p:sp>
        <p:nvSpPr>
          <p:cNvPr id="14" name="TextBox 13"/>
          <p:cNvSpPr txBox="1"/>
          <p:nvPr/>
        </p:nvSpPr>
        <p:spPr>
          <a:xfrm>
            <a:off x="4526280" y="4818888"/>
            <a:ext cx="1371600" cy="237744"/>
          </a:xfrm>
          <a:prstGeom prst="rect">
            <a:avLst/>
          </a:prstGeom>
          <a:noFill/>
        </p:spPr>
        <p:txBody>
          <a:bodyPr wrap="square" lIns="0" rIns="0" tIns="0" bIns="0" anchor="t">
            <a:spAutoFit/>
          </a:bodyPr>
          <a:lstStyle/>
          <a:p>
            <a:pPr algn="l">
              <a:spcBef>
                <a:spcPts val="0"/>
              </a:spcBef>
              <a:spcAft>
                <a:spcPts val="0"/>
              </a:spcAft>
            </a:pPr>
            <a:r>
              <a:rPr sz="1200" b="0" i="0">
                <a:solidFill>
                  <a:srgbClr val="2B2B2B"/>
                </a:solidFill>
                <a:latin typeface="Calibri"/>
              </a:rPr>
              <a:t>2 ambientes</a:t>
            </a:r>
          </a:p>
        </p:txBody>
      </p:sp>
      <p:sp>
        <p:nvSpPr>
          <p:cNvPr id="15" name="TextBox 14"/>
          <p:cNvSpPr txBox="1"/>
          <p:nvPr/>
        </p:nvSpPr>
        <p:spPr>
          <a:xfrm>
            <a:off x="5806440" y="4818888"/>
            <a:ext cx="1837943" cy="237744"/>
          </a:xfrm>
          <a:prstGeom prst="rect">
            <a:avLst/>
          </a:prstGeom>
          <a:noFill/>
        </p:spPr>
        <p:txBody>
          <a:bodyPr wrap="square" lIns="0" rIns="0" tIns="0" bIns="0" anchor="t">
            <a:spAutoFit/>
          </a:bodyPr>
          <a:lstStyle/>
          <a:p>
            <a:pPr algn="r">
              <a:spcBef>
                <a:spcPts val="0"/>
              </a:spcBef>
              <a:spcAft>
                <a:spcPts val="0"/>
              </a:spcAft>
            </a:pPr>
            <a:r>
              <a:rPr sz="1250" b="1" i="0">
                <a:solidFill>
                  <a:srgbClr val="2B2B2B"/>
                </a:solidFill>
                <a:latin typeface="Calibri"/>
              </a:rPr>
              <a:t>$ 743.316</a:t>
            </a:r>
          </a:p>
        </p:txBody>
      </p:sp>
      <p:sp>
        <p:nvSpPr>
          <p:cNvPr id="16" name="TextBox 15"/>
          <p:cNvSpPr txBox="1"/>
          <p:nvPr/>
        </p:nvSpPr>
        <p:spPr>
          <a:xfrm>
            <a:off x="4526280" y="5084064"/>
            <a:ext cx="1371600" cy="237744"/>
          </a:xfrm>
          <a:prstGeom prst="rect">
            <a:avLst/>
          </a:prstGeom>
          <a:noFill/>
        </p:spPr>
        <p:txBody>
          <a:bodyPr wrap="square" lIns="0" rIns="0" tIns="0" bIns="0" anchor="t">
            <a:spAutoFit/>
          </a:bodyPr>
          <a:lstStyle/>
          <a:p>
            <a:pPr algn="l">
              <a:spcBef>
                <a:spcPts val="0"/>
              </a:spcBef>
              <a:spcAft>
                <a:spcPts val="0"/>
              </a:spcAft>
            </a:pPr>
            <a:r>
              <a:rPr sz="1200" b="0" i="0">
                <a:solidFill>
                  <a:srgbClr val="2B2B2B"/>
                </a:solidFill>
                <a:latin typeface="Calibri"/>
              </a:rPr>
              <a:t>3 ambientes</a:t>
            </a:r>
          </a:p>
        </p:txBody>
      </p:sp>
      <p:sp>
        <p:nvSpPr>
          <p:cNvPr id="17" name="TextBox 16"/>
          <p:cNvSpPr txBox="1"/>
          <p:nvPr/>
        </p:nvSpPr>
        <p:spPr>
          <a:xfrm>
            <a:off x="5806440" y="5084064"/>
            <a:ext cx="1837943" cy="237744"/>
          </a:xfrm>
          <a:prstGeom prst="rect">
            <a:avLst/>
          </a:prstGeom>
          <a:noFill/>
        </p:spPr>
        <p:txBody>
          <a:bodyPr wrap="square" lIns="0" rIns="0" tIns="0" bIns="0" anchor="t">
            <a:spAutoFit/>
          </a:bodyPr>
          <a:lstStyle/>
          <a:p>
            <a:pPr algn="r">
              <a:spcBef>
                <a:spcPts val="0"/>
              </a:spcBef>
              <a:spcAft>
                <a:spcPts val="0"/>
              </a:spcAft>
            </a:pPr>
            <a:r>
              <a:rPr sz="1250" b="1" i="0">
                <a:solidFill>
                  <a:srgbClr val="2B2B2B"/>
                </a:solidFill>
                <a:latin typeface="Calibri"/>
              </a:rPr>
              <a:t>$ 1.131.754</a:t>
            </a:r>
          </a:p>
        </p:txBody>
      </p:sp>
      <p:sp>
        <p:nvSpPr>
          <p:cNvPr id="18" name="Rounded Rectangle 17"/>
          <p:cNvSpPr/>
          <p:nvPr/>
        </p:nvSpPr>
        <p:spPr>
          <a:xfrm>
            <a:off x="8083296" y="4069080"/>
            <a:ext cx="3547872" cy="1417320"/>
          </a:xfrm>
          <a:prstGeom prst="roundRect">
            <a:avLst>
              <a:gd name="adj" fmla="val 6000"/>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84464" y="4251960"/>
            <a:ext cx="3145536" cy="1097280"/>
          </a:xfrm>
          <a:prstGeom prst="rect">
            <a:avLst/>
          </a:prstGeom>
          <a:noFill/>
        </p:spPr>
        <p:txBody>
          <a:bodyPr wrap="square" lIns="0" rIns="0" tIns="0" bIns="0" anchor="t">
            <a:spAutoFit/>
          </a:bodyPr>
          <a:lstStyle/>
          <a:p>
            <a:pPr algn="l">
              <a:spcBef>
                <a:spcPts val="0"/>
              </a:spcBef>
              <a:spcAft>
                <a:spcPts val="200"/>
              </a:spcAft>
            </a:pPr>
            <a:r>
              <a:rPr sz="3000" b="1" i="0">
                <a:solidFill>
                  <a:srgbClr val="B85042"/>
                </a:solidFill>
                <a:latin typeface="Cambria"/>
              </a:rPr>
              <a:t>0,07 – 0,13</a:t>
            </a:r>
          </a:p>
          <a:p>
            <a:pPr>
              <a:lnSpc>
                <a:spcPct val="95000"/>
              </a:lnSpc>
              <a:spcBef>
                <a:spcPts val="0"/>
              </a:spcBef>
              <a:spcAft>
                <a:spcPts val="0"/>
              </a:spcAft>
            </a:pPr>
            <a:r>
              <a:rPr sz="1150" b="0" i="0">
                <a:solidFill>
                  <a:srgbClr val="2B2B2B"/>
                </a:solidFill>
                <a:latin typeface="Calibri"/>
              </a:rPr>
              <a:t>coeficiente de variación entre comunas
dentro de un mismo trimestre</a:t>
            </a:r>
          </a:p>
        </p:txBody>
      </p:sp>
      <p:sp>
        <p:nvSpPr>
          <p:cNvPr id="20" name="Rounded Rectangle 19"/>
          <p:cNvSpPr/>
          <p:nvPr/>
        </p:nvSpPr>
        <p:spPr>
          <a:xfrm>
            <a:off x="566928" y="5669280"/>
            <a:ext cx="11064240" cy="572262"/>
          </a:xfrm>
          <a:prstGeom prst="roundRect">
            <a:avLst>
              <a:gd name="adj" fmla="val 6000"/>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9808" y="5806440"/>
            <a:ext cx="10698480" cy="297942"/>
          </a:xfrm>
          <a:prstGeom prst="rect">
            <a:avLst/>
          </a:prstGeom>
          <a:noFill/>
        </p:spPr>
        <p:txBody>
          <a:bodyPr wrap="square" lIns="0" rIns="0" tIns="0" bIns="0" anchor="t">
            <a:spAutoFit/>
          </a:bodyPr>
          <a:lstStyle/>
          <a:p>
            <a:pPr algn="l">
              <a:lnSpc>
                <a:spcPct val="100000"/>
              </a:lnSpc>
              <a:spcBef>
                <a:spcPts val="0"/>
              </a:spcBef>
              <a:spcAft>
                <a:spcPts val="0"/>
              </a:spcAft>
            </a:pPr>
            <a:r>
              <a:rPr sz="1150" b="0" i="0">
                <a:solidFill>
                  <a:srgbClr val="2B2B2B"/>
                </a:solidFill>
                <a:latin typeface="Calibri"/>
              </a:rPr>
              <a:t>2026-T2 es el trimestre base de la deflactación: en él, precio corriente y precio real coinciden. Sobre la serie completa, en pesos corrientes la media es 3,83 veces la mediana; en pesos constantes, 1,11 veces. Casi toda la asimetría era inflación.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3. EXPLORACIÓN</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Estadísticas descriptivas por comuna</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7</a:t>
            </a:r>
          </a:p>
        </p:txBody>
      </p:sp>
      <p:sp>
        <p:nvSpPr>
          <p:cNvPr id="5" name="TextBox 4"/>
          <p:cNvSpPr txBox="1"/>
          <p:nvPr/>
        </p:nvSpPr>
        <p:spPr>
          <a:xfrm>
            <a:off x="566928" y="1499616"/>
            <a:ext cx="11064240" cy="329184"/>
          </a:xfrm>
          <a:prstGeom prst="rect">
            <a:avLst/>
          </a:prstGeom>
          <a:noFill/>
        </p:spPr>
        <p:txBody>
          <a:bodyPr wrap="square" lIns="0" rIns="0" tIns="0" bIns="0" anchor="t">
            <a:spAutoFit/>
          </a:bodyPr>
          <a:lstStyle/>
          <a:p>
            <a:pPr algn="l">
              <a:spcBef>
                <a:spcPts val="0"/>
              </a:spcBef>
              <a:spcAft>
                <a:spcPts val="0"/>
              </a:spcAft>
            </a:pPr>
            <a:r>
              <a:rPr sz="1200" b="1" i="0">
                <a:solidFill>
                  <a:srgbClr val="2B2B2B"/>
                </a:solidFill>
                <a:latin typeface="Calibri"/>
              </a:rPr>
              <a:t>Precio relativo de cada comuna respecto del promedio de la Ciudad (Ciudad = 100), 2018-2026</a:t>
            </a:r>
          </a:p>
        </p:txBody>
      </p:sp>
      <p:graphicFrame>
        <p:nvGraphicFramePr>
          <p:cNvPr id="6" name="Table 5"/>
          <p:cNvGraphicFramePr>
            <a:graphicFrameLocks noGrp="1"/>
          </p:cNvGraphicFramePr>
          <p:nvPr/>
        </p:nvGraphicFramePr>
        <p:xfrm>
          <a:off x="566928" y="1883664"/>
          <a:ext cx="11064240" cy="4050792"/>
        </p:xfrm>
        <a:graphic>
          <a:graphicData uri="http://schemas.openxmlformats.org/drawingml/2006/table">
            <a:tbl>
              <a:tblPr>
                <a:tableStyleId>{5C22544A-7EE6-4342-B048-85BDC9FD1C3A}</a:tableStyleId>
              </a:tblPr>
              <a:tblGrid>
                <a:gridCol w="1097280"/>
                <a:gridCol w="1234440"/>
                <a:gridCol w="960120"/>
                <a:gridCol w="960120"/>
                <a:gridCol w="1005840"/>
                <a:gridCol w="1143000"/>
                <a:gridCol w="1051560"/>
                <a:gridCol w="914400"/>
                <a:gridCol w="914400"/>
                <a:gridCol w="1783080"/>
              </a:tblGrid>
              <a:tr h="347472">
                <a:tc>
                  <a:txBody>
                    <a:bodyPr wrap="square"/>
                    <a:lstStyle/>
                    <a:p>
                      <a:pPr algn="l">
                        <a:spcAft>
                          <a:spcPts val="0"/>
                        </a:spcAft>
                      </a:pPr>
                      <a:r>
                        <a:rPr sz="1000" b="1">
                          <a:solidFill>
                            <a:srgbClr val="FFFFFF"/>
                          </a:solidFill>
                          <a:latin typeface="Calibri"/>
                        </a:rPr>
                        <a:t>Comuna</a:t>
                      </a:r>
                    </a:p>
                  </a:txBody>
                  <a:tcPr marL="73152" marR="73152" marT="18288" marB="18288" anchor="ctr">
                    <a:solidFill>
                      <a:srgbClr val="B85042"/>
                    </a:solidFill>
                  </a:tcPr>
                </a:tc>
                <a:tc>
                  <a:txBody>
                    <a:bodyPr wrap="square"/>
                    <a:lstStyle/>
                    <a:p>
                      <a:pPr algn="l">
                        <a:spcAft>
                          <a:spcPts val="0"/>
                        </a:spcAft>
                      </a:pPr>
                      <a:r>
                        <a:rPr sz="1000" b="1">
                          <a:solidFill>
                            <a:srgbClr val="FFFFFF"/>
                          </a:solidFill>
                          <a:latin typeface="Calibri"/>
                        </a:rPr>
                        <a:t>Zona</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Obs.</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Nulos</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Media</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Mediana</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Desvío</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Mín</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Máx</a:t>
                      </a:r>
                    </a:p>
                  </a:txBody>
                  <a:tcPr marL="73152" marR="73152" marT="18288" marB="18288" anchor="ctr">
                    <a:solidFill>
                      <a:srgbClr val="B85042"/>
                    </a:solidFill>
                  </a:tcPr>
                </a:tc>
                <a:tc>
                  <a:txBody>
                    <a:bodyPr wrap="square"/>
                    <a:lstStyle/>
                    <a:p>
                      <a:pPr algn="r">
                        <a:spcAft>
                          <a:spcPts val="0"/>
                        </a:spcAft>
                      </a:pPr>
                      <a:r>
                        <a:rPr sz="1000" b="1">
                          <a:solidFill>
                            <a:srgbClr val="FFFFFF"/>
                          </a:solidFill>
                          <a:latin typeface="Calibri"/>
                        </a:rPr>
                        <a:t>2 amb. 2026-T2</a:t>
                      </a:r>
                    </a:p>
                  </a:txBody>
                  <a:tcPr marL="73152" marR="73152" marT="18288" marB="18288" anchor="ctr">
                    <a:solidFill>
                      <a:srgbClr val="B85042"/>
                    </a:solidFill>
                  </a:tcPr>
                </a:tc>
              </a:tr>
              <a:tr h="246888">
                <a:tc>
                  <a:txBody>
                    <a:bodyPr wrap="square"/>
                    <a:lstStyle/>
                    <a:p>
                      <a:pPr algn="l">
                        <a:spcAft>
                          <a:spcPts val="0"/>
                        </a:spcAft>
                      </a:pPr>
                      <a:r>
                        <a:rPr sz="1050" b="0">
                          <a:solidFill>
                            <a:srgbClr val="2B2B2B"/>
                          </a:solidFill>
                          <a:latin typeface="Calibri"/>
                        </a:rPr>
                        <a:t>14</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Norte</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114,2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113,2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6,0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106,7</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142,1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$ 839.053</a:t>
                      </a:r>
                    </a:p>
                  </a:txBody>
                  <a:tcPr marL="73152" marR="73152" marT="18288" marB="18288" anchor="ctr">
                    <a:solidFill>
                      <a:srgbClr val="FFFFFF"/>
                    </a:solidFill>
                  </a:tcPr>
                </a:tc>
              </a:tr>
              <a:tr h="246888">
                <a:tc>
                  <a:txBody>
                    <a:bodyPr wrap="square"/>
                    <a:lstStyle/>
                    <a:p>
                      <a:pPr algn="l">
                        <a:spcAft>
                          <a:spcPts val="0"/>
                        </a:spcAft>
                      </a:pPr>
                      <a:r>
                        <a:rPr sz="1050" b="0">
                          <a:solidFill>
                            <a:srgbClr val="2B2B2B"/>
                          </a:solidFill>
                          <a:latin typeface="Calibri"/>
                        </a:rPr>
                        <a:t>13</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Norte</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110,5</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109,4</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5,0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103,4</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134,8</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$ 833.491</a:t>
                      </a:r>
                    </a:p>
                  </a:txBody>
                  <a:tcPr marL="73152" marR="73152" marT="18288" marB="18288" anchor="ctr">
                    <a:solidFill>
                      <a:srgbClr val="F2EFE6"/>
                    </a:solidFill>
                  </a:tcPr>
                </a:tc>
              </a:tr>
              <a:tr h="246888">
                <a:tc>
                  <a:txBody>
                    <a:bodyPr wrap="square"/>
                    <a:lstStyle/>
                    <a:p>
                      <a:pPr algn="l">
                        <a:spcAft>
                          <a:spcPts val="0"/>
                        </a:spcAft>
                      </a:pPr>
                      <a:r>
                        <a:rPr sz="1050" b="0">
                          <a:solidFill>
                            <a:srgbClr val="2B2B2B"/>
                          </a:solidFill>
                          <a:latin typeface="Calibri"/>
                        </a:rPr>
                        <a:t>2</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Norte</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106,8</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105,7</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6,4</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96,3</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129,8</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$ 800.626</a:t>
                      </a:r>
                    </a:p>
                  </a:txBody>
                  <a:tcPr marL="73152" marR="73152" marT="18288" marB="18288" anchor="ctr">
                    <a:solidFill>
                      <a:srgbClr val="FFFFFF"/>
                    </a:solidFill>
                  </a:tcPr>
                </a:tc>
              </a:tr>
              <a:tr h="246888">
                <a:tc>
                  <a:txBody>
                    <a:bodyPr wrap="square"/>
                    <a:lstStyle/>
                    <a:p>
                      <a:pPr algn="l">
                        <a:spcAft>
                          <a:spcPts val="0"/>
                        </a:spcAft>
                      </a:pPr>
                      <a:r>
                        <a:rPr sz="1050" b="0">
                          <a:solidFill>
                            <a:srgbClr val="2B2B2B"/>
                          </a:solidFill>
                          <a:latin typeface="Calibri"/>
                        </a:rPr>
                        <a:t>12</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Oeste</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105,9</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105,2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6,4</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94,5</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123,2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$ 810.740</a:t>
                      </a:r>
                    </a:p>
                  </a:txBody>
                  <a:tcPr marL="73152" marR="73152" marT="18288" marB="18288" anchor="ctr">
                    <a:solidFill>
                      <a:srgbClr val="F2EFE6"/>
                    </a:solidFill>
                  </a:tcPr>
                </a:tc>
              </a:tr>
              <a:tr h="246888">
                <a:tc>
                  <a:txBody>
                    <a:bodyPr wrap="square"/>
                    <a:lstStyle/>
                    <a:p>
                      <a:pPr algn="l">
                        <a:spcAft>
                          <a:spcPts val="0"/>
                        </a:spcAft>
                      </a:pPr>
                      <a:r>
                        <a:rPr sz="1050" b="0">
                          <a:solidFill>
                            <a:srgbClr val="2B2B2B"/>
                          </a:solidFill>
                          <a:latin typeface="Calibri"/>
                        </a:rPr>
                        <a:t>15</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Centro</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101,8</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101,5</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4,1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93,9</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116,7</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$ 791.520</a:t>
                      </a:r>
                    </a:p>
                  </a:txBody>
                  <a:tcPr marL="73152" marR="73152" marT="18288" marB="18288" anchor="ctr">
                    <a:solidFill>
                      <a:srgbClr val="FFFFFF"/>
                    </a:solidFill>
                  </a:tcPr>
                </a:tc>
              </a:tr>
              <a:tr h="246888">
                <a:tc>
                  <a:txBody>
                    <a:bodyPr wrap="square"/>
                    <a:lstStyle/>
                    <a:p>
                      <a:pPr algn="l">
                        <a:spcAft>
                          <a:spcPts val="0"/>
                        </a:spcAft>
                      </a:pPr>
                      <a:r>
                        <a:rPr sz="1050" b="0">
                          <a:solidFill>
                            <a:srgbClr val="2B2B2B"/>
                          </a:solidFill>
                          <a:latin typeface="Calibri"/>
                        </a:rPr>
                        <a:t>6</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Centro</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98,7</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98,8</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3,6</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91,0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111,5</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$ 767.392</a:t>
                      </a:r>
                    </a:p>
                  </a:txBody>
                  <a:tcPr marL="73152" marR="73152" marT="18288" marB="18288" anchor="ctr">
                    <a:solidFill>
                      <a:srgbClr val="F2EFE6"/>
                    </a:solidFill>
                  </a:tcPr>
                </a:tc>
              </a:tr>
              <a:tr h="246888">
                <a:tc>
                  <a:txBody>
                    <a:bodyPr wrap="square"/>
                    <a:lstStyle/>
                    <a:p>
                      <a:pPr algn="l">
                        <a:spcAft>
                          <a:spcPts val="0"/>
                        </a:spcAft>
                      </a:pPr>
                      <a:r>
                        <a:rPr sz="1050" b="0">
                          <a:solidFill>
                            <a:srgbClr val="2B2B2B"/>
                          </a:solidFill>
                          <a:latin typeface="Calibri"/>
                        </a:rPr>
                        <a:t>5</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Centro</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97,6</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97,2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4,1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85,7</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120,3</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$ 728.541</a:t>
                      </a:r>
                    </a:p>
                  </a:txBody>
                  <a:tcPr marL="73152" marR="73152" marT="18288" marB="18288" anchor="ctr">
                    <a:solidFill>
                      <a:srgbClr val="FFFFFF"/>
                    </a:solidFill>
                  </a:tcPr>
                </a:tc>
              </a:tr>
              <a:tr h="246888">
                <a:tc>
                  <a:txBody>
                    <a:bodyPr wrap="square"/>
                    <a:lstStyle/>
                    <a:p>
                      <a:pPr algn="l">
                        <a:spcAft>
                          <a:spcPts val="0"/>
                        </a:spcAft>
                      </a:pPr>
                      <a:r>
                        <a:rPr sz="1050" b="0">
                          <a:solidFill>
                            <a:srgbClr val="2B2B2B"/>
                          </a:solidFill>
                          <a:latin typeface="Calibri"/>
                        </a:rPr>
                        <a:t>1</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Centro</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94,7</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92,9</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6,2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82,4</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111,9</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$ 702.922</a:t>
                      </a:r>
                    </a:p>
                  </a:txBody>
                  <a:tcPr marL="73152" marR="73152" marT="18288" marB="18288" anchor="ctr">
                    <a:solidFill>
                      <a:srgbClr val="F2EFE6"/>
                    </a:solidFill>
                  </a:tcPr>
                </a:tc>
              </a:tr>
              <a:tr h="246888">
                <a:tc>
                  <a:txBody>
                    <a:bodyPr wrap="square"/>
                    <a:lstStyle/>
                    <a:p>
                      <a:pPr algn="l">
                        <a:spcAft>
                          <a:spcPts val="0"/>
                        </a:spcAft>
                      </a:pPr>
                      <a:r>
                        <a:rPr sz="1050" b="0">
                          <a:solidFill>
                            <a:srgbClr val="2B2B2B"/>
                          </a:solidFill>
                          <a:latin typeface="Calibri"/>
                        </a:rPr>
                        <a:t>11</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Oeste</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94,6</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94,4</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4,8</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84,9</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105,8</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$ 717.302</a:t>
                      </a:r>
                    </a:p>
                  </a:txBody>
                  <a:tcPr marL="73152" marR="73152" marT="18288" marB="18288" anchor="ctr">
                    <a:solidFill>
                      <a:srgbClr val="FFFFFF"/>
                    </a:solidFill>
                  </a:tcPr>
                </a:tc>
              </a:tr>
              <a:tr h="246888">
                <a:tc>
                  <a:txBody>
                    <a:bodyPr wrap="square"/>
                    <a:lstStyle/>
                    <a:p>
                      <a:pPr algn="l">
                        <a:spcAft>
                          <a:spcPts val="0"/>
                        </a:spcAft>
                      </a:pPr>
                      <a:r>
                        <a:rPr sz="1050" b="0">
                          <a:solidFill>
                            <a:srgbClr val="2B2B2B"/>
                          </a:solidFill>
                          <a:latin typeface="Calibri"/>
                        </a:rPr>
                        <a:t>7</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Sur</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91,0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90,7</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4,3</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77,3</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107,4</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$ 684.567</a:t>
                      </a:r>
                    </a:p>
                  </a:txBody>
                  <a:tcPr marL="73152" marR="73152" marT="18288" marB="18288" anchor="ctr">
                    <a:solidFill>
                      <a:srgbClr val="F2EFE6"/>
                    </a:solidFill>
                  </a:tcPr>
                </a:tc>
              </a:tr>
              <a:tr h="246888">
                <a:tc>
                  <a:txBody>
                    <a:bodyPr wrap="square"/>
                    <a:lstStyle/>
                    <a:p>
                      <a:pPr algn="l">
                        <a:spcAft>
                          <a:spcPts val="0"/>
                        </a:spcAft>
                      </a:pPr>
                      <a:r>
                        <a:rPr sz="1050" b="0">
                          <a:solidFill>
                            <a:srgbClr val="2B2B2B"/>
                          </a:solidFill>
                          <a:latin typeface="Calibri"/>
                        </a:rPr>
                        <a:t>3</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Centro</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89,6</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89,2</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4,0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82,4</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104,5</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$ 681.859</a:t>
                      </a:r>
                    </a:p>
                  </a:txBody>
                  <a:tcPr marL="73152" marR="73152" marT="18288" marB="18288" anchor="ctr">
                    <a:solidFill>
                      <a:srgbClr val="FFFFFF"/>
                    </a:solidFill>
                  </a:tcPr>
                </a:tc>
              </a:tr>
              <a:tr h="246888">
                <a:tc>
                  <a:txBody>
                    <a:bodyPr wrap="square"/>
                    <a:lstStyle/>
                    <a:p>
                      <a:pPr algn="l">
                        <a:spcAft>
                          <a:spcPts val="0"/>
                        </a:spcAft>
                      </a:pPr>
                      <a:r>
                        <a:rPr sz="1050" b="0">
                          <a:solidFill>
                            <a:srgbClr val="2B2B2B"/>
                          </a:solidFill>
                          <a:latin typeface="Calibri"/>
                        </a:rPr>
                        <a:t>10</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Oeste</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88,4</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88,8</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5,6</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74,1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105,3</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$ 704.743</a:t>
                      </a:r>
                    </a:p>
                  </a:txBody>
                  <a:tcPr marL="73152" marR="73152" marT="18288" marB="18288" anchor="ctr">
                    <a:solidFill>
                      <a:srgbClr val="F2EFE6"/>
                    </a:solidFill>
                  </a:tcPr>
                </a:tc>
              </a:tr>
              <a:tr h="246888">
                <a:tc>
                  <a:txBody>
                    <a:bodyPr wrap="square"/>
                    <a:lstStyle/>
                    <a:p>
                      <a:pPr algn="l">
                        <a:spcAft>
                          <a:spcPts val="0"/>
                        </a:spcAft>
                      </a:pPr>
                      <a:r>
                        <a:rPr sz="1050" b="0">
                          <a:solidFill>
                            <a:srgbClr val="2B2B2B"/>
                          </a:solidFill>
                          <a:latin typeface="Calibri"/>
                        </a:rPr>
                        <a:t>4</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Sur</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68</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34</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85,1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84,9</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4,4</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72,1</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95,6</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$ 649.494</a:t>
                      </a:r>
                    </a:p>
                  </a:txBody>
                  <a:tcPr marL="73152" marR="73152" marT="18288" marB="18288" anchor="ctr">
                    <a:solidFill>
                      <a:srgbClr val="FFFFFF"/>
                    </a:solidFill>
                  </a:tcPr>
                </a:tc>
              </a:tr>
              <a:tr h="246888">
                <a:tc>
                  <a:txBody>
                    <a:bodyPr wrap="square"/>
                    <a:lstStyle/>
                    <a:p>
                      <a:pPr algn="l">
                        <a:spcAft>
                          <a:spcPts val="0"/>
                        </a:spcAft>
                      </a:pPr>
                      <a:r>
                        <a:rPr sz="1050" b="0">
                          <a:solidFill>
                            <a:srgbClr val="2B2B2B"/>
                          </a:solidFill>
                          <a:latin typeface="Calibri"/>
                        </a:rPr>
                        <a:t>9</a:t>
                      </a:r>
                    </a:p>
                  </a:txBody>
                  <a:tcPr marL="73152" marR="73152" marT="18288" marB="18288" anchor="ctr">
                    <a:solidFill>
                      <a:srgbClr val="F2EFE6"/>
                    </a:solidFill>
                  </a:tcPr>
                </a:tc>
                <a:tc>
                  <a:txBody>
                    <a:bodyPr wrap="square"/>
                    <a:lstStyle/>
                    <a:p>
                      <a:pPr algn="l">
                        <a:spcAft>
                          <a:spcPts val="0"/>
                        </a:spcAft>
                      </a:pPr>
                      <a:r>
                        <a:rPr sz="1050" b="0">
                          <a:solidFill>
                            <a:srgbClr val="2B2B2B"/>
                          </a:solidFill>
                          <a:latin typeface="Calibri"/>
                        </a:rPr>
                        <a:t>Sur</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52</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50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84,1</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84,0</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5,9</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74,3</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98,5</a:t>
                      </a:r>
                    </a:p>
                  </a:txBody>
                  <a:tcPr marL="73152" marR="73152" marT="18288" marB="18288" anchor="ctr">
                    <a:solidFill>
                      <a:srgbClr val="F2EFE6"/>
                    </a:solidFill>
                  </a:tcPr>
                </a:tc>
                <a:tc>
                  <a:txBody>
                    <a:bodyPr wrap="square"/>
                    <a:lstStyle/>
                    <a:p>
                      <a:pPr algn="r">
                        <a:spcAft>
                          <a:spcPts val="0"/>
                        </a:spcAft>
                      </a:pPr>
                      <a:r>
                        <a:rPr sz="1050" b="0">
                          <a:solidFill>
                            <a:srgbClr val="2B2B2B"/>
                          </a:solidFill>
                          <a:latin typeface="Calibri"/>
                        </a:rPr>
                        <a:t>$ 694.176</a:t>
                      </a:r>
                    </a:p>
                  </a:txBody>
                  <a:tcPr marL="73152" marR="73152" marT="18288" marB="18288" anchor="ctr">
                    <a:solidFill>
                      <a:srgbClr val="F2EFE6"/>
                    </a:solidFill>
                  </a:tcPr>
                </a:tc>
              </a:tr>
              <a:tr h="246888">
                <a:tc>
                  <a:txBody>
                    <a:bodyPr wrap="square"/>
                    <a:lstStyle/>
                    <a:p>
                      <a:pPr algn="l">
                        <a:spcAft>
                          <a:spcPts val="0"/>
                        </a:spcAft>
                      </a:pPr>
                      <a:r>
                        <a:rPr sz="1050" b="0">
                          <a:solidFill>
                            <a:srgbClr val="2B2B2B"/>
                          </a:solidFill>
                          <a:latin typeface="Calibri"/>
                        </a:rPr>
                        <a:t>8</a:t>
                      </a:r>
                    </a:p>
                  </a:txBody>
                  <a:tcPr marL="73152" marR="73152" marT="18288" marB="18288" anchor="ctr">
                    <a:solidFill>
                      <a:srgbClr val="FFFFFF"/>
                    </a:solidFill>
                  </a:tcPr>
                </a:tc>
                <a:tc>
                  <a:txBody>
                    <a:bodyPr wrap="square"/>
                    <a:lstStyle/>
                    <a:p>
                      <a:pPr algn="l">
                        <a:spcAft>
                          <a:spcPts val="0"/>
                        </a:spcAft>
                      </a:pPr>
                      <a:r>
                        <a:rPr sz="1050" b="0">
                          <a:solidFill>
                            <a:srgbClr val="2B2B2B"/>
                          </a:solidFill>
                          <a:latin typeface="Calibri"/>
                        </a:rPr>
                        <a:t>Sur</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3</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99</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74,0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75,6</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8,9</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64,4</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82,0</a:t>
                      </a:r>
                    </a:p>
                  </a:txBody>
                  <a:tcPr marL="73152" marR="73152" marT="18288" marB="18288" anchor="ctr">
                    <a:solidFill>
                      <a:srgbClr val="FFFFFF"/>
                    </a:solidFill>
                  </a:tcPr>
                </a:tc>
                <a:tc>
                  <a:txBody>
                    <a:bodyPr wrap="square"/>
                    <a:lstStyle/>
                    <a:p>
                      <a:pPr algn="r">
                        <a:spcAft>
                          <a:spcPts val="0"/>
                        </a:spcAft>
                      </a:pPr>
                      <a:r>
                        <a:rPr sz="1050" b="0">
                          <a:solidFill>
                            <a:srgbClr val="2B2B2B"/>
                          </a:solidFill>
                          <a:latin typeface="Calibri"/>
                        </a:rPr>
                        <a:t>s/d</a:t>
                      </a:r>
                    </a:p>
                  </a:txBody>
                  <a:tcPr marL="73152" marR="73152" marT="18288" marB="18288" anchor="ctr">
                    <a:solidFill>
                      <a:srgbClr val="FFFFFF"/>
                    </a:solidFill>
                  </a:tcPr>
                </a:tc>
              </a:tr>
            </a:tbl>
          </a:graphicData>
        </a:graphic>
      </p:graphicFrame>
      <p:sp>
        <p:nvSpPr>
          <p:cNvPr id="7" name="TextBox 6"/>
          <p:cNvSpPr txBox="1"/>
          <p:nvPr/>
        </p:nvSpPr>
        <p:spPr>
          <a:xfrm>
            <a:off x="566928" y="6071616"/>
            <a:ext cx="11064240" cy="274320"/>
          </a:xfrm>
          <a:prstGeom prst="rect">
            <a:avLst/>
          </a:prstGeom>
          <a:noFill/>
        </p:spPr>
        <p:txBody>
          <a:bodyPr wrap="square" lIns="0" rIns="0" tIns="0" bIns="0" anchor="t">
            <a:spAutoFit/>
          </a:bodyPr>
          <a:lstStyle/>
          <a:p>
            <a:pPr algn="l">
              <a:spcBef>
                <a:spcPts val="0"/>
              </a:spcBef>
              <a:spcAft>
                <a:spcPts val="0"/>
              </a:spcAft>
            </a:pPr>
            <a:r>
              <a:rPr sz="950" b="0" i="1">
                <a:solidFill>
                  <a:srgbClr val="6E6E6E"/>
                </a:solidFill>
                <a:latin typeface="Calibri"/>
              </a:rPr>
              <a:t>Obs. = trimestres con dato publicado, sobre un máximo de 102 (34 trimestres × 3 tipos). Última columna: alquiler mensual de un 2 ambientes en el 2do trimestre de 2026, en pesos.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3. EXPLORACIÓN</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Corregimos los precios por inflación</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8</a:t>
            </a:r>
          </a:p>
        </p:txBody>
      </p:sp>
      <p:pic>
        <p:nvPicPr>
          <p:cNvPr id="5" name="Picture 4" descr="g02_histogramas_precio.png"/>
          <p:cNvPicPr>
            <a:picLocks noChangeAspect="1"/>
          </p:cNvPicPr>
          <p:nvPr/>
        </p:nvPicPr>
        <p:blipFill>
          <a:blip r:embed="rId2"/>
          <a:stretch>
            <a:fillRect/>
          </a:stretch>
        </p:blipFill>
        <p:spPr>
          <a:xfrm>
            <a:off x="777240" y="1481328"/>
            <a:ext cx="10607040" cy="3590075"/>
          </a:xfrm>
          <a:prstGeom prst="rect">
            <a:avLst/>
          </a:prstGeom>
        </p:spPr>
      </p:pic>
      <p:sp>
        <p:nvSpPr>
          <p:cNvPr id="6" name="TextBox 5"/>
          <p:cNvSpPr txBox="1"/>
          <p:nvPr/>
        </p:nvSpPr>
        <p:spPr>
          <a:xfrm>
            <a:off x="777240" y="5230368"/>
            <a:ext cx="5120640" cy="1097280"/>
          </a:xfrm>
          <a:prstGeom prst="rect">
            <a:avLst/>
          </a:prstGeom>
          <a:noFill/>
        </p:spPr>
        <p:txBody>
          <a:bodyPr wrap="square" lIns="0" rIns="0" tIns="0" bIns="0" anchor="t">
            <a:spAutoFit/>
          </a:bodyPr>
          <a:lstStyle/>
          <a:p>
            <a:pPr algn="l">
              <a:spcBef>
                <a:spcPts val="0"/>
              </a:spcBef>
              <a:spcAft>
                <a:spcPts val="500"/>
              </a:spcAft>
            </a:pPr>
            <a:r>
              <a:rPr sz="1400" b="1" i="0">
                <a:solidFill>
                  <a:srgbClr val="B85042"/>
                </a:solidFill>
                <a:latin typeface="Cambria"/>
              </a:rPr>
              <a:t>El problema</a:t>
            </a:r>
          </a:p>
          <a:p>
            <a:pPr>
              <a:lnSpc>
                <a:spcPct val="100000"/>
              </a:lnSpc>
              <a:spcBef>
                <a:spcPts val="0"/>
              </a:spcBef>
              <a:spcAft>
                <a:spcPts val="0"/>
              </a:spcAft>
            </a:pPr>
            <a:r>
              <a:rPr sz="1250" b="0" i="0">
                <a:solidFill>
                  <a:srgbClr val="2B2B2B"/>
                </a:solidFill>
                <a:latin typeface="Calibri"/>
              </a:rPr>
              <a:t>En pesos corrientes, las observaciones de 2018-2021 se apilan contra el cero y la media es 3,8 veces la mediana. El histograma muestra la inflación, no el mercado.</a:t>
            </a:r>
          </a:p>
        </p:txBody>
      </p:sp>
      <p:sp>
        <p:nvSpPr>
          <p:cNvPr id="7" name="TextBox 6"/>
          <p:cNvSpPr txBox="1"/>
          <p:nvPr/>
        </p:nvSpPr>
        <p:spPr>
          <a:xfrm>
            <a:off x="6263640" y="5230368"/>
            <a:ext cx="5120640" cy="1097280"/>
          </a:xfrm>
          <a:prstGeom prst="rect">
            <a:avLst/>
          </a:prstGeom>
          <a:noFill/>
        </p:spPr>
        <p:txBody>
          <a:bodyPr wrap="square" lIns="0" rIns="0" tIns="0" bIns="0" anchor="t">
            <a:spAutoFit/>
          </a:bodyPr>
          <a:lstStyle/>
          <a:p>
            <a:pPr algn="l">
              <a:spcBef>
                <a:spcPts val="0"/>
              </a:spcBef>
              <a:spcAft>
                <a:spcPts val="500"/>
              </a:spcAft>
            </a:pPr>
            <a:r>
              <a:rPr sz="1400" b="1" i="0">
                <a:solidFill>
                  <a:srgbClr val="B85042"/>
                </a:solidFill>
                <a:latin typeface="Cambria"/>
              </a:rPr>
              <a:t>Cómo lo resolvemos</a:t>
            </a:r>
          </a:p>
          <a:p>
            <a:pPr>
              <a:spcAft>
                <a:spcPts val="0"/>
              </a:spcAft>
            </a:pPr>
            <a:r>
              <a:rPr sz="1250" b="0">
                <a:solidFill>
                  <a:srgbClr val="2B2B2B"/>
                </a:solidFill>
                <a:latin typeface="Calibri"/>
              </a:rPr>
              <a:t>Deflactamos con el IPC del INDEC (región GBA), a pesos de 2026-T2: </a:t>
            </a:r>
            <a:r>
              <a:rPr sz="1250" b="1">
                <a:solidFill>
                  <a:srgbClr val="2B2B2B"/>
                </a:solidFill>
                <a:latin typeface="Calibri"/>
              </a:rPr>
              <a:t>precio real = precio corriente × IPC base ÷ IPC del trimestre</a:t>
            </a:r>
            <a:r>
              <a:rPr sz="1250" b="0">
                <a:solidFill>
                  <a:srgbClr val="2B2B2B"/>
                </a:solidFill>
                <a:latin typeface="Calibri"/>
              </a:rPr>
              <a:t>. Ahora la media es 1,1 veces la mediana.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4. PRIMEROS HALLAZGOS</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Hay una jerarquía espacial estable</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9</a:t>
            </a:r>
          </a:p>
        </p:txBody>
      </p:sp>
      <p:pic>
        <p:nvPicPr>
          <p:cNvPr id="5" name="Picture 4" descr="g04_boxplot_precio_relativo_comuna.png"/>
          <p:cNvPicPr>
            <a:picLocks noChangeAspect="1"/>
          </p:cNvPicPr>
          <p:nvPr/>
        </p:nvPicPr>
        <p:blipFill>
          <a:blip r:embed="rId2"/>
          <a:stretch>
            <a:fillRect/>
          </a:stretch>
        </p:blipFill>
        <p:spPr>
          <a:xfrm>
            <a:off x="566928" y="1572768"/>
            <a:ext cx="7498079" cy="4498847"/>
          </a:xfrm>
          <a:prstGeom prst="rect">
            <a:avLst/>
          </a:prstGeom>
        </p:spPr>
      </p:pic>
      <p:sp>
        <p:nvSpPr>
          <p:cNvPr id="6" name="TextBox 5"/>
          <p:cNvSpPr txBox="1"/>
          <p:nvPr/>
        </p:nvSpPr>
        <p:spPr>
          <a:xfrm>
            <a:off x="8321040" y="1627632"/>
            <a:ext cx="3337560" cy="3840480"/>
          </a:xfrm>
          <a:prstGeom prst="rect">
            <a:avLst/>
          </a:prstGeom>
          <a:noFill/>
        </p:spPr>
        <p:txBody>
          <a:bodyPr wrap="square" lIns="0" rIns="0" tIns="0" bIns="0" anchor="t">
            <a:spAutoFit/>
          </a:bodyPr>
          <a:lstStyle/>
          <a:p>
            <a:pPr algn="l">
              <a:spcAft>
                <a:spcPts val="1000"/>
              </a:spcAft>
            </a:pPr>
            <a:r>
              <a:rPr sz="1350" b="1">
                <a:solidFill>
                  <a:srgbClr val="2B2B2B"/>
                </a:solidFill>
                <a:latin typeface="Calibri"/>
              </a:rPr>
              <a:t>El orden de las comunas casi no cambia en ocho años.</a:t>
            </a:r>
          </a:p>
          <a:p>
            <a:pPr>
              <a:lnSpc>
                <a:spcPct val="100000"/>
              </a:lnSpc>
              <a:spcBef>
                <a:spcPts val="0"/>
              </a:spcBef>
              <a:spcAft>
                <a:spcPts val="1000"/>
              </a:spcAft>
            </a:pPr>
            <a:r>
              <a:rPr sz="1300" b="0" i="0">
                <a:solidFill>
                  <a:srgbClr val="2B2B2B"/>
                </a:solidFill>
                <a:latin typeface="Calibri"/>
              </a:rPr>
              <a:t>Palermo (14) promedia 114% del valor de la Ciudad y Belgrano (13) 110%. En el otro extremo, las comunas 4 y 9 se ubican en 85% y 84%.</a:t>
            </a:r>
          </a:p>
          <a:p>
            <a:pPr>
              <a:lnSpc>
                <a:spcPct val="100000"/>
              </a:lnSpc>
              <a:spcBef>
                <a:spcPts val="0"/>
              </a:spcBef>
              <a:spcAft>
                <a:spcPts val="1000"/>
              </a:spcAft>
            </a:pPr>
            <a:r>
              <a:rPr sz="1300" b="0" i="0">
                <a:solidFill>
                  <a:srgbClr val="2B2B2B"/>
                </a:solidFill>
                <a:latin typeface="Calibri"/>
              </a:rPr>
              <a:t>El desvío estándar del precio relativo dentro de cada comuna es de apenas 4 a 6 puntos: las cajas son angostas y casi no se superponen entre los extremos.</a:t>
            </a:r>
          </a:p>
          <a:p>
            <a:pPr>
              <a:lnSpc>
                <a:spcPct val="100000"/>
              </a:lnSpc>
              <a:spcBef>
                <a:spcPts val="0"/>
              </a:spcBef>
              <a:spcAft>
                <a:spcPts val="0"/>
              </a:spcAft>
            </a:pPr>
            <a:r>
              <a:rPr sz="1300" b="0" i="0">
                <a:solidFill>
                  <a:srgbClr val="2B2B2B"/>
                </a:solidFill>
                <a:latin typeface="Calibri"/>
              </a:rPr>
              <a:t>La brecha entre el percentil 90 y el 10 se mantiene entre 1,23 y 1,44 todos los años.</a:t>
            </a:r>
          </a:p>
        </p:txBody>
      </p:sp>
      <p:sp>
        <p:nvSpPr>
          <p:cNvPr id="7" name="Rounded Rectangle 6"/>
          <p:cNvSpPr/>
          <p:nvPr/>
        </p:nvSpPr>
        <p:spPr>
          <a:xfrm>
            <a:off x="8321040" y="5486400"/>
            <a:ext cx="3337560" cy="682371"/>
          </a:xfrm>
          <a:prstGeom prst="roundRect">
            <a:avLst>
              <a:gd name="adj" fmla="val 6000"/>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503919" y="5623560"/>
            <a:ext cx="2971800" cy="408051"/>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2B2B2B"/>
                </a:solidFill>
                <a:latin typeface="Calibri"/>
              </a:rPr>
              <a:t>El ancho de cada caja es proporcional a la cantidad de datos: por eso la Comuna 8 aparece tan fina.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4. PRIMEROS HALLAZGOS</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En términos reales, el alquiler cayó 16% desde 2018</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10</a:t>
            </a:r>
          </a:p>
        </p:txBody>
      </p:sp>
      <p:pic>
        <p:nvPicPr>
          <p:cNvPr id="5" name="Picture 4" descr="g06_precio_m2_por_tipo.png"/>
          <p:cNvPicPr>
            <a:picLocks noChangeAspect="1"/>
          </p:cNvPicPr>
          <p:nvPr/>
        </p:nvPicPr>
        <p:blipFill>
          <a:blip r:embed="rId2"/>
          <a:stretch>
            <a:fillRect/>
          </a:stretch>
        </p:blipFill>
        <p:spPr>
          <a:xfrm>
            <a:off x="566928" y="1572768"/>
            <a:ext cx="6492240" cy="4328160"/>
          </a:xfrm>
          <a:prstGeom prst="rect">
            <a:avLst/>
          </a:prstGeom>
        </p:spPr>
      </p:pic>
      <p:sp>
        <p:nvSpPr>
          <p:cNvPr id="6" name="TextBox 5"/>
          <p:cNvSpPr txBox="1"/>
          <p:nvPr/>
        </p:nvSpPr>
        <p:spPr>
          <a:xfrm>
            <a:off x="7498079" y="1627632"/>
            <a:ext cx="4160520" cy="2468880"/>
          </a:xfrm>
          <a:prstGeom prst="rect">
            <a:avLst/>
          </a:prstGeom>
          <a:noFill/>
        </p:spPr>
        <p:txBody>
          <a:bodyPr wrap="square" lIns="0" rIns="0" tIns="0" bIns="0" anchor="t">
            <a:spAutoFit/>
          </a:bodyPr>
          <a:lstStyle/>
          <a:p>
            <a:pPr algn="l">
              <a:lnSpc>
                <a:spcPct val="100000"/>
              </a:lnSpc>
              <a:spcBef>
                <a:spcPts val="0"/>
              </a:spcBef>
              <a:spcAft>
                <a:spcPts val="800"/>
              </a:spcAft>
            </a:pPr>
            <a:r>
              <a:rPr sz="1250" b="0" i="0">
                <a:solidFill>
                  <a:srgbClr val="2B2B2B"/>
                </a:solidFill>
                <a:latin typeface="Calibri"/>
              </a:rPr>
              <a:t>Un 2 ambientes costaba $ 913.746 en 2018-T1 medido en pesos de hoy, contra $ 764.485 en 2026-T2. En pesos corrientes se multiplicó por 74, pero el IPC lo hizo por 89.</a:t>
            </a:r>
          </a:p>
          <a:p>
            <a:pPr>
              <a:lnSpc>
                <a:spcPct val="100000"/>
              </a:lnSpc>
              <a:spcBef>
                <a:spcPts val="0"/>
              </a:spcBef>
              <a:spcAft>
                <a:spcPts val="800"/>
              </a:spcAft>
            </a:pPr>
            <a:r>
              <a:rPr sz="1250" b="0" i="0">
                <a:solidFill>
                  <a:srgbClr val="2B2B2B"/>
                </a:solidFill>
                <a:latin typeface="Calibri"/>
              </a:rPr>
              <a:t>La serie tiene un pico a fines de 2023, cuando se aceleró la inflación, cae fuerte en 2024 y desde entonces está estable.</a:t>
            </a:r>
          </a:p>
          <a:p>
            <a:pPr>
              <a:lnSpc>
                <a:spcPct val="100000"/>
              </a:lnSpc>
              <a:spcBef>
                <a:spcPts val="0"/>
              </a:spcBef>
              <a:spcAft>
                <a:spcPts val="0"/>
              </a:spcAft>
            </a:pPr>
            <a:r>
              <a:rPr sz="1250" b="0" i="0">
                <a:solidFill>
                  <a:srgbClr val="2B2B2B"/>
                </a:solidFill>
                <a:latin typeface="Calibri"/>
              </a:rPr>
              <a:t>Las tres líneas nunca se cruzan: el m² del monoambiente es siempre el más caro, entre 8% y 21% por encima del de 3 ambientes.</a:t>
            </a:r>
          </a:p>
        </p:txBody>
      </p:sp>
      <p:graphicFrame>
        <p:nvGraphicFramePr>
          <p:cNvPr id="7" name="Table 6"/>
          <p:cNvGraphicFramePr>
            <a:graphicFrameLocks noGrp="1"/>
          </p:cNvGraphicFramePr>
          <p:nvPr/>
        </p:nvGraphicFramePr>
        <p:xfrm>
          <a:off x="7498079" y="4224528"/>
          <a:ext cx="4160520" cy="1261872"/>
        </p:xfrm>
        <a:graphic>
          <a:graphicData uri="http://schemas.openxmlformats.org/drawingml/2006/table">
            <a:tbl>
              <a:tblPr>
                <a:tableStyleId>{5C22544A-7EE6-4342-B048-85BDC9FD1C3A}</a:tableStyleId>
              </a:tblPr>
              <a:tblGrid>
                <a:gridCol w="1463040"/>
                <a:gridCol w="1371600"/>
                <a:gridCol w="1325880"/>
              </a:tblGrid>
              <a:tr h="329184">
                <a:tc>
                  <a:txBody>
                    <a:bodyPr wrap="square"/>
                    <a:lstStyle/>
                    <a:p>
                      <a:pPr algn="l">
                        <a:spcAft>
                          <a:spcPts val="0"/>
                        </a:spcAft>
                      </a:pPr>
                      <a:r>
                        <a:rPr sz="1050" b="1">
                          <a:solidFill>
                            <a:srgbClr val="FFFFFF"/>
                          </a:solidFill>
                          <a:latin typeface="Calibri"/>
                        </a:rPr>
                        <a:t>Tipo</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$/m² 2018-T1</a:t>
                      </a:r>
                    </a:p>
                  </a:txBody>
                  <a:tcPr marL="73152" marR="73152" marT="18288" marB="18288" anchor="ctr">
                    <a:solidFill>
                      <a:srgbClr val="B85042"/>
                    </a:solidFill>
                  </a:tcPr>
                </a:tc>
                <a:tc>
                  <a:txBody>
                    <a:bodyPr wrap="square"/>
                    <a:lstStyle/>
                    <a:p>
                      <a:pPr algn="r">
                        <a:spcAft>
                          <a:spcPts val="0"/>
                        </a:spcAft>
                      </a:pPr>
                      <a:r>
                        <a:rPr sz="1050" b="1">
                          <a:solidFill>
                            <a:srgbClr val="FFFFFF"/>
                          </a:solidFill>
                          <a:latin typeface="Calibri"/>
                        </a:rPr>
                        <a:t>$/m² 2026-T2</a:t>
                      </a:r>
                    </a:p>
                  </a:txBody>
                  <a:tcPr marL="73152" marR="73152" marT="18288" marB="18288" anchor="ctr">
                    <a:solidFill>
                      <a:srgbClr val="B85042"/>
                    </a:solidFill>
                  </a:tcPr>
                </a:tc>
              </a:tr>
              <a:tr h="310896">
                <a:tc>
                  <a:txBody>
                    <a:bodyPr wrap="square"/>
                    <a:lstStyle/>
                    <a:p>
                      <a:pPr algn="l">
                        <a:spcAft>
                          <a:spcPts val="0"/>
                        </a:spcAft>
                      </a:pPr>
                      <a:r>
                        <a:rPr sz="1100" b="0">
                          <a:solidFill>
                            <a:srgbClr val="2B2B2B"/>
                          </a:solidFill>
                          <a:latin typeface="Calibri"/>
                        </a:rPr>
                        <a:t>1 ambiente</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22.542</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18.855</a:t>
                      </a:r>
                    </a:p>
                  </a:txBody>
                  <a:tcPr marL="73152" marR="73152" marT="18288" marB="18288" anchor="ctr">
                    <a:solidFill>
                      <a:srgbClr val="FFFFFF"/>
                    </a:solidFill>
                  </a:tcPr>
                </a:tc>
              </a:tr>
              <a:tr h="310896">
                <a:tc>
                  <a:txBody>
                    <a:bodyPr wrap="square"/>
                    <a:lstStyle/>
                    <a:p>
                      <a:pPr algn="l">
                        <a:spcAft>
                          <a:spcPts val="0"/>
                        </a:spcAft>
                      </a:pPr>
                      <a:r>
                        <a:rPr sz="1100" b="0">
                          <a:solidFill>
                            <a:srgbClr val="2B2B2B"/>
                          </a:solidFill>
                          <a:latin typeface="Calibri"/>
                        </a:rPr>
                        <a:t>2 ambientes</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21.250</a:t>
                      </a:r>
                    </a:p>
                  </a:txBody>
                  <a:tcPr marL="73152" marR="73152" marT="18288" marB="18288" anchor="ctr">
                    <a:solidFill>
                      <a:srgbClr val="F2EFE6"/>
                    </a:solidFill>
                  </a:tcPr>
                </a:tc>
                <a:tc>
                  <a:txBody>
                    <a:bodyPr wrap="square"/>
                    <a:lstStyle/>
                    <a:p>
                      <a:pPr algn="r">
                        <a:spcAft>
                          <a:spcPts val="0"/>
                        </a:spcAft>
                      </a:pPr>
                      <a:r>
                        <a:rPr sz="1100" b="0">
                          <a:solidFill>
                            <a:srgbClr val="2B2B2B"/>
                          </a:solidFill>
                          <a:latin typeface="Calibri"/>
                        </a:rPr>
                        <a:t>17.779</a:t>
                      </a:r>
                    </a:p>
                  </a:txBody>
                  <a:tcPr marL="73152" marR="73152" marT="18288" marB="18288" anchor="ctr">
                    <a:solidFill>
                      <a:srgbClr val="F2EFE6"/>
                    </a:solidFill>
                  </a:tcPr>
                </a:tc>
              </a:tr>
              <a:tr h="310896">
                <a:tc>
                  <a:txBody>
                    <a:bodyPr wrap="square"/>
                    <a:lstStyle/>
                    <a:p>
                      <a:pPr algn="l">
                        <a:spcAft>
                          <a:spcPts val="0"/>
                        </a:spcAft>
                      </a:pPr>
                      <a:r>
                        <a:rPr sz="1100" b="0">
                          <a:solidFill>
                            <a:srgbClr val="2B2B2B"/>
                          </a:solidFill>
                          <a:latin typeface="Calibri"/>
                        </a:rPr>
                        <a:t>3 ambientes</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20.850</a:t>
                      </a:r>
                    </a:p>
                  </a:txBody>
                  <a:tcPr marL="73152" marR="73152" marT="18288" marB="18288" anchor="ctr">
                    <a:solidFill>
                      <a:srgbClr val="FFFFFF"/>
                    </a:solidFill>
                  </a:tcPr>
                </a:tc>
                <a:tc>
                  <a:txBody>
                    <a:bodyPr wrap="square"/>
                    <a:lstStyle/>
                    <a:p>
                      <a:pPr algn="r">
                        <a:spcAft>
                          <a:spcPts val="0"/>
                        </a:spcAft>
                      </a:pPr>
                      <a:r>
                        <a:rPr sz="1100" b="0">
                          <a:solidFill>
                            <a:srgbClr val="2B2B2B"/>
                          </a:solidFill>
                          <a:latin typeface="Calibri"/>
                        </a:rPr>
                        <a:t>16.776</a:t>
                      </a:r>
                    </a:p>
                  </a:txBody>
                  <a:tcPr marL="73152" marR="73152" marT="18288" marB="18288" anchor="ctr">
                    <a:solidFill>
                      <a:srgbClr val="FFFFFF"/>
                    </a:solidFill>
                  </a:tcPr>
                </a:tc>
              </a:tr>
            </a:tbl>
          </a:graphicData>
        </a:graphic>
      </p:graphicFrame>
      <p:sp>
        <p:nvSpPr>
          <p:cNvPr id="8" name="Rounded Rectangle 7"/>
          <p:cNvSpPr/>
          <p:nvPr/>
        </p:nvSpPr>
        <p:spPr>
          <a:xfrm>
            <a:off x="7498079" y="5596128"/>
            <a:ext cx="4160520" cy="546354"/>
          </a:xfrm>
          <a:prstGeom prst="roundRect">
            <a:avLst>
              <a:gd name="adj" fmla="val 6000"/>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59" y="5733288"/>
            <a:ext cx="3794759" cy="272034"/>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2B2B2B"/>
                </a:solidFill>
                <a:latin typeface="Calibri"/>
              </a:rPr>
              <a:t>Todo en pesos constantes de 2026-T2, deflactados con el IPC del INDEC (región GBA).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B85042"/>
                </a:solidFill>
                <a:latin typeface="Calibri"/>
              </a:rPr>
              <a:t>4. PRIMEROS HALLAZGOS</a:t>
            </a:r>
          </a:p>
        </p:txBody>
      </p:sp>
      <p:sp>
        <p:nvSpPr>
          <p:cNvPr id="3" name="TextBox 2"/>
          <p:cNvSpPr txBox="1"/>
          <p:nvPr/>
        </p:nvSpPr>
        <p:spPr>
          <a:xfrm>
            <a:off x="566928" y="621792"/>
            <a:ext cx="11064240" cy="658368"/>
          </a:xfrm>
          <a:prstGeom prst="rect">
            <a:avLst/>
          </a:prstGeom>
          <a:noFill/>
        </p:spPr>
        <p:txBody>
          <a:bodyPr wrap="square" lIns="0" rIns="0" tIns="0" bIns="0" anchor="t">
            <a:spAutoFit/>
          </a:bodyPr>
          <a:lstStyle/>
          <a:p>
            <a:pPr algn="l">
              <a:spcBef>
                <a:spcPts val="0"/>
              </a:spcBef>
              <a:spcAft>
                <a:spcPts val="0"/>
              </a:spcAft>
            </a:pPr>
            <a:r>
              <a:rPr sz="2900" b="1" i="0">
                <a:solidFill>
                  <a:srgbClr val="2B2B2B"/>
                </a:solidFill>
                <a:latin typeface="Cambria"/>
              </a:rPr>
              <a:t>Cuidado con las correlaciones</a:t>
            </a:r>
          </a:p>
        </p:txBody>
      </p:sp>
      <p:sp>
        <p:nvSpPr>
          <p:cNvPr id="4" name="TextBox 3"/>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6E6E6E"/>
                </a:solidFill>
                <a:latin typeface="Calibri"/>
              </a:rPr>
              <a:t>11</a:t>
            </a:r>
          </a:p>
        </p:txBody>
      </p:sp>
      <p:pic>
        <p:nvPicPr>
          <p:cNvPr id="5" name="Picture 4" descr="g07_dispersion_tipos.png"/>
          <p:cNvPicPr>
            <a:picLocks noChangeAspect="1"/>
          </p:cNvPicPr>
          <p:nvPr/>
        </p:nvPicPr>
        <p:blipFill>
          <a:blip r:embed="rId2"/>
          <a:stretch>
            <a:fillRect/>
          </a:stretch>
        </p:blipFill>
        <p:spPr>
          <a:xfrm>
            <a:off x="1069848" y="1517904"/>
            <a:ext cx="10058400" cy="3404382"/>
          </a:xfrm>
          <a:prstGeom prst="rect">
            <a:avLst/>
          </a:prstGeom>
        </p:spPr>
      </p:pic>
      <p:sp>
        <p:nvSpPr>
          <p:cNvPr id="6" name="TextBox 5"/>
          <p:cNvSpPr txBox="1"/>
          <p:nvPr/>
        </p:nvSpPr>
        <p:spPr>
          <a:xfrm>
            <a:off x="777240" y="5102352"/>
            <a:ext cx="10607040" cy="1261872"/>
          </a:xfrm>
          <a:prstGeom prst="rect">
            <a:avLst/>
          </a:prstGeom>
          <a:noFill/>
        </p:spPr>
        <p:txBody>
          <a:bodyPr wrap="square" lIns="0" rIns="0" tIns="0" bIns="0" anchor="t">
            <a:spAutoFit/>
          </a:bodyPr>
          <a:lstStyle/>
          <a:p>
            <a:pPr algn="l">
              <a:spcAft>
                <a:spcPts val="600"/>
              </a:spcAft>
            </a:pPr>
            <a:r>
              <a:rPr sz="1300" b="1">
                <a:solidFill>
                  <a:srgbClr val="2B2B2B"/>
                </a:solidFill>
                <a:latin typeface="Calibri"/>
              </a:rPr>
              <a:t>Correlación entre el precio por m² de un monoambiente y el de un 3 ambientes: 1,00 → 0,92 → 0,82.</a:t>
            </a:r>
          </a:p>
          <a:p>
            <a:pPr>
              <a:spcAft>
                <a:spcPts val="0"/>
              </a:spcAft>
            </a:pPr>
            <a:r>
              <a:rPr sz="1300" b="0">
                <a:solidFill>
                  <a:srgbClr val="2B2B2B"/>
                </a:solidFill>
                <a:latin typeface="Calibri"/>
              </a:rPr>
              <a:t>En pesos corrientes da 1: las series suben juntas porque comparten la inflación. Deflactando baja, pero sigue alta porque los dos tipos comparten los vaivenes reales del mercado. Dentro de un solo trimestre queda solo la comparación entre comunas: las comunas caras son caras en todos los tipos.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1064240" cy="274320"/>
          </a:xfrm>
          <a:prstGeom prst="rect">
            <a:avLst/>
          </a:prstGeom>
          <a:noFill/>
        </p:spPr>
        <p:txBody>
          <a:bodyPr wrap="square" lIns="0" rIns="0" tIns="0" bIns="0" anchor="t">
            <a:spAutoFit/>
          </a:bodyPr>
          <a:lstStyle/>
          <a:p>
            <a:pPr algn="l">
              <a:spcBef>
                <a:spcPts val="0"/>
              </a:spcBef>
              <a:spcAft>
                <a:spcPts val="0"/>
              </a:spcAft>
            </a:pPr>
            <a:r>
              <a:rPr sz="1050" b="1" i="0">
                <a:solidFill>
                  <a:srgbClr val="E7E8D1"/>
                </a:solidFill>
                <a:latin typeface="Calibri"/>
              </a:rPr>
              <a:t>4. PRIMEROS HALLAZGOS Y PRÓXIMOS PASOS</a:t>
            </a:r>
          </a:p>
        </p:txBody>
      </p:sp>
      <p:sp>
        <p:nvSpPr>
          <p:cNvPr id="4" name="TextBox 3"/>
          <p:cNvSpPr txBox="1"/>
          <p:nvPr/>
        </p:nvSpPr>
        <p:spPr>
          <a:xfrm>
            <a:off x="685800" y="758952"/>
            <a:ext cx="11064240" cy="594360"/>
          </a:xfrm>
          <a:prstGeom prst="rect">
            <a:avLst/>
          </a:prstGeom>
          <a:noFill/>
        </p:spPr>
        <p:txBody>
          <a:bodyPr wrap="square" lIns="0" rIns="0" tIns="0" bIns="0" anchor="t">
            <a:spAutoFit/>
          </a:bodyPr>
          <a:lstStyle/>
          <a:p>
            <a:pPr algn="l">
              <a:spcBef>
                <a:spcPts val="0"/>
              </a:spcBef>
              <a:spcAft>
                <a:spcPts val="0"/>
              </a:spcAft>
            </a:pPr>
            <a:r>
              <a:rPr sz="2800" b="1" i="0">
                <a:solidFill>
                  <a:srgbClr val="FFFFFF"/>
                </a:solidFill>
                <a:latin typeface="Cambria"/>
              </a:rPr>
              <a:t>Qué encontramos y qué preguntas nos quedan</a:t>
            </a:r>
          </a:p>
        </p:txBody>
      </p:sp>
      <p:sp>
        <p:nvSpPr>
          <p:cNvPr id="5" name="TextBox 4"/>
          <p:cNvSpPr txBox="1"/>
          <p:nvPr/>
        </p:nvSpPr>
        <p:spPr>
          <a:xfrm>
            <a:off x="11109960" y="6382512"/>
            <a:ext cx="548640" cy="274320"/>
          </a:xfrm>
          <a:prstGeom prst="rect">
            <a:avLst/>
          </a:prstGeom>
          <a:noFill/>
        </p:spPr>
        <p:txBody>
          <a:bodyPr wrap="square" lIns="0" rIns="0" tIns="0" bIns="0" anchor="t">
            <a:spAutoFit/>
          </a:bodyPr>
          <a:lstStyle/>
          <a:p>
            <a:pPr algn="r">
              <a:spcBef>
                <a:spcPts val="0"/>
              </a:spcBef>
              <a:spcAft>
                <a:spcPts val="0"/>
              </a:spcAft>
            </a:pPr>
            <a:r>
              <a:rPr sz="1000" b="0" i="0">
                <a:solidFill>
                  <a:srgbClr val="E7E8D1"/>
                </a:solidFill>
                <a:latin typeface="Calibri"/>
              </a:rPr>
              <a:t>12</a:t>
            </a:r>
          </a:p>
        </p:txBody>
      </p:sp>
      <p:sp>
        <p:nvSpPr>
          <p:cNvPr id="6" name="Oval 5"/>
          <p:cNvSpPr/>
          <p:nvPr/>
        </p:nvSpPr>
        <p:spPr>
          <a:xfrm>
            <a:off x="685800" y="1600200"/>
            <a:ext cx="329184" cy="329184"/>
          </a:xfrm>
          <a:prstGeom prst="ellipse">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8C3A30"/>
                </a:solidFill>
                <a:latin typeface="Calibri"/>
              </a:rPr>
              <a:t>1</a:t>
            </a:r>
          </a:p>
        </p:txBody>
      </p:sp>
      <p:sp>
        <p:nvSpPr>
          <p:cNvPr id="7" name="TextBox 6"/>
          <p:cNvSpPr txBox="1"/>
          <p:nvPr/>
        </p:nvSpPr>
        <p:spPr>
          <a:xfrm>
            <a:off x="1207008" y="1581912"/>
            <a:ext cx="5989320" cy="868680"/>
          </a:xfrm>
          <a:prstGeom prst="rect">
            <a:avLst/>
          </a:prstGeom>
          <a:noFill/>
        </p:spPr>
        <p:txBody>
          <a:bodyPr wrap="square" lIns="0" rIns="0" tIns="0" bIns="0" anchor="t">
            <a:spAutoFit/>
          </a:bodyPr>
          <a:lstStyle/>
          <a:p>
            <a:pPr algn="l">
              <a:lnSpc>
                <a:spcPct val="95000"/>
              </a:lnSpc>
              <a:spcBef>
                <a:spcPts val="0"/>
              </a:spcBef>
              <a:spcAft>
                <a:spcPts val="200"/>
              </a:spcAft>
            </a:pPr>
            <a:r>
              <a:rPr sz="1350" b="1" i="0">
                <a:solidFill>
                  <a:srgbClr val="FFFFFF"/>
                </a:solidFill>
                <a:latin typeface="Calibri"/>
              </a:rPr>
              <a:t>Los faltantes tienen geografía.</a:t>
            </a:r>
          </a:p>
          <a:p>
            <a:pPr>
              <a:lnSpc>
                <a:spcPct val="95000"/>
              </a:lnSpc>
              <a:spcBef>
                <a:spcPts val="0"/>
              </a:spcBef>
              <a:spcAft>
                <a:spcPts val="0"/>
              </a:spcAft>
            </a:pPr>
            <a:r>
              <a:rPr sz="1200" b="0" i="0">
                <a:solidFill>
                  <a:srgbClr val="E7E8D1"/>
                </a:solidFill>
                <a:latin typeface="Calibri"/>
              </a:rPr>
              <a:t>El 45% de las observaciones del sur no tiene dato, contra el 0,3% del norte. Todo promedio «de la Ciudad» está sesgado hacia el norte.</a:t>
            </a:r>
          </a:p>
        </p:txBody>
      </p:sp>
      <p:sp>
        <p:nvSpPr>
          <p:cNvPr id="8" name="Oval 7"/>
          <p:cNvSpPr/>
          <p:nvPr/>
        </p:nvSpPr>
        <p:spPr>
          <a:xfrm>
            <a:off x="685800" y="2532888"/>
            <a:ext cx="329184" cy="329184"/>
          </a:xfrm>
          <a:prstGeom prst="ellipse">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8C3A30"/>
                </a:solidFill>
                <a:latin typeface="Calibri"/>
              </a:rPr>
              <a:t>2</a:t>
            </a:r>
          </a:p>
        </p:txBody>
      </p:sp>
      <p:sp>
        <p:nvSpPr>
          <p:cNvPr id="9" name="TextBox 8"/>
          <p:cNvSpPr txBox="1"/>
          <p:nvPr/>
        </p:nvSpPr>
        <p:spPr>
          <a:xfrm>
            <a:off x="1207008" y="2514600"/>
            <a:ext cx="5989320" cy="868680"/>
          </a:xfrm>
          <a:prstGeom prst="rect">
            <a:avLst/>
          </a:prstGeom>
          <a:noFill/>
        </p:spPr>
        <p:txBody>
          <a:bodyPr wrap="square" lIns="0" rIns="0" tIns="0" bIns="0" anchor="t">
            <a:spAutoFit/>
          </a:bodyPr>
          <a:lstStyle/>
          <a:p>
            <a:pPr algn="l">
              <a:lnSpc>
                <a:spcPct val="95000"/>
              </a:lnSpc>
              <a:spcBef>
                <a:spcPts val="0"/>
              </a:spcBef>
              <a:spcAft>
                <a:spcPts val="200"/>
              </a:spcAft>
            </a:pPr>
            <a:r>
              <a:rPr sz="1350" b="1" i="0">
                <a:solidFill>
                  <a:srgbClr val="FFFFFF"/>
                </a:solidFill>
                <a:latin typeface="Calibri"/>
              </a:rPr>
              <a:t>La oferta publicada creció desde 2024.</a:t>
            </a:r>
          </a:p>
          <a:p>
            <a:pPr>
              <a:lnSpc>
                <a:spcPct val="95000"/>
              </a:lnSpc>
              <a:spcBef>
                <a:spcPts val="0"/>
              </a:spcBef>
              <a:spcAft>
                <a:spcPts val="0"/>
              </a:spcAft>
            </a:pPr>
            <a:r>
              <a:rPr sz="1200" b="0" i="0">
                <a:solidFill>
                  <a:srgbClr val="E7E8D1"/>
                </a:solidFill>
                <a:latin typeface="Calibri"/>
              </a:rPr>
              <a:t>Los faltantes bajan del 17% anual entre 2020 y 2023 al 4-8% en 2024-2026.</a:t>
            </a:r>
          </a:p>
        </p:txBody>
      </p:sp>
      <p:sp>
        <p:nvSpPr>
          <p:cNvPr id="10" name="Oval 9"/>
          <p:cNvSpPr/>
          <p:nvPr/>
        </p:nvSpPr>
        <p:spPr>
          <a:xfrm>
            <a:off x="685800" y="3465576"/>
            <a:ext cx="329184" cy="329184"/>
          </a:xfrm>
          <a:prstGeom prst="ellipse">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8C3A30"/>
                </a:solidFill>
                <a:latin typeface="Calibri"/>
              </a:rPr>
              <a:t>3</a:t>
            </a:r>
          </a:p>
        </p:txBody>
      </p:sp>
      <p:sp>
        <p:nvSpPr>
          <p:cNvPr id="11" name="TextBox 10"/>
          <p:cNvSpPr txBox="1"/>
          <p:nvPr/>
        </p:nvSpPr>
        <p:spPr>
          <a:xfrm>
            <a:off x="1207008" y="3447288"/>
            <a:ext cx="5989320" cy="868680"/>
          </a:xfrm>
          <a:prstGeom prst="rect">
            <a:avLst/>
          </a:prstGeom>
          <a:noFill/>
        </p:spPr>
        <p:txBody>
          <a:bodyPr wrap="square" lIns="0" rIns="0" tIns="0" bIns="0" anchor="t">
            <a:spAutoFit/>
          </a:bodyPr>
          <a:lstStyle/>
          <a:p>
            <a:pPr algn="l">
              <a:lnSpc>
                <a:spcPct val="95000"/>
              </a:lnSpc>
              <a:spcBef>
                <a:spcPts val="0"/>
              </a:spcBef>
              <a:spcAft>
                <a:spcPts val="200"/>
              </a:spcAft>
            </a:pPr>
            <a:r>
              <a:rPr sz="1350" b="1" i="0">
                <a:solidFill>
                  <a:srgbClr val="FFFFFF"/>
                </a:solidFill>
                <a:latin typeface="Calibri"/>
              </a:rPr>
              <a:t>La jerarquía entre comunas es estable.</a:t>
            </a:r>
          </a:p>
          <a:p>
            <a:pPr>
              <a:lnSpc>
                <a:spcPct val="95000"/>
              </a:lnSpc>
              <a:spcBef>
                <a:spcPts val="0"/>
              </a:spcBef>
              <a:spcAft>
                <a:spcPts val="0"/>
              </a:spcAft>
            </a:pPr>
            <a:r>
              <a:rPr sz="1200" b="0" i="0">
                <a:solidFill>
                  <a:srgbClr val="E7E8D1"/>
                </a:solidFill>
                <a:latin typeface="Calibri"/>
              </a:rPr>
              <a:t>Palermo y Belgrano 10-14% por encima del promedio; las comunas 4, 8 y 9 entre 15% y 26% por debajo, todos los años.</a:t>
            </a:r>
          </a:p>
        </p:txBody>
      </p:sp>
      <p:sp>
        <p:nvSpPr>
          <p:cNvPr id="12" name="Oval 11"/>
          <p:cNvSpPr/>
          <p:nvPr/>
        </p:nvSpPr>
        <p:spPr>
          <a:xfrm>
            <a:off x="685800" y="4398264"/>
            <a:ext cx="329184" cy="329184"/>
          </a:xfrm>
          <a:prstGeom prst="ellipse">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8C3A30"/>
                </a:solidFill>
                <a:latin typeface="Calibri"/>
              </a:rPr>
              <a:t>4</a:t>
            </a:r>
          </a:p>
        </p:txBody>
      </p:sp>
      <p:sp>
        <p:nvSpPr>
          <p:cNvPr id="13" name="TextBox 12"/>
          <p:cNvSpPr txBox="1"/>
          <p:nvPr/>
        </p:nvSpPr>
        <p:spPr>
          <a:xfrm>
            <a:off x="1207008" y="4379976"/>
            <a:ext cx="5989320" cy="868680"/>
          </a:xfrm>
          <a:prstGeom prst="rect">
            <a:avLst/>
          </a:prstGeom>
          <a:noFill/>
        </p:spPr>
        <p:txBody>
          <a:bodyPr wrap="square" lIns="0" rIns="0" tIns="0" bIns="0" anchor="t">
            <a:spAutoFit/>
          </a:bodyPr>
          <a:lstStyle/>
          <a:p>
            <a:pPr algn="l">
              <a:lnSpc>
                <a:spcPct val="95000"/>
              </a:lnSpc>
              <a:spcBef>
                <a:spcPts val="0"/>
              </a:spcBef>
              <a:spcAft>
                <a:spcPts val="200"/>
              </a:spcAft>
            </a:pPr>
            <a:r>
              <a:rPr sz="1350" b="1" i="0">
                <a:solidFill>
                  <a:srgbClr val="FFFFFF"/>
                </a:solidFill>
                <a:latin typeface="Calibri"/>
              </a:rPr>
              <a:t>En términos reales, el alquiler cayó 16% desde 2018.</a:t>
            </a:r>
          </a:p>
          <a:p>
            <a:pPr>
              <a:lnSpc>
                <a:spcPct val="95000"/>
              </a:lnSpc>
              <a:spcBef>
                <a:spcPts val="0"/>
              </a:spcBef>
              <a:spcAft>
                <a:spcPts val="0"/>
              </a:spcAft>
            </a:pPr>
            <a:r>
              <a:rPr sz="1200" b="0" i="0">
                <a:solidFill>
                  <a:srgbClr val="E7E8D1"/>
                </a:solidFill>
                <a:latin typeface="Calibri"/>
              </a:rPr>
              <a:t>Entre 16% y 20% según el tipo, con un pico a fines de 2023 y una caída fuerte en 2024. En pesos corrientes parecía haberse multiplicado por 74.</a:t>
            </a:r>
          </a:p>
        </p:txBody>
      </p:sp>
      <p:sp>
        <p:nvSpPr>
          <p:cNvPr id="14" name="Oval 13"/>
          <p:cNvSpPr/>
          <p:nvPr/>
        </p:nvSpPr>
        <p:spPr>
          <a:xfrm>
            <a:off x="685800" y="5330952"/>
            <a:ext cx="329184" cy="329184"/>
          </a:xfrm>
          <a:prstGeom prst="ellipse">
            <a:avLst/>
          </a:prstGeom>
          <a:solidFill>
            <a:srgbClr val="E7E8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50" b="1">
                <a:solidFill>
                  <a:srgbClr val="8C3A30"/>
                </a:solidFill>
                <a:latin typeface="Calibri"/>
              </a:rPr>
              <a:t>5</a:t>
            </a:r>
          </a:p>
        </p:txBody>
      </p:sp>
      <p:sp>
        <p:nvSpPr>
          <p:cNvPr id="15" name="TextBox 14"/>
          <p:cNvSpPr txBox="1"/>
          <p:nvPr/>
        </p:nvSpPr>
        <p:spPr>
          <a:xfrm>
            <a:off x="1207008" y="5312664"/>
            <a:ext cx="5989320" cy="868680"/>
          </a:xfrm>
          <a:prstGeom prst="rect">
            <a:avLst/>
          </a:prstGeom>
          <a:noFill/>
        </p:spPr>
        <p:txBody>
          <a:bodyPr wrap="square" lIns="0" rIns="0" tIns="0" bIns="0" anchor="t">
            <a:spAutoFit/>
          </a:bodyPr>
          <a:lstStyle/>
          <a:p>
            <a:pPr algn="l">
              <a:lnSpc>
                <a:spcPct val="95000"/>
              </a:lnSpc>
              <a:spcBef>
                <a:spcPts val="0"/>
              </a:spcBef>
              <a:spcAft>
                <a:spcPts val="200"/>
              </a:spcAft>
            </a:pPr>
            <a:r>
              <a:rPr sz="1350" b="1" i="0">
                <a:solidFill>
                  <a:srgbClr val="FFFFFF"/>
                </a:solidFill>
                <a:latin typeface="Calibri"/>
              </a:rPr>
              <a:t>El m² del monoambiente cuesta 14% más que el del 3 ambientes.</a:t>
            </a:r>
          </a:p>
          <a:p>
            <a:pPr>
              <a:lnSpc>
                <a:spcPct val="95000"/>
              </a:lnSpc>
              <a:spcBef>
                <a:spcPts val="0"/>
              </a:spcBef>
              <a:spcAft>
                <a:spcPts val="0"/>
              </a:spcAft>
            </a:pPr>
            <a:r>
              <a:rPr sz="1200" b="0" i="0">
                <a:solidFill>
                  <a:srgbClr val="E7E8D1"/>
                </a:solidFill>
                <a:latin typeface="Calibri"/>
              </a:rPr>
              <a:t>Una prima persistente en los ocho años de la serie.</a:t>
            </a:r>
          </a:p>
        </p:txBody>
      </p:sp>
      <p:sp>
        <p:nvSpPr>
          <p:cNvPr id="16" name="Rounded Rectangle 15"/>
          <p:cNvSpPr/>
          <p:nvPr/>
        </p:nvSpPr>
        <p:spPr>
          <a:xfrm>
            <a:off x="7635240" y="1600200"/>
            <a:ext cx="3886200" cy="4069080"/>
          </a:xfrm>
          <a:prstGeom prst="roundRect">
            <a:avLst>
              <a:gd name="adj" fmla="val 6000"/>
            </a:avLst>
          </a:prstGeom>
          <a:solidFill>
            <a:srgbClr val="F2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909560" y="1847088"/>
            <a:ext cx="3337560" cy="3931920"/>
          </a:xfrm>
          <a:prstGeom prst="rect">
            <a:avLst/>
          </a:prstGeom>
          <a:noFill/>
        </p:spPr>
        <p:txBody>
          <a:bodyPr wrap="square" lIns="0" rIns="0" tIns="0" bIns="0" anchor="t">
            <a:spAutoFit/>
          </a:bodyPr>
          <a:lstStyle/>
          <a:p>
            <a:pPr algn="l">
              <a:spcBef>
                <a:spcPts val="0"/>
              </a:spcBef>
              <a:spcAft>
                <a:spcPts val="1200"/>
              </a:spcAft>
            </a:pPr>
            <a:r>
              <a:rPr sz="1500" b="1" i="0">
                <a:solidFill>
                  <a:srgbClr val="B85042"/>
                </a:solidFill>
                <a:latin typeface="Cambria"/>
              </a:rPr>
              <a:t>Preguntas para las próximas etapas</a:t>
            </a:r>
          </a:p>
          <a:p>
            <a:pPr>
              <a:spcAft>
                <a:spcPts val="1200"/>
              </a:spcAft>
            </a:pPr>
            <a:r>
              <a:rPr sz="1200" b="1">
                <a:solidFill>
                  <a:srgbClr val="2B2B2B"/>
                </a:solidFill>
                <a:latin typeface="Calibri"/>
              </a:rPr>
              <a:t>¿Qué explica el pico de 2023 y la caída de 2024?</a:t>
            </a:r>
            <a:r>
              <a:rPr sz="1200" b="0">
                <a:solidFill>
                  <a:srgbClr val="2B2B2B"/>
                </a:solidFill>
                <a:latin typeface="Calibri"/>
              </a:rPr>
              <a:t> ¿Coincide con la derogación de la Ley de Alquileres y el salto inflacionario de diciembre de 2023, o es un desfasaje entre los precios de publicación y el IPC?</a:t>
            </a:r>
          </a:p>
          <a:p>
            <a:pPr>
              <a:spcAft>
                <a:spcPts val="0"/>
              </a:spcAft>
            </a:pPr>
            <a:r>
              <a:rPr sz="1200" b="1">
                <a:solidFill>
                  <a:srgbClr val="2B2B2B"/>
                </a:solidFill>
                <a:latin typeface="Calibri"/>
              </a:rPr>
              <a:t>¿La brecha entre comunas se explica por sus características socioeconómicas?</a:t>
            </a:r>
            <a:r>
              <a:rPr sz="1200" b="0">
                <a:solidFill>
                  <a:srgbClr val="2B2B2B"/>
                </a:solidFill>
                <a:latin typeface="Calibri"/>
              </a:rPr>
              <a:t> Sumar una base complementaria (EAH o Censo) permitiría contrastar precio con ingreso, densidad y tipo de vivienda.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