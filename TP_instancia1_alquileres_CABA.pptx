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  <p:sldId id="267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A208415-840B-4307-A60D-45975F5A59B5}" v="147" dt="2026-10-20T16:45:58.43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432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aquín Martinez" userId="8821b49b33eb02e4" providerId="LiveId" clId="{63F6040F-98ED-4CBF-ACBA-380EB58AB2FA}"/>
    <pc:docChg chg="undo custSel addSld modSld">
      <pc:chgData name="Joaquín Martinez" userId="8821b49b33eb02e4" providerId="LiveId" clId="{63F6040F-98ED-4CBF-ACBA-380EB58AB2FA}" dt="2026-10-20T16:45:58.429" v="514"/>
      <pc:docMkLst>
        <pc:docMk/>
      </pc:docMkLst>
      <pc:sldChg chg="modSp mod">
        <pc:chgData name="Joaquín Martinez" userId="8821b49b33eb02e4" providerId="LiveId" clId="{63F6040F-98ED-4CBF-ACBA-380EB58AB2FA}" dt="2026-10-20T16:45:58.429" v="514"/>
        <pc:sldMkLst>
          <pc:docMk/>
          <pc:sldMk cId="0" sldId="266"/>
        </pc:sldMkLst>
        <pc:spChg chg="mod">
          <ac:chgData name="Joaquín Martinez" userId="8821b49b33eb02e4" providerId="LiveId" clId="{63F6040F-98ED-4CBF-ACBA-380EB58AB2FA}" dt="2026-10-20T16:45:14.343" v="433" actId="20577"/>
          <ac:spMkLst>
            <pc:docMk/>
            <pc:sldMk cId="0" sldId="266"/>
            <ac:spMk id="3" creationId="{00000000-0000-0000-0000-000000000000}"/>
          </ac:spMkLst>
        </pc:spChg>
        <pc:spChg chg="mod">
          <ac:chgData name="Joaquín Martinez" userId="8821b49b33eb02e4" providerId="LiveId" clId="{63F6040F-98ED-4CBF-ACBA-380EB58AB2FA}" dt="2026-10-20T16:45:58.429" v="514"/>
          <ac:spMkLst>
            <pc:docMk/>
            <pc:sldMk cId="0" sldId="266"/>
            <ac:spMk id="5" creationId="{00000000-0000-0000-0000-000000000000}"/>
          </ac:spMkLst>
        </pc:spChg>
        <pc:graphicFrameChg chg="mod modGraphic">
          <ac:chgData name="Joaquín Martinez" userId="8821b49b33eb02e4" providerId="LiveId" clId="{63F6040F-98ED-4CBF-ACBA-380EB58AB2FA}" dt="2026-10-20T16:43:50.558" v="400" actId="1076"/>
          <ac:graphicFrameMkLst>
            <pc:docMk/>
            <pc:sldMk cId="0" sldId="266"/>
            <ac:graphicFrameMk id="6" creationId="{00000000-0000-0000-0000-000000000000}"/>
          </ac:graphicFrameMkLst>
        </pc:graphicFrameChg>
      </pc:sldChg>
      <pc:sldChg chg="modSp mod">
        <pc:chgData name="Joaquín Martinez" userId="8821b49b33eb02e4" providerId="LiveId" clId="{63F6040F-98ED-4CBF-ACBA-380EB58AB2FA}" dt="2026-10-20T15:24:49.214" v="106" actId="20577"/>
        <pc:sldMkLst>
          <pc:docMk/>
          <pc:sldMk cId="0" sldId="267"/>
        </pc:sldMkLst>
        <pc:spChg chg="mod">
          <ac:chgData name="Joaquín Martinez" userId="8821b49b33eb02e4" providerId="LiveId" clId="{63F6040F-98ED-4CBF-ACBA-380EB58AB2FA}" dt="2026-10-20T15:24:49.214" v="106" actId="20577"/>
          <ac:spMkLst>
            <pc:docMk/>
            <pc:sldMk cId="0" sldId="267"/>
            <ac:spMk id="5" creationId="{00000000-0000-0000-0000-000000000000}"/>
          </ac:spMkLst>
        </pc:spChg>
      </pc:sldChg>
      <pc:sldChg chg="addSp delSp modSp add mod">
        <pc:chgData name="Joaquín Martinez" userId="8821b49b33eb02e4" providerId="LiveId" clId="{63F6040F-98ED-4CBF-ACBA-380EB58AB2FA}" dt="2026-10-20T15:29:16.128" v="393" actId="692"/>
        <pc:sldMkLst>
          <pc:docMk/>
          <pc:sldMk cId="1587076545" sldId="268"/>
        </pc:sldMkLst>
        <pc:spChg chg="mod">
          <ac:chgData name="Joaquín Martinez" userId="8821b49b33eb02e4" providerId="LiveId" clId="{63F6040F-98ED-4CBF-ACBA-380EB58AB2FA}" dt="2026-10-20T15:24:49.551" v="111" actId="20577"/>
          <ac:spMkLst>
            <pc:docMk/>
            <pc:sldMk cId="1587076545" sldId="268"/>
            <ac:spMk id="3" creationId="{00000000-0000-0000-0000-000000000000}"/>
          </ac:spMkLst>
        </pc:spChg>
        <pc:spChg chg="mod">
          <ac:chgData name="Joaquín Martinez" userId="8821b49b33eb02e4" providerId="LiveId" clId="{63F6040F-98ED-4CBF-ACBA-380EB58AB2FA}" dt="2026-10-20T15:24:49.563" v="112" actId="20577"/>
          <ac:spMkLst>
            <pc:docMk/>
            <pc:sldMk cId="1587076545" sldId="268"/>
            <ac:spMk id="4" creationId="{00000000-0000-0000-0000-000000000000}"/>
          </ac:spMkLst>
        </pc:spChg>
        <pc:spChg chg="mod">
          <ac:chgData name="Joaquín Martinez" userId="8821b49b33eb02e4" providerId="LiveId" clId="{63F6040F-98ED-4CBF-ACBA-380EB58AB2FA}" dt="2026-10-20T15:24:49.576" v="113" actId="20577"/>
          <ac:spMkLst>
            <pc:docMk/>
            <pc:sldMk cId="1587076545" sldId="268"/>
            <ac:spMk id="5" creationId="{00000000-0000-0000-0000-000000000000}"/>
          </ac:spMkLst>
        </pc:spChg>
        <pc:spChg chg="mod">
          <ac:chgData name="Joaquín Martinez" userId="8821b49b33eb02e4" providerId="LiveId" clId="{63F6040F-98ED-4CBF-ACBA-380EB58AB2FA}" dt="2026-10-20T15:25:00.838" v="389"/>
          <ac:spMkLst>
            <pc:docMk/>
            <pc:sldMk cId="1587076545" sldId="268"/>
            <ac:spMk id="7" creationId="{00000000-0000-0000-0000-000000000000}"/>
          </ac:spMkLst>
        </pc:spChg>
        <pc:spChg chg="add mod">
          <ac:chgData name="Joaquín Martinez" userId="8821b49b33eb02e4" providerId="LiveId" clId="{63F6040F-98ED-4CBF-ACBA-380EB58AB2FA}" dt="2026-10-20T15:24:57.045" v="135" actId="207"/>
          <ac:spMkLst>
            <pc:docMk/>
            <pc:sldMk cId="1587076545" sldId="268"/>
            <ac:spMk id="9" creationId="{C89AAEF9-088F-93ED-8E1B-7AF75C4EAFFF}"/>
          </ac:spMkLst>
        </pc:spChg>
        <pc:spChg chg="add mod">
          <ac:chgData name="Joaquín Martinez" userId="8821b49b33eb02e4" providerId="LiveId" clId="{63F6040F-98ED-4CBF-ACBA-380EB58AB2FA}" dt="2026-10-20T15:25:00.809" v="385"/>
          <ac:spMkLst>
            <pc:docMk/>
            <pc:sldMk cId="1587076545" sldId="268"/>
            <ac:spMk id="11" creationId="{F5BF636D-9756-22AE-EFF4-CD427E59E821}"/>
          </ac:spMkLst>
        </pc:spChg>
        <pc:graphicFrameChg chg="del">
          <ac:chgData name="Joaquín Martinez" userId="8821b49b33eb02e4" providerId="LiveId" clId="{63F6040F-98ED-4CBF-ACBA-380EB58AB2FA}" dt="2026-10-20T15:24:49.534" v="110"/>
          <ac:graphicFrameMkLst>
            <pc:docMk/>
            <pc:sldMk cId="1587076545" sldId="268"/>
            <ac:graphicFrameMk id="6" creationId="{00000000-0000-0000-0000-000000000000}"/>
          </ac:graphicFrameMkLst>
        </pc:graphicFrameChg>
        <pc:graphicFrameChg chg="add mod">
          <ac:chgData name="Joaquín Martinez" userId="8821b49b33eb02e4" providerId="LiveId" clId="{63F6040F-98ED-4CBF-ACBA-380EB58AB2FA}" dt="2026-10-20T15:29:16.128" v="393" actId="692"/>
          <ac:graphicFrameMkLst>
            <pc:docMk/>
            <pc:sldMk cId="1587076545" sldId="268"/>
            <ac:graphicFrameMk id="8" creationId="{6E77C56C-C517-99A4-639C-4269EB69AFF7}"/>
          </ac:graphicFrameMkLst>
        </pc:graphicFrameChg>
        <pc:graphicFrameChg chg="add mod modGraphic">
          <ac:chgData name="Joaquín Martinez" userId="8821b49b33eb02e4" providerId="LiveId" clId="{63F6040F-98ED-4CBF-ACBA-380EB58AB2FA}" dt="2026-10-20T15:25:00.528" v="364" actId="948"/>
          <ac:graphicFrameMkLst>
            <pc:docMk/>
            <pc:sldMk cId="1587076545" sldId="268"/>
            <ac:graphicFrameMk id="10" creationId="{B2820752-C0A0-1DCD-808F-7BACFD2C261A}"/>
          </ac:graphicFrameMkLst>
        </pc:graphicFrame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Norte</c:v>
                </c:pt>
              </c:strCache>
            </c:strRef>
          </c:tx>
          <c:spPr>
            <a:ln w="28575" cap="rnd">
              <a:solidFill>
                <a:srgbClr val="4575B4"/>
              </a:solidFill>
              <a:prstDash val="solid"/>
              <a:round/>
            </a:ln>
            <a:effectLst/>
          </c:spPr>
          <c:marker>
            <c:symbol val="none"/>
          </c:marker>
          <c:dPt>
            <c:idx val="23"/>
            <c:marker>
              <c:symbol val="circle"/>
              <c:size val="8"/>
              <c:spPr>
                <a:solidFill>
                  <a:srgbClr val="4575B4"/>
                </a:solidFill>
                <a:ln w="28575">
                  <a:solidFill>
                    <a:srgbClr val="FFFFFF"/>
                  </a:solidFill>
                  <a:prstDash val="solid"/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AA6F-4811-B202-4B87D5F6438F}"/>
              </c:ext>
            </c:extLst>
          </c:dPt>
          <c:cat>
            <c:strRef>
              <c:f>Hoja1!$A$2:$A$35</c:f>
              <c:strCache>
                <c:ptCount val="34"/>
                <c:pt idx="0">
                  <c:v>2018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2019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2020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2021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2022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  <c:pt idx="20">
                  <c:v>2023</c:v>
                </c:pt>
                <c:pt idx="21">
                  <c:v> </c:v>
                </c:pt>
                <c:pt idx="22">
                  <c:v> </c:v>
                </c:pt>
                <c:pt idx="23">
                  <c:v> </c:v>
                </c:pt>
                <c:pt idx="24">
                  <c:v>2024</c:v>
                </c:pt>
                <c:pt idx="25">
                  <c:v> </c:v>
                </c:pt>
                <c:pt idx="26">
                  <c:v> </c:v>
                </c:pt>
                <c:pt idx="27">
                  <c:v> </c:v>
                </c:pt>
                <c:pt idx="28">
                  <c:v>2025</c:v>
                </c:pt>
                <c:pt idx="29">
                  <c:v> </c:v>
                </c:pt>
                <c:pt idx="30">
                  <c:v> </c:v>
                </c:pt>
                <c:pt idx="31">
                  <c:v> </c:v>
                </c:pt>
                <c:pt idx="32">
                  <c:v>2026</c:v>
                </c:pt>
                <c:pt idx="33">
                  <c:v> </c:v>
                </c:pt>
              </c:strCache>
            </c:strRef>
          </c:cat>
          <c:val>
            <c:numRef>
              <c:f>Hoja1!$B$2:$B$35</c:f>
              <c:numCache>
                <c:formatCode>General</c:formatCode>
                <c:ptCount val="34"/>
                <c:pt idx="0">
                  <c:v>104.3</c:v>
                </c:pt>
                <c:pt idx="1">
                  <c:v>104.9</c:v>
                </c:pt>
                <c:pt idx="2">
                  <c:v>99.7</c:v>
                </c:pt>
                <c:pt idx="3">
                  <c:v>91</c:v>
                </c:pt>
                <c:pt idx="4">
                  <c:v>91.6</c:v>
                </c:pt>
                <c:pt idx="5">
                  <c:v>88.6</c:v>
                </c:pt>
                <c:pt idx="6">
                  <c:v>86</c:v>
                </c:pt>
                <c:pt idx="7">
                  <c:v>81.3</c:v>
                </c:pt>
                <c:pt idx="8">
                  <c:v>80.7</c:v>
                </c:pt>
                <c:pt idx="9">
                  <c:v>83.9</c:v>
                </c:pt>
                <c:pt idx="10">
                  <c:v>89.2</c:v>
                </c:pt>
                <c:pt idx="11">
                  <c:v>89.8</c:v>
                </c:pt>
                <c:pt idx="12">
                  <c:v>90.5</c:v>
                </c:pt>
                <c:pt idx="13">
                  <c:v>91.4</c:v>
                </c:pt>
                <c:pt idx="14">
                  <c:v>93</c:v>
                </c:pt>
                <c:pt idx="15">
                  <c:v>91.3</c:v>
                </c:pt>
                <c:pt idx="16">
                  <c:v>96.3</c:v>
                </c:pt>
                <c:pt idx="17">
                  <c:v>103.6</c:v>
                </c:pt>
                <c:pt idx="18">
                  <c:v>104.7</c:v>
                </c:pt>
                <c:pt idx="19">
                  <c:v>99.2</c:v>
                </c:pt>
                <c:pt idx="20">
                  <c:v>111.4</c:v>
                </c:pt>
                <c:pt idx="21">
                  <c:v>124</c:v>
                </c:pt>
                <c:pt idx="22">
                  <c:v>146.5</c:v>
                </c:pt>
                <c:pt idx="23">
                  <c:v>160.80000000000001</c:v>
                </c:pt>
                <c:pt idx="24">
                  <c:v>103.8</c:v>
                </c:pt>
                <c:pt idx="25">
                  <c:v>85.6</c:v>
                </c:pt>
                <c:pt idx="26">
                  <c:v>82.7</c:v>
                </c:pt>
                <c:pt idx="27">
                  <c:v>82.6</c:v>
                </c:pt>
                <c:pt idx="28">
                  <c:v>83.9</c:v>
                </c:pt>
                <c:pt idx="29">
                  <c:v>84</c:v>
                </c:pt>
                <c:pt idx="30">
                  <c:v>84.8</c:v>
                </c:pt>
                <c:pt idx="31">
                  <c:v>84.2</c:v>
                </c:pt>
                <c:pt idx="32">
                  <c:v>86.9</c:v>
                </c:pt>
                <c:pt idx="33">
                  <c:v>84.2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A6F-4811-B202-4B87D5F6438F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Centro</c:v>
                </c:pt>
              </c:strCache>
            </c:strRef>
          </c:tx>
          <c:spPr>
            <a:ln w="28575" cap="rnd">
              <a:solidFill>
                <a:srgbClr val="91BFDB"/>
              </a:solidFill>
              <a:prstDash val="solid"/>
              <a:round/>
            </a:ln>
            <a:effectLst/>
          </c:spPr>
          <c:marker>
            <c:symbol val="none"/>
          </c:marker>
          <c:dPt>
            <c:idx val="23"/>
            <c:marker>
              <c:symbol val="circle"/>
              <c:size val="8"/>
              <c:spPr>
                <a:solidFill>
                  <a:srgbClr val="91BFDB"/>
                </a:solidFill>
                <a:ln w="28575">
                  <a:solidFill>
                    <a:srgbClr val="FFFFFF"/>
                  </a:solidFill>
                  <a:prstDash val="lgDash"/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AA6F-4811-B202-4B87D5F6438F}"/>
              </c:ext>
            </c:extLst>
          </c:dPt>
          <c:cat>
            <c:strRef>
              <c:f>Hoja1!$A$2:$A$35</c:f>
              <c:strCache>
                <c:ptCount val="34"/>
                <c:pt idx="0">
                  <c:v>2018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2019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2020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2021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2022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  <c:pt idx="20">
                  <c:v>2023</c:v>
                </c:pt>
                <c:pt idx="21">
                  <c:v> </c:v>
                </c:pt>
                <c:pt idx="22">
                  <c:v> </c:v>
                </c:pt>
                <c:pt idx="23">
                  <c:v> </c:v>
                </c:pt>
                <c:pt idx="24">
                  <c:v>2024</c:v>
                </c:pt>
                <c:pt idx="25">
                  <c:v> </c:v>
                </c:pt>
                <c:pt idx="26">
                  <c:v> </c:v>
                </c:pt>
                <c:pt idx="27">
                  <c:v> </c:v>
                </c:pt>
                <c:pt idx="28">
                  <c:v>2025</c:v>
                </c:pt>
                <c:pt idx="29">
                  <c:v> </c:v>
                </c:pt>
                <c:pt idx="30">
                  <c:v> </c:v>
                </c:pt>
                <c:pt idx="31">
                  <c:v> </c:v>
                </c:pt>
                <c:pt idx="32">
                  <c:v>2026</c:v>
                </c:pt>
                <c:pt idx="33">
                  <c:v> </c:v>
                </c:pt>
              </c:strCache>
            </c:strRef>
          </c:cat>
          <c:val>
            <c:numRef>
              <c:f>Hoja1!$C$2:$C$35</c:f>
              <c:numCache>
                <c:formatCode>General</c:formatCode>
                <c:ptCount val="34"/>
                <c:pt idx="0">
                  <c:v>102.2</c:v>
                </c:pt>
                <c:pt idx="1">
                  <c:v>103.3</c:v>
                </c:pt>
                <c:pt idx="2">
                  <c:v>101</c:v>
                </c:pt>
                <c:pt idx="3">
                  <c:v>93.4</c:v>
                </c:pt>
                <c:pt idx="4">
                  <c:v>92.4</c:v>
                </c:pt>
                <c:pt idx="5">
                  <c:v>88.5</c:v>
                </c:pt>
                <c:pt idx="6">
                  <c:v>87.9</c:v>
                </c:pt>
                <c:pt idx="7">
                  <c:v>82.5</c:v>
                </c:pt>
                <c:pt idx="8">
                  <c:v>80.5</c:v>
                </c:pt>
                <c:pt idx="9">
                  <c:v>83.6</c:v>
                </c:pt>
                <c:pt idx="10">
                  <c:v>93.5</c:v>
                </c:pt>
                <c:pt idx="11">
                  <c:v>92.6</c:v>
                </c:pt>
                <c:pt idx="12">
                  <c:v>91.3</c:v>
                </c:pt>
                <c:pt idx="13">
                  <c:v>95.2</c:v>
                </c:pt>
                <c:pt idx="14">
                  <c:v>94.2</c:v>
                </c:pt>
                <c:pt idx="15">
                  <c:v>94</c:v>
                </c:pt>
                <c:pt idx="16">
                  <c:v>96.3</c:v>
                </c:pt>
                <c:pt idx="17">
                  <c:v>98</c:v>
                </c:pt>
                <c:pt idx="18">
                  <c:v>98.3</c:v>
                </c:pt>
                <c:pt idx="19">
                  <c:v>96.5</c:v>
                </c:pt>
                <c:pt idx="20">
                  <c:v>99.2</c:v>
                </c:pt>
                <c:pt idx="21">
                  <c:v>109.6</c:v>
                </c:pt>
                <c:pt idx="22">
                  <c:v>142.1</c:v>
                </c:pt>
                <c:pt idx="23">
                  <c:v>142.19999999999999</c:v>
                </c:pt>
                <c:pt idx="24">
                  <c:v>100.5</c:v>
                </c:pt>
                <c:pt idx="25">
                  <c:v>84.5</c:v>
                </c:pt>
                <c:pt idx="26">
                  <c:v>85.4</c:v>
                </c:pt>
                <c:pt idx="27">
                  <c:v>85.6</c:v>
                </c:pt>
                <c:pt idx="28">
                  <c:v>86.7</c:v>
                </c:pt>
                <c:pt idx="29">
                  <c:v>87.3</c:v>
                </c:pt>
                <c:pt idx="30">
                  <c:v>88.1</c:v>
                </c:pt>
                <c:pt idx="31">
                  <c:v>86.8</c:v>
                </c:pt>
                <c:pt idx="32">
                  <c:v>88.4</c:v>
                </c:pt>
                <c:pt idx="33">
                  <c:v>86.6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A6F-4811-B202-4B87D5F6438F}"/>
            </c:ext>
          </c:extLst>
        </c:ser>
        <c:ser>
          <c:idx val="2"/>
          <c:order val="2"/>
          <c:tx>
            <c:strRef>
              <c:f>Hoja1!$D$1</c:f>
              <c:strCache>
                <c:ptCount val="1"/>
                <c:pt idx="0">
                  <c:v>Oeste</c:v>
                </c:pt>
              </c:strCache>
            </c:strRef>
          </c:tx>
          <c:spPr>
            <a:ln w="28575" cap="rnd">
              <a:solidFill>
                <a:srgbClr val="FC8D59"/>
              </a:solidFill>
              <a:prstDash val="solid"/>
              <a:round/>
            </a:ln>
            <a:effectLst/>
          </c:spPr>
          <c:marker>
            <c:symbol val="none"/>
          </c:marker>
          <c:dPt>
            <c:idx val="23"/>
            <c:marker>
              <c:symbol val="circle"/>
              <c:size val="8"/>
              <c:spPr>
                <a:solidFill>
                  <a:srgbClr val="FC8D59"/>
                </a:solidFill>
                <a:ln w="28575">
                  <a:solidFill>
                    <a:srgbClr val="FFFFFF"/>
                  </a:solidFill>
                  <a:prstDash val="sysDash"/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AA6F-4811-B202-4B87D5F6438F}"/>
              </c:ext>
            </c:extLst>
          </c:dPt>
          <c:cat>
            <c:strRef>
              <c:f>Hoja1!$A$2:$A$35</c:f>
              <c:strCache>
                <c:ptCount val="34"/>
                <c:pt idx="0">
                  <c:v>2018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2019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2020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2021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2022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  <c:pt idx="20">
                  <c:v>2023</c:v>
                </c:pt>
                <c:pt idx="21">
                  <c:v> </c:v>
                </c:pt>
                <c:pt idx="22">
                  <c:v> </c:v>
                </c:pt>
                <c:pt idx="23">
                  <c:v> </c:v>
                </c:pt>
                <c:pt idx="24">
                  <c:v>2024</c:v>
                </c:pt>
                <c:pt idx="25">
                  <c:v> </c:v>
                </c:pt>
                <c:pt idx="26">
                  <c:v> </c:v>
                </c:pt>
                <c:pt idx="27">
                  <c:v> </c:v>
                </c:pt>
                <c:pt idx="28">
                  <c:v>2025</c:v>
                </c:pt>
                <c:pt idx="29">
                  <c:v> </c:v>
                </c:pt>
                <c:pt idx="30">
                  <c:v> </c:v>
                </c:pt>
                <c:pt idx="31">
                  <c:v> </c:v>
                </c:pt>
                <c:pt idx="32">
                  <c:v>2026</c:v>
                </c:pt>
                <c:pt idx="33">
                  <c:v> </c:v>
                </c:pt>
              </c:strCache>
            </c:strRef>
          </c:cat>
          <c:val>
            <c:numRef>
              <c:f>Hoja1!$D$2:$D$35</c:f>
              <c:numCache>
                <c:formatCode>General</c:formatCode>
                <c:ptCount val="34"/>
                <c:pt idx="0">
                  <c:v>102.9</c:v>
                </c:pt>
                <c:pt idx="1">
                  <c:v>103.4</c:v>
                </c:pt>
                <c:pt idx="2">
                  <c:v>99.2</c:v>
                </c:pt>
                <c:pt idx="3">
                  <c:v>94.5</c:v>
                </c:pt>
                <c:pt idx="4">
                  <c:v>93.8</c:v>
                </c:pt>
                <c:pt idx="5">
                  <c:v>88.9</c:v>
                </c:pt>
                <c:pt idx="6">
                  <c:v>87.7</c:v>
                </c:pt>
                <c:pt idx="7">
                  <c:v>82.4</c:v>
                </c:pt>
                <c:pt idx="8">
                  <c:v>82.8</c:v>
                </c:pt>
                <c:pt idx="9">
                  <c:v>87.1</c:v>
                </c:pt>
                <c:pt idx="10">
                  <c:v>99.9</c:v>
                </c:pt>
                <c:pt idx="11">
                  <c:v>101.8</c:v>
                </c:pt>
                <c:pt idx="12">
                  <c:v>104.6</c:v>
                </c:pt>
                <c:pt idx="13">
                  <c:v>106.9</c:v>
                </c:pt>
                <c:pt idx="14">
                  <c:v>105.7</c:v>
                </c:pt>
                <c:pt idx="15">
                  <c:v>105.4</c:v>
                </c:pt>
                <c:pt idx="16">
                  <c:v>103.3</c:v>
                </c:pt>
                <c:pt idx="17">
                  <c:v>108.4</c:v>
                </c:pt>
                <c:pt idx="18">
                  <c:v>106.1</c:v>
                </c:pt>
                <c:pt idx="19">
                  <c:v>105.2</c:v>
                </c:pt>
                <c:pt idx="20">
                  <c:v>111.2</c:v>
                </c:pt>
                <c:pt idx="21">
                  <c:v>122</c:v>
                </c:pt>
                <c:pt idx="22">
                  <c:v>152.9</c:v>
                </c:pt>
                <c:pt idx="23">
                  <c:v>155.80000000000001</c:v>
                </c:pt>
                <c:pt idx="24">
                  <c:v>107.2</c:v>
                </c:pt>
                <c:pt idx="25">
                  <c:v>89.7</c:v>
                </c:pt>
                <c:pt idx="26">
                  <c:v>90.5</c:v>
                </c:pt>
                <c:pt idx="27">
                  <c:v>91.8</c:v>
                </c:pt>
                <c:pt idx="28">
                  <c:v>93.8</c:v>
                </c:pt>
                <c:pt idx="29">
                  <c:v>93.6</c:v>
                </c:pt>
                <c:pt idx="30">
                  <c:v>94.3</c:v>
                </c:pt>
                <c:pt idx="31">
                  <c:v>95.1</c:v>
                </c:pt>
                <c:pt idx="32">
                  <c:v>94.4</c:v>
                </c:pt>
                <c:pt idx="33">
                  <c:v>92.5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A6F-4811-B202-4B87D5F6438F}"/>
            </c:ext>
          </c:extLst>
        </c:ser>
        <c:ser>
          <c:idx val="3"/>
          <c:order val="3"/>
          <c:tx>
            <c:strRef>
              <c:f>Hoja1!$E$1</c:f>
              <c:strCache>
                <c:ptCount val="1"/>
                <c:pt idx="0">
                  <c:v>Sur</c:v>
                </c:pt>
              </c:strCache>
            </c:strRef>
          </c:tx>
          <c:spPr>
            <a:ln w="28575" cap="rnd">
              <a:solidFill>
                <a:srgbClr val="D73027"/>
              </a:solidFill>
              <a:prstDash val="solid"/>
              <a:round/>
            </a:ln>
            <a:effectLst/>
          </c:spPr>
          <c:marker>
            <c:symbol val="none"/>
          </c:marker>
          <c:dPt>
            <c:idx val="22"/>
            <c:marker>
              <c:symbol val="circle"/>
              <c:size val="8"/>
              <c:spPr>
                <a:solidFill>
                  <a:srgbClr val="D73027"/>
                </a:solidFill>
                <a:ln w="28575">
                  <a:solidFill>
                    <a:srgbClr val="FFFFFF"/>
                  </a:solidFill>
                  <a:prstDash val="lgDashDot"/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8-AA6F-4811-B202-4B87D5F6438F}"/>
              </c:ext>
            </c:extLst>
          </c:dPt>
          <c:cat>
            <c:strRef>
              <c:f>Hoja1!$A$2:$A$35</c:f>
              <c:strCache>
                <c:ptCount val="34"/>
                <c:pt idx="0">
                  <c:v>2018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2019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2020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2021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2022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  <c:pt idx="20">
                  <c:v>2023</c:v>
                </c:pt>
                <c:pt idx="21">
                  <c:v> </c:v>
                </c:pt>
                <c:pt idx="22">
                  <c:v> </c:v>
                </c:pt>
                <c:pt idx="23">
                  <c:v> </c:v>
                </c:pt>
                <c:pt idx="24">
                  <c:v>2024</c:v>
                </c:pt>
                <c:pt idx="25">
                  <c:v> </c:v>
                </c:pt>
                <c:pt idx="26">
                  <c:v> </c:v>
                </c:pt>
                <c:pt idx="27">
                  <c:v> </c:v>
                </c:pt>
                <c:pt idx="28">
                  <c:v>2025</c:v>
                </c:pt>
                <c:pt idx="29">
                  <c:v> </c:v>
                </c:pt>
                <c:pt idx="30">
                  <c:v> </c:v>
                </c:pt>
                <c:pt idx="31">
                  <c:v> </c:v>
                </c:pt>
                <c:pt idx="32">
                  <c:v>2026</c:v>
                </c:pt>
                <c:pt idx="33">
                  <c:v> </c:v>
                </c:pt>
              </c:strCache>
            </c:strRef>
          </c:cat>
          <c:val>
            <c:numRef>
              <c:f>Hoja1!$E$2:$E$35</c:f>
              <c:numCache>
                <c:formatCode>General</c:formatCode>
                <c:ptCount val="34"/>
                <c:pt idx="0">
                  <c:v>104.4</c:v>
                </c:pt>
                <c:pt idx="1">
                  <c:v>101.2</c:v>
                </c:pt>
                <c:pt idx="2">
                  <c:v>100.7</c:v>
                </c:pt>
                <c:pt idx="3">
                  <c:v>93.6</c:v>
                </c:pt>
                <c:pt idx="4">
                  <c:v>91.5</c:v>
                </c:pt>
                <c:pt idx="5">
                  <c:v>89.8</c:v>
                </c:pt>
                <c:pt idx="6">
                  <c:v>87.7</c:v>
                </c:pt>
                <c:pt idx="7">
                  <c:v>83.7</c:v>
                </c:pt>
                <c:pt idx="8">
                  <c:v>86</c:v>
                </c:pt>
                <c:pt idx="9">
                  <c:v>84.4</c:v>
                </c:pt>
                <c:pt idx="10">
                  <c:v>94</c:v>
                </c:pt>
                <c:pt idx="11">
                  <c:v>99.4</c:v>
                </c:pt>
                <c:pt idx="12">
                  <c:v>98.4</c:v>
                </c:pt>
                <c:pt idx="13">
                  <c:v>99.2</c:v>
                </c:pt>
                <c:pt idx="14">
                  <c:v>102.6</c:v>
                </c:pt>
                <c:pt idx="15">
                  <c:v>104.4</c:v>
                </c:pt>
                <c:pt idx="16">
                  <c:v>102.8</c:v>
                </c:pt>
                <c:pt idx="17">
                  <c:v>101.8</c:v>
                </c:pt>
                <c:pt idx="18">
                  <c:v>100</c:v>
                </c:pt>
                <c:pt idx="19">
                  <c:v>104</c:v>
                </c:pt>
                <c:pt idx="20">
                  <c:v>100.2</c:v>
                </c:pt>
                <c:pt idx="21">
                  <c:v>114.8</c:v>
                </c:pt>
                <c:pt idx="22">
                  <c:v>141.5</c:v>
                </c:pt>
                <c:pt idx="23">
                  <c:v>138.19999999999999</c:v>
                </c:pt>
                <c:pt idx="24">
                  <c:v>105.9</c:v>
                </c:pt>
                <c:pt idx="25">
                  <c:v>88.3</c:v>
                </c:pt>
                <c:pt idx="26">
                  <c:v>91.3</c:v>
                </c:pt>
                <c:pt idx="27">
                  <c:v>93.9</c:v>
                </c:pt>
                <c:pt idx="28">
                  <c:v>93.8</c:v>
                </c:pt>
                <c:pt idx="29">
                  <c:v>96.2</c:v>
                </c:pt>
                <c:pt idx="30">
                  <c:v>96.9</c:v>
                </c:pt>
                <c:pt idx="31">
                  <c:v>94.4</c:v>
                </c:pt>
                <c:pt idx="32">
                  <c:v>93.5</c:v>
                </c:pt>
                <c:pt idx="33">
                  <c:v>92.4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A6F-4811-B202-4B87D5F6438F}"/>
            </c:ext>
          </c:extLst>
        </c:ser>
        <c:ser>
          <c:idx val="4"/>
          <c:order val="4"/>
          <c:tx>
            <c:strRef>
              <c:f>Hoja1!$F$1</c:f>
              <c:strCache>
                <c:ptCount val="1"/>
                <c:pt idx="0">
                  <c:v>Referencia 2018</c:v>
                </c:pt>
              </c:strCache>
            </c:strRef>
          </c:tx>
          <c:spPr>
            <a:ln w="12700" cap="rnd">
              <a:solidFill>
                <a:srgbClr val="A6A6A6"/>
              </a:solidFill>
              <a:prstDash val="dash"/>
              <a:round/>
            </a:ln>
            <a:effectLst/>
          </c:spPr>
          <c:marker>
            <c:symbol val="none"/>
          </c:marker>
          <c:cat>
            <c:strRef>
              <c:f>Hoja1!$A$2:$A$35</c:f>
              <c:strCache>
                <c:ptCount val="34"/>
                <c:pt idx="0">
                  <c:v>2018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2019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2020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2021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2022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  <c:pt idx="20">
                  <c:v>2023</c:v>
                </c:pt>
                <c:pt idx="21">
                  <c:v> </c:v>
                </c:pt>
                <c:pt idx="22">
                  <c:v> </c:v>
                </c:pt>
                <c:pt idx="23">
                  <c:v> </c:v>
                </c:pt>
                <c:pt idx="24">
                  <c:v>2024</c:v>
                </c:pt>
                <c:pt idx="25">
                  <c:v> </c:v>
                </c:pt>
                <c:pt idx="26">
                  <c:v> </c:v>
                </c:pt>
                <c:pt idx="27">
                  <c:v> </c:v>
                </c:pt>
                <c:pt idx="28">
                  <c:v>2025</c:v>
                </c:pt>
                <c:pt idx="29">
                  <c:v> </c:v>
                </c:pt>
                <c:pt idx="30">
                  <c:v> </c:v>
                </c:pt>
                <c:pt idx="31">
                  <c:v> </c:v>
                </c:pt>
                <c:pt idx="32">
                  <c:v>2026</c:v>
                </c:pt>
                <c:pt idx="33">
                  <c:v> </c:v>
                </c:pt>
              </c:strCache>
            </c:strRef>
          </c:cat>
          <c:val>
            <c:numRef>
              <c:f>Hoja1!$F$2:$F$35</c:f>
              <c:numCache>
                <c:formatCode>General</c:formatCode>
                <c:ptCount val="34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  <c:pt idx="5">
                  <c:v>100</c:v>
                </c:pt>
                <c:pt idx="6">
                  <c:v>100</c:v>
                </c:pt>
                <c:pt idx="7">
                  <c:v>100</c:v>
                </c:pt>
                <c:pt idx="8">
                  <c:v>100</c:v>
                </c:pt>
                <c:pt idx="9">
                  <c:v>100</c:v>
                </c:pt>
                <c:pt idx="10">
                  <c:v>100</c:v>
                </c:pt>
                <c:pt idx="11">
                  <c:v>100</c:v>
                </c:pt>
                <c:pt idx="12">
                  <c:v>100</c:v>
                </c:pt>
                <c:pt idx="13">
                  <c:v>100</c:v>
                </c:pt>
                <c:pt idx="14">
                  <c:v>100</c:v>
                </c:pt>
                <c:pt idx="15">
                  <c:v>100</c:v>
                </c:pt>
                <c:pt idx="16">
                  <c:v>100</c:v>
                </c:pt>
                <c:pt idx="17">
                  <c:v>100</c:v>
                </c:pt>
                <c:pt idx="18">
                  <c:v>100</c:v>
                </c:pt>
                <c:pt idx="19">
                  <c:v>100</c:v>
                </c:pt>
                <c:pt idx="20">
                  <c:v>100</c:v>
                </c:pt>
                <c:pt idx="21">
                  <c:v>100</c:v>
                </c:pt>
                <c:pt idx="22">
                  <c:v>100</c:v>
                </c:pt>
                <c:pt idx="23">
                  <c:v>100</c:v>
                </c:pt>
                <c:pt idx="24">
                  <c:v>100</c:v>
                </c:pt>
                <c:pt idx="25">
                  <c:v>100</c:v>
                </c:pt>
                <c:pt idx="26">
                  <c:v>100</c:v>
                </c:pt>
                <c:pt idx="27">
                  <c:v>100</c:v>
                </c:pt>
                <c:pt idx="28">
                  <c:v>100</c:v>
                </c:pt>
                <c:pt idx="29">
                  <c:v>100</c:v>
                </c:pt>
                <c:pt idx="30">
                  <c:v>100</c:v>
                </c:pt>
                <c:pt idx="31">
                  <c:v>100</c:v>
                </c:pt>
                <c:pt idx="32">
                  <c:v>100</c:v>
                </c:pt>
                <c:pt idx="33">
                  <c:v>100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AA6F-4811-B202-4B87D5F6438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647640272"/>
        <c:axId val="647640752"/>
      </c:lineChart>
      <c:catAx>
        <c:axId val="64764027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rgbClr val="C3C2B7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000" b="0" i="0" u="none" strike="noStrike" kern="1200" baseline="0">
                <a:solidFill>
                  <a:srgbClr val="6E6E6E"/>
                </a:solidFill>
                <a:latin typeface="Calibri" panose="020F0502020204030204" pitchFamily="34" charset="0"/>
                <a:ea typeface="+mn-ea"/>
                <a:cs typeface="+mn-cs"/>
              </a:defRPr>
            </a:pPr>
            <a:endParaRPr lang="en-US"/>
          </a:p>
        </c:txPr>
        <c:crossAx val="647640752"/>
        <c:crosses val="autoZero"/>
        <c:auto val="1"/>
        <c:lblAlgn val="ctr"/>
        <c:lblOffset val="100"/>
        <c:tickLblSkip val="1"/>
        <c:tickMarkSkip val="4"/>
        <c:noMultiLvlLbl val="0"/>
      </c:catAx>
      <c:valAx>
        <c:axId val="647640752"/>
        <c:scaling>
          <c:orientation val="minMax"/>
          <c:max val="170"/>
          <c:min val="70"/>
        </c:scaling>
        <c:delete val="0"/>
        <c:axPos val="l"/>
        <c:majorGridlines>
          <c:spPr>
            <a:ln w="9525" cap="flat" cmpd="sng" algn="ctr">
              <a:solidFill>
                <a:srgbClr val="E1E0D9"/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  <a:extLst>
            <a:ext uri="{91240B29-F687-4F45-9708-019B960494DF}">
              <a14:hiddenLine xmlns:a14="http://schemas.microsoft.com/office/drawing/2010/main">
                <a:noFill/>
              </a14:hiddenLine>
            </a:ext>
          </a:extLst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rgbClr val="6E6E6E"/>
                </a:solidFill>
                <a:latin typeface="Calibri" panose="020F0502020204030204" pitchFamily="34" charset="0"/>
                <a:ea typeface="+mn-ea"/>
                <a:cs typeface="+mn-cs"/>
              </a:defRPr>
            </a:pPr>
            <a:endParaRPr lang="en-US"/>
          </a:p>
        </c:txPr>
        <c:crossAx val="647640272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t"/>
      <c:legendEntry>
        <c:idx val="4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00" b="0" i="0" u="none" strike="noStrike" kern="1200" baseline="0">
              <a:solidFill>
                <a:srgbClr val="2B2B2B"/>
              </a:solidFill>
              <a:latin typeface="Calibri" panose="020F0502020204030204" pitchFamily="34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  <a:extLst>
      <a:ext uri="{91240B29-F687-4F45-9708-019B960494DF}">
        <a14:hiddenLine xmlns:a14="http://schemas.microsoft.com/office/drawing/2010/main">
          <a:noFill/>
        </a14:hiddenLine>
      </a:ext>
    </a:extLst>
  </c:spPr>
  <c:txPr>
    <a:bodyPr/>
    <a:lstStyle/>
    <a:p>
      <a:pPr>
        <a:defRPr>
          <a:latin typeface="Calibri" panose="020F0502020204030204" pitchFamily="34" charset="0"/>
        </a:defRPr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600200"/>
            <a:ext cx="10332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7E8D1"/>
                </a:solidFill>
                <a:latin typeface="Calibri"/>
              </a:rPr>
              <a:t>TRABAJO PRÁCTICO · INSTANCIA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48840"/>
            <a:ext cx="1033272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Cambria"/>
              </a:rPr>
              <a:t>Precio de las viviendas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Cambria"/>
              </a:rPr>
              <a:t>en alquiler en CABA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931920"/>
            <a:ext cx="10332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E7E8D1"/>
                </a:solidFill>
                <a:latin typeface="Calibri"/>
              </a:rPr>
              <a:t>Análisis exploratorio de datos · 2018 –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74920"/>
            <a:ext cx="59436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Ciencia de Datos para Economía y Negocios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7E8D1"/>
                </a:solidFill>
                <a:latin typeface="Calibri"/>
              </a:rPr>
              <a:t>Facultad de Ciencias Económicas — UBA · 2° cuatrimestre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5074920"/>
            <a:ext cx="393192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Integrantes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0" i="0">
                <a:solidFill>
                  <a:srgbClr val="E7E8D1"/>
                </a:solidFill>
                <a:latin typeface="Calibri"/>
              </a:rPr>
              <a:t>- Ignacio Garcia Carzoglio N°R: 916884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0" i="0">
                <a:solidFill>
                  <a:srgbClr val="E7E8D1"/>
                </a:solidFill>
                <a:latin typeface="Calibri"/>
              </a:rPr>
              <a:t>- Joaquín Martínez N°R: 917415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0" i="0">
                <a:solidFill>
                  <a:srgbClr val="E7E8D1"/>
                </a:solidFill>
                <a:latin typeface="Calibri"/>
              </a:rPr>
              <a:t>- Tomás Bendersky N°R: 910884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2918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85042"/>
                </a:solidFill>
                <a:latin typeface="Calibri"/>
              </a:rPr>
              <a:t>1. PRESENTACIÓN DE LA BASE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6424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2B2B2B"/>
                </a:solidFill>
                <a:latin typeface="Cambria"/>
              </a:rPr>
              <a:t>¿Qué datos tenemos?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638251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E6E6E"/>
                </a:solidFill>
                <a:latin typeface="Calibr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6400800" cy="4663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400" b="1">
                <a:solidFill>
                  <a:srgbClr val="B85042"/>
                </a:solidFill>
                <a:latin typeface="Calibri"/>
              </a:rPr>
              <a:t>Nombre. </a:t>
            </a:r>
            <a:r>
              <a:rPr sz="1400" b="0">
                <a:solidFill>
                  <a:srgbClr val="2B2B2B"/>
                </a:solidFill>
                <a:latin typeface="Calibri"/>
              </a:rPr>
              <a:t>Precio promedio de publicación (pesos) de departamentos en alquiler de 1, 2 y 3 ambientes usados, por comuna.</a:t>
            </a:r>
          </a:p>
          <a:p>
            <a:pPr>
              <a:spcAft>
                <a:spcPts val="1400"/>
              </a:spcAft>
            </a:pPr>
            <a:r>
              <a:rPr sz="1400" b="1">
                <a:solidFill>
                  <a:srgbClr val="B85042"/>
                </a:solidFill>
                <a:latin typeface="Calibri"/>
              </a:rPr>
              <a:t>Fuente. </a:t>
            </a:r>
            <a:r>
              <a:rPr sz="1400" b="0">
                <a:solidFill>
                  <a:srgbClr val="2B2B2B"/>
                </a:solidFill>
                <a:latin typeface="Calibri"/>
              </a:rPr>
              <a:t>Instituto de Estadística y Censos de la Ciudad Autónoma de Buenos Aires (GCBA), sobre la base de datos de Argenprop.</a:t>
            </a:r>
          </a:p>
          <a:p>
            <a:pPr>
              <a:spcAft>
                <a:spcPts val="1400"/>
              </a:spcAft>
            </a:pPr>
            <a:r>
              <a:rPr sz="1400" b="1">
                <a:solidFill>
                  <a:srgbClr val="B85042"/>
                </a:solidFill>
                <a:latin typeface="Calibri"/>
              </a:rPr>
              <a:t>Qué representa. </a:t>
            </a:r>
            <a:r>
              <a:rPr sz="1400" b="0">
                <a:solidFill>
                  <a:srgbClr val="2B2B2B"/>
                </a:solidFill>
                <a:latin typeface="Calibri"/>
              </a:rPr>
              <a:t>La oferta de departamentos publicados en alquiler en la Ciudad. Mide precios de publicación, no los precios efectivamente pactados en los contratos.</a:t>
            </a:r>
          </a:p>
          <a:p>
            <a:pPr>
              <a:spcAft>
                <a:spcPts val="1400"/>
              </a:spcAft>
            </a:pPr>
            <a:r>
              <a:rPr sz="1400" b="1">
                <a:solidFill>
                  <a:srgbClr val="B85042"/>
                </a:solidFill>
                <a:latin typeface="Calibri"/>
              </a:rPr>
              <a:t>Unidad de observación. </a:t>
            </a:r>
            <a:r>
              <a:rPr sz="1400" b="0">
                <a:solidFill>
                  <a:srgbClr val="2B2B2B"/>
                </a:solidFill>
                <a:latin typeface="Calibri"/>
              </a:rPr>
              <a:t>Cada fila es una comuna, para un tipo de departamento, en un trimestre.</a:t>
            </a:r>
          </a:p>
          <a:p>
            <a:pPr>
              <a:spcAft>
                <a:spcPts val="1400"/>
              </a:spcAft>
            </a:pPr>
            <a:r>
              <a:rPr sz="1400" b="1">
                <a:solidFill>
                  <a:srgbClr val="B85042"/>
                </a:solidFill>
                <a:latin typeface="Calibri"/>
              </a:rPr>
              <a:t>Por qué comuna y no barrio. </a:t>
            </a:r>
            <a:r>
              <a:rPr sz="1400" b="0">
                <a:solidFill>
                  <a:srgbClr val="2B2B2B"/>
                </a:solidFill>
                <a:latin typeface="Calibri"/>
              </a:rPr>
              <a:t>La fuente publica las dos desagregaciones, pero a nivel de barrio falta el 62% de los datos y hay 8 barrios sin una sola publicación en ocho años. Por comuna falta el 13%.</a:t>
            </a:r>
          </a:p>
          <a:p>
            <a:pPr>
              <a:spcAft>
                <a:spcPts val="1400"/>
              </a:spcAft>
            </a:pPr>
            <a:r>
              <a:rPr sz="1400" b="1">
                <a:solidFill>
                  <a:srgbClr val="B85042"/>
                </a:solidFill>
                <a:latin typeface="Calibri"/>
              </a:rPr>
              <a:t>Periodicidad. </a:t>
            </a:r>
            <a:r>
              <a:rPr sz="1400" b="0">
                <a:solidFill>
                  <a:srgbClr val="2B2B2B"/>
                </a:solidFill>
                <a:latin typeface="Calibri"/>
              </a:rPr>
              <a:t>Difusión trimestral (la fuente recibe la información mensual).</a:t>
            </a:r>
          </a:p>
          <a:p>
            <a:pPr>
              <a:spcAft>
                <a:spcPts val="0"/>
              </a:spcAft>
            </a:pPr>
            <a:r>
              <a:rPr sz="1400" b="1">
                <a:solidFill>
                  <a:srgbClr val="B85042"/>
                </a:solidFill>
                <a:latin typeface="Calibri"/>
              </a:rPr>
              <a:t>Cómo se mide. </a:t>
            </a:r>
            <a:r>
              <a:rPr sz="1400" b="0">
                <a:solidFill>
                  <a:srgbClr val="2B2B2B"/>
                </a:solidFill>
                <a:latin typeface="Calibri"/>
              </a:rPr>
              <a:t>Alquiler mensual publicado, llevado a una superficie fija (30, 43 y 70 m²). Lo deflactamos con el IPC del INDEC (región GBA) para expresarlo en pesos del 2do trimestre de 2026.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69480" y="1572768"/>
            <a:ext cx="2103120" cy="1371600"/>
          </a:xfrm>
          <a:prstGeom prst="roundRect">
            <a:avLst>
              <a:gd name="adj" fmla="val 6000"/>
            </a:avLst>
          </a:prstGeom>
          <a:solidFill>
            <a:srgbClr val="F2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470648" y="1755648"/>
            <a:ext cx="1700784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B85042"/>
                </a:solidFill>
                <a:latin typeface="Cambria"/>
              </a:rPr>
              <a:t>1.530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2B2B2B"/>
                </a:solidFill>
                <a:latin typeface="Calibri"/>
              </a:rPr>
              <a:t>observaciones
(15 × 3 × 34)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528048" y="1572768"/>
            <a:ext cx="2103120" cy="1371600"/>
          </a:xfrm>
          <a:prstGeom prst="roundRect">
            <a:avLst>
              <a:gd name="adj" fmla="val 6000"/>
            </a:avLst>
          </a:prstGeom>
          <a:solidFill>
            <a:srgbClr val="F2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729216" y="1755648"/>
            <a:ext cx="1700784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B85042"/>
                </a:solidFill>
                <a:latin typeface="Cambria"/>
              </a:rPr>
              <a:t>11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2B2B2B"/>
                </a:solidFill>
                <a:latin typeface="Calibri"/>
              </a:rPr>
              <a:t>variables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69480" y="3154680"/>
            <a:ext cx="2103120" cy="1371600"/>
          </a:xfrm>
          <a:prstGeom prst="roundRect">
            <a:avLst>
              <a:gd name="adj" fmla="val 6000"/>
            </a:avLst>
          </a:prstGeom>
          <a:solidFill>
            <a:srgbClr val="F2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70648" y="3337560"/>
            <a:ext cx="1700784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B85042"/>
                </a:solidFill>
                <a:latin typeface="Cambria"/>
              </a:rPr>
              <a:t>15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2B2B2B"/>
                </a:solidFill>
                <a:latin typeface="Calibri"/>
              </a:rPr>
              <a:t>comunas de
la Ciudad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28048" y="3154680"/>
            <a:ext cx="2103120" cy="1371600"/>
          </a:xfrm>
          <a:prstGeom prst="roundRect">
            <a:avLst>
              <a:gd name="adj" fmla="val 6000"/>
            </a:avLst>
          </a:prstGeom>
          <a:solidFill>
            <a:srgbClr val="F2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729216" y="3337560"/>
            <a:ext cx="1700784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B85042"/>
                </a:solidFill>
                <a:latin typeface="Cambria"/>
              </a:rPr>
              <a:t>34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2B2B2B"/>
                </a:solidFill>
                <a:latin typeface="Calibri"/>
              </a:rPr>
              <a:t>trimestres
2018 a 2026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69480" y="4892040"/>
            <a:ext cx="4361688" cy="572262"/>
          </a:xfrm>
          <a:prstGeom prst="roundRect">
            <a:avLst>
              <a:gd name="adj" fmla="val 6000"/>
            </a:avLst>
          </a:prstGeom>
          <a:solidFill>
            <a:srgbClr val="E7E8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52360" y="5029200"/>
            <a:ext cx="3995927" cy="2979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2B2B2B"/>
                </a:solidFill>
                <a:latin typeface="Calibri"/>
              </a:rPr>
              <a:t>Período: 1er trimestre de 2018 – 2do trimestre de 2026. Los últimos cuatro trimestres son datos provisorios.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2918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85042"/>
                </a:solidFill>
                <a:latin typeface="Calibri"/>
              </a:rPr>
              <a:t>1. PRESENTACIÓN DE LA BASE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6424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2B2B2B"/>
                </a:solidFill>
                <a:latin typeface="Cambria"/>
              </a:rPr>
              <a:t>¿Cómo están estructurados?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638251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E6E6E"/>
                </a:solidFill>
                <a:latin typeface="Calibr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554480"/>
            <a:ext cx="5394960" cy="3200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2B2B2B"/>
                </a:solidFill>
                <a:latin typeface="Cambria"/>
              </a:rPr>
              <a:t>Del cuadro original a la base de análisis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La fuente publica tres cuadros de Excel separados —uno por tipo de departamento— en formato ancho: las comunas en las filas y los 34 trimestres desplegados en las columnas.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Los pasamos a formato largo, los unimos en una sola base y separamos la fila «Total», que no es una comuna. Después deflactamos los precios con el IPC para poder comparar años distintos.</a:t>
            </a:r>
          </a:p>
          <a:p>
            <a:pPr>
              <a:spcAft>
                <a:spcPts val="0"/>
              </a:spcAft>
            </a:pPr>
            <a:r>
              <a:rPr sz="1300" b="1">
                <a:solidFill>
                  <a:srgbClr val="2B2B2B"/>
                </a:solidFill>
                <a:latin typeface="Calibri"/>
              </a:rPr>
              <a:t>El código «///» del Excel es el dato faltante</a:t>
            </a:r>
            <a:r>
              <a:rPr sz="1300" b="0">
                <a:solidFill>
                  <a:srgbClr val="2B2B2B"/>
                </a:solidFill>
                <a:latin typeface="Calibri"/>
              </a:rPr>
              <a:t>: la fuente solo publica las comunas que alcanzan una cantidad mínima de unidades ofertadas.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55080" y="1572768"/>
            <a:ext cx="4937760" cy="896112"/>
          </a:xfrm>
          <a:prstGeom prst="roundRect">
            <a:avLst>
              <a:gd name="adj" fmla="val 6000"/>
            </a:avLst>
          </a:prstGeom>
          <a:solidFill>
            <a:srgbClr val="F2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0" y="1719072"/>
            <a:ext cx="4206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B85042"/>
                </a:solidFill>
                <a:latin typeface="Cambria"/>
              </a:rPr>
              <a:t>3 archivos .xlsx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2B2B2B"/>
                </a:solidFill>
                <a:latin typeface="Calibri"/>
              </a:rPr>
              <a:t>formato ancho · 15 filas × 34 columnas</a:t>
            </a:r>
          </a:p>
        </p:txBody>
      </p:sp>
      <p:sp>
        <p:nvSpPr>
          <p:cNvPr id="8" name="Oval 7"/>
          <p:cNvSpPr/>
          <p:nvPr/>
        </p:nvSpPr>
        <p:spPr>
          <a:xfrm>
            <a:off x="6519672" y="1865376"/>
            <a:ext cx="310896" cy="310896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2651760"/>
            <a:ext cx="4937760" cy="896112"/>
          </a:xfrm>
          <a:prstGeom prst="roundRect">
            <a:avLst>
              <a:gd name="adj" fmla="val 6000"/>
            </a:avLst>
          </a:prstGeom>
          <a:solidFill>
            <a:srgbClr val="F2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0" y="2798064"/>
            <a:ext cx="4206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B85042"/>
                </a:solidFill>
                <a:latin typeface="Cambria"/>
              </a:rPr>
              <a:t>Formato largo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2B2B2B"/>
                </a:solidFill>
                <a:latin typeface="Calibri"/>
              </a:rPr>
              <a:t>una fila por observación</a:t>
            </a:r>
          </a:p>
        </p:txBody>
      </p:sp>
      <p:sp>
        <p:nvSpPr>
          <p:cNvPr id="11" name="Oval 10"/>
          <p:cNvSpPr/>
          <p:nvPr/>
        </p:nvSpPr>
        <p:spPr>
          <a:xfrm>
            <a:off x="6519672" y="2944368"/>
            <a:ext cx="310896" cy="310896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5080" y="3730752"/>
            <a:ext cx="4937760" cy="896112"/>
          </a:xfrm>
          <a:prstGeom prst="roundRect">
            <a:avLst>
              <a:gd name="adj" fmla="val 6000"/>
            </a:avLst>
          </a:prstGeom>
          <a:solidFill>
            <a:srgbClr val="F2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0" y="3877056"/>
            <a:ext cx="4206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B85042"/>
                </a:solidFill>
                <a:latin typeface="Cambria"/>
              </a:rPr>
              <a:t>Deflactado con el IPC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2B2B2B"/>
                </a:solidFill>
                <a:latin typeface="Calibri"/>
              </a:rPr>
              <a:t>pesos constantes del 2do trimestre de 2026</a:t>
            </a:r>
          </a:p>
        </p:txBody>
      </p:sp>
      <p:sp>
        <p:nvSpPr>
          <p:cNvPr id="14" name="Oval 13"/>
          <p:cNvSpPr/>
          <p:nvPr/>
        </p:nvSpPr>
        <p:spPr>
          <a:xfrm>
            <a:off x="6519672" y="4023360"/>
            <a:ext cx="310896" cy="310896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4809744"/>
            <a:ext cx="4937760" cy="896112"/>
          </a:xfrm>
          <a:prstGeom prst="roundRect">
            <a:avLst>
              <a:gd name="adj" fmla="val 6000"/>
            </a:avLst>
          </a:prstGeom>
          <a:solidFill>
            <a:srgbClr val="E7E8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0" y="4956048"/>
            <a:ext cx="4206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B85042"/>
                </a:solidFill>
                <a:latin typeface="Cambria"/>
              </a:rPr>
              <a:t>Base de análisis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2B2B2B"/>
                </a:solidFill>
                <a:latin typeface="Calibri"/>
              </a:rPr>
              <a:t>1.530 filas · 11 variables</a:t>
            </a:r>
          </a:p>
        </p:txBody>
      </p:sp>
      <p:sp>
        <p:nvSpPr>
          <p:cNvPr id="17" name="Oval 16"/>
          <p:cNvSpPr/>
          <p:nvPr/>
        </p:nvSpPr>
        <p:spPr>
          <a:xfrm>
            <a:off x="6519672" y="5102352"/>
            <a:ext cx="310896" cy="310896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919472"/>
            <a:ext cx="53949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B2B2B"/>
                </a:solidFill>
                <a:latin typeface="Calibri"/>
              </a:rPr>
              <a:t>Algunas filas de la base final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566928" y="5230368"/>
          <a:ext cx="5394960" cy="11155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comuna</a:t>
                      </a:r>
                    </a:p>
                  </a:txBody>
                  <a:tcPr marL="73152" marR="73152" marT="18288" marB="18288" anchor="ctr"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ambientes</a:t>
                      </a:r>
                    </a:p>
                  </a:txBody>
                  <a:tcPr marL="73152" marR="73152" marT="18288" marB="18288" anchor="ctr"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periodo</a:t>
                      </a:r>
                    </a:p>
                  </a:txBody>
                  <a:tcPr marL="73152" marR="73152" marT="18288" marB="18288" anchor="ctr"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precio_corriente</a:t>
                      </a:r>
                    </a:p>
                  </a:txBody>
                  <a:tcPr marL="73152" marR="73152" marT="18288" marB="18288" anchor="ctr"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precio_real</a:t>
                      </a:r>
                    </a:p>
                  </a:txBody>
                  <a:tcPr marL="73152" marR="73152" marT="18288" marB="18288" anchor="ctr">
                    <a:solidFill>
                      <a:srgbClr val="B850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2 ambientes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2018-T1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12.152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1.080.271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2 ambientes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2026-T2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839.053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839.053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2 ambientes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2026-T2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s/d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s/d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2918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85042"/>
                </a:solidFill>
                <a:latin typeface="Calibri"/>
              </a:rPr>
              <a:t>2. DESCRIPCIÓN DE LAS VARIABLES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6424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2B2B2B"/>
                </a:solidFill>
                <a:latin typeface="Cambria"/>
              </a:rPr>
              <a:t>Las 11 variables de la base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638251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E6E6E"/>
                </a:solidFill>
                <a:latin typeface="Calibri"/>
              </a:rPr>
              <a:t>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517904"/>
          <a:ext cx="11064240" cy="39684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60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Variable</a:t>
                      </a:r>
                    </a:p>
                  </a:txBody>
                  <a:tcPr marL="73152" marR="73152" marT="18288" marB="18288" anchor="ctr"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Qué representa</a:t>
                      </a:r>
                    </a:p>
                  </a:txBody>
                  <a:tcPr marL="73152" marR="73152" marT="18288" marB="18288" anchor="ctr"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 marL="73152" marR="73152" marT="18288" marB="18288" anchor="ctr"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Nulos</a:t>
                      </a:r>
                    </a:p>
                  </a:txBody>
                  <a:tcPr marL="73152" marR="73152" marT="18288" marB="18288" anchor="ctr">
                    <a:solidFill>
                      <a:srgbClr val="B850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comuna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Comuna de la Ciudad (1 a 15)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Categórica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zona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Agrupamiento de comunas: Norte, Centro, Oeste, Sur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Categórica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ambientes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Tipo de departamento: 1, 2 o 3 ambientes (usados)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Categórica ordinal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superficie_m2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Superficie de referencia: 30, 43 o 70 m²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Numérica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anio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Año del dato (2018 a 2026)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Temporal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trimestre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Trimestre del año (1 a 4)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Temporal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periodo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Etiqueta año-trimestre, por ejemplo 2018-T1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Temporal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precio_corriente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Alquiler mensual promedio publicado, en pesos corrientes (dato original)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Numérica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199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precio_real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Alquiler mensual en pesos constantes de 2026-T2 (deflactado por IPC)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Numérica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199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precio_m2_real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Precio real por metro cuadrado (precio_real ÷ superficie)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Numérica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199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precio_relativo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Precio de la comuna como % del promedio de la Ciudad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Numérica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199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5669280"/>
            <a:ext cx="11064240" cy="572262"/>
          </a:xfrm>
          <a:prstGeom prst="roundRect">
            <a:avLst>
              <a:gd name="adj" fmla="val 6000"/>
            </a:avLst>
          </a:prstGeom>
          <a:solidFill>
            <a:srgbClr val="E7E8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49808" y="5806440"/>
            <a:ext cx="10698480" cy="2979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2B2B2B"/>
                </a:solidFill>
                <a:latin typeface="Calibri"/>
              </a:rPr>
              <a:t>Las tres últimas son derivadas: precio_real sale de deflactar precio_corriente con el IPC, y precio_m2_real y precio_relativo se calculan a partir de los precios. Los 199 nulos (13%) son siempre los mismos: cuando no hay precio publicado, tampoco hay ninguna derivada.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2918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85042"/>
                </a:solidFill>
                <a:latin typeface="Calibri"/>
              </a:rPr>
              <a:t>3. EXPLORACIÓN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6424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2B2B2B"/>
                </a:solidFill>
                <a:latin typeface="Cambria"/>
              </a:rPr>
              <a:t>Los datos faltantes no son aleatorios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638251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E6E6E"/>
                </a:solidFill>
                <a:latin typeface="Calibri"/>
              </a:rPr>
              <a:t>5</a:t>
            </a:r>
          </a:p>
        </p:txBody>
      </p:sp>
      <p:pic>
        <p:nvPicPr>
          <p:cNvPr id="5" name="Picture 4" descr="g01_faltantes_por_comu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54480"/>
            <a:ext cx="6675120" cy="445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89520" y="1600200"/>
            <a:ext cx="4114800" cy="3108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350" b="1">
                <a:solidFill>
                  <a:srgbClr val="2B2B2B"/>
                </a:solidFill>
                <a:latin typeface="Calibri"/>
              </a:rPr>
              <a:t>199 de las 1.530 observaciones (13%) no tienen precio publicado</a:t>
            </a:r>
            <a:r>
              <a:rPr sz="1350" b="0">
                <a:solidFill>
                  <a:srgbClr val="2B2B2B"/>
                </a:solidFill>
                <a:latin typeface="Calibri"/>
              </a:rPr>
              <a:t>, y se concentran casi por completo en el sur de la Ciudad.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0" i="0">
                <a:solidFill>
                  <a:srgbClr val="2B2B2B"/>
                </a:solidFill>
                <a:latin typeface="Calibri"/>
              </a:rPr>
              <a:t>La Comuna 8 (Villa Soldati, Lugano y Riachuelo) no tiene dato en el 97% de los trimestres. Le siguen la Comuna 9 (49%) y la Comuna 4 (33%).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2B2B2B"/>
                </a:solidFill>
                <a:latin typeface="Calibri"/>
              </a:rPr>
              <a:t>La fuente solo publica las comunas que superan un mínimo de unidades ofertadas. El faltante es, entonces, información sobre el propio mercado: donde no hay oferta formal publicada, no hay dato.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589520" y="4892040"/>
          <a:ext cx="4114800" cy="15179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Zona</a:t>
                      </a:r>
                    </a:p>
                  </a:txBody>
                  <a:tcPr marL="73152" marR="73152" marT="18288" marB="18288" anchor="ctr"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Obs.</a:t>
                      </a:r>
                    </a:p>
                  </a:txBody>
                  <a:tcPr marL="73152" marR="73152" marT="18288" marB="18288" anchor="ctr"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Faltantes</a:t>
                      </a:r>
                    </a:p>
                  </a:txBody>
                  <a:tcPr marL="73152" marR="73152" marT="18288" marB="18288" anchor="ctr"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 marL="73152" marR="73152" marT="18288" marB="18288" anchor="ctr">
                    <a:solidFill>
                      <a:srgbClr val="B850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Norte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306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0,3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Centro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510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0,2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Oeste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306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4,2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Sur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408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184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45,1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2918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85042"/>
                </a:solidFill>
                <a:latin typeface="Calibri"/>
              </a:rPr>
              <a:t>3. EXPLORACIÓN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6424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2B2B2B"/>
                </a:solidFill>
                <a:latin typeface="Cambria"/>
              </a:rPr>
              <a:t>Estadísticas descriptivas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638251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E6E6E"/>
                </a:solidFill>
                <a:latin typeface="Calibr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50876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2B2B"/>
                </a:solidFill>
                <a:latin typeface="Calibri"/>
              </a:rPr>
              <a:t>Precio del alquiler mensual por comuna — 2do trimestre de 2026 (en pesos)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74519"/>
          <a:ext cx="10378440" cy="15727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 marL="73152" marR="73152" marT="18288" marB="18288" anchor="ctr"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 marL="73152" marR="73152" marT="18288" marB="18288" anchor="ctr"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Media</a:t>
                      </a:r>
                    </a:p>
                  </a:txBody>
                  <a:tcPr marL="73152" marR="73152" marT="18288" marB="18288" anchor="ctr"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Mediana</a:t>
                      </a:r>
                    </a:p>
                  </a:txBody>
                  <a:tcPr marL="73152" marR="73152" marT="18288" marB="18288" anchor="ctr"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Desvío</a:t>
                      </a:r>
                    </a:p>
                  </a:txBody>
                  <a:tcPr marL="73152" marR="73152" marT="18288" marB="18288" anchor="ctr"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CV</a:t>
                      </a:r>
                    </a:p>
                  </a:txBody>
                  <a:tcPr marL="73152" marR="73152" marT="18288" marB="18288" anchor="ctr"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Mínimo</a:t>
                      </a:r>
                    </a:p>
                  </a:txBody>
                  <a:tcPr marL="73152" marR="73152" marT="18288" marB="18288" anchor="ctr"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Máximo</a:t>
                      </a:r>
                    </a:p>
                  </a:txBody>
                  <a:tcPr marL="73152" marR="73152" marT="18288" marB="18288" anchor="ctr"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Media $/m²</a:t>
                      </a:r>
                    </a:p>
                  </a:txBody>
                  <a:tcPr marL="73152" marR="73152" marT="18288" marB="18288" anchor="ctr">
                    <a:solidFill>
                      <a:srgbClr val="B850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1 ambiente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550.857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550.768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40.637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0,07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478.861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613.037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18.362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2 ambientes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743.316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722.921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62.321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0,08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649.494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839.053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17.286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3 ambientes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1.131.754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1.133.663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147.851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0,13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887.518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1.373.145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16.168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63931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6E6E6E"/>
                </a:solidFill>
                <a:latin typeface="Calibri"/>
              </a:rPr>
              <a:t>n = comunas con dato. La Comuna 8 solo aparece en 3 ambientes; en 1 y 2 ambientes no tiene dato.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4069080"/>
            <a:ext cx="3520440" cy="1417320"/>
          </a:xfrm>
          <a:prstGeom prst="roundRect">
            <a:avLst>
              <a:gd name="adj" fmla="val 6000"/>
            </a:avLst>
          </a:prstGeom>
          <a:solidFill>
            <a:srgbClr val="F2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68096" y="4251960"/>
            <a:ext cx="3118104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B85042"/>
                </a:solidFill>
                <a:latin typeface="Cambria"/>
              </a:rPr>
              <a:t>−16 %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2B2B2B"/>
                </a:solidFill>
                <a:latin typeface="Calibri"/>
              </a:rPr>
              <a:t>variación real del alquiler de un 2 amb.
entre 2018-T1 y 2026-T2 (nominal: ×74)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4069080"/>
            <a:ext cx="3520440" cy="1417320"/>
          </a:xfrm>
          <a:prstGeom prst="roundRect">
            <a:avLst>
              <a:gd name="adj" fmla="val 6000"/>
            </a:avLst>
          </a:prstGeom>
          <a:solidFill>
            <a:srgbClr val="F2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26280" y="4224528"/>
            <a:ext cx="31181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85042"/>
                </a:solidFill>
                <a:latin typeface="Cambria"/>
              </a:rPr>
              <a:t>Alquiler promedio · 2026-T2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4553712"/>
            <a:ext cx="13716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1 ambiente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06440" y="4553712"/>
            <a:ext cx="1837943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2B2B"/>
                </a:solidFill>
                <a:latin typeface="Calibri"/>
              </a:rPr>
              <a:t>$ 550.857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4818888"/>
            <a:ext cx="13716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2 ambientes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06440" y="4818888"/>
            <a:ext cx="1837943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2B2B"/>
                </a:solidFill>
                <a:latin typeface="Calibri"/>
              </a:rPr>
              <a:t>$ 743.316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0" y="5084064"/>
            <a:ext cx="13716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3 ambientes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06440" y="5084064"/>
            <a:ext cx="1837943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2B2B"/>
                </a:solidFill>
                <a:latin typeface="Calibri"/>
              </a:rPr>
              <a:t>$ 1.131.754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83296" y="4069080"/>
            <a:ext cx="3547872" cy="1417320"/>
          </a:xfrm>
          <a:prstGeom prst="roundRect">
            <a:avLst>
              <a:gd name="adj" fmla="val 6000"/>
            </a:avLst>
          </a:prstGeom>
          <a:solidFill>
            <a:srgbClr val="E7E8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84464" y="4251960"/>
            <a:ext cx="3145536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B85042"/>
                </a:solidFill>
                <a:latin typeface="Cambria"/>
              </a:rPr>
              <a:t>0,07 – 0,13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2B2B2B"/>
                </a:solidFill>
                <a:latin typeface="Calibri"/>
              </a:rPr>
              <a:t>coeficiente de variación entre comunas
dentro de un mismo trimestre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669280"/>
            <a:ext cx="11064240" cy="572262"/>
          </a:xfrm>
          <a:prstGeom prst="roundRect">
            <a:avLst>
              <a:gd name="adj" fmla="val 6000"/>
            </a:avLst>
          </a:prstGeom>
          <a:solidFill>
            <a:srgbClr val="E7E8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49808" y="5806440"/>
            <a:ext cx="10698480" cy="2979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2B2B2B"/>
                </a:solidFill>
                <a:latin typeface="Calibri"/>
              </a:rPr>
              <a:t>2026-T2 es el trimestre base de la deflactación: en él, precio corriente y precio real coinciden. Sobre la serie completa, en pesos corrientes la media es 3,83 veces la mediana; en pesos constantes, 1,11 veces. Casi toda la asimetría era inflación.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2918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85042"/>
                </a:solidFill>
                <a:latin typeface="Calibri"/>
              </a:rPr>
              <a:t>3. EXPLORACIÓN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6424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2B2B2B"/>
                </a:solidFill>
                <a:latin typeface="Cambria"/>
              </a:rPr>
              <a:t>Estadísticas descriptivas por comuna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638251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E6E6E"/>
                </a:solidFill>
                <a:latin typeface="Calibr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99616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B2B2B"/>
                </a:solidFill>
                <a:latin typeface="Calibri"/>
              </a:rPr>
              <a:t>Precio relativo de cada comuna respecto del promedio de la Ciudad (Ciudad = 100), 2018-2026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83664"/>
          <a:ext cx="11064240" cy="40507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Comuna</a:t>
                      </a:r>
                    </a:p>
                  </a:txBody>
                  <a:tcPr marL="73152" marR="73152" marT="18288" marB="18288" anchor="ctr"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Zona</a:t>
                      </a:r>
                    </a:p>
                  </a:txBody>
                  <a:tcPr marL="73152" marR="73152" marT="18288" marB="18288" anchor="ctr"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Obs.</a:t>
                      </a:r>
                    </a:p>
                  </a:txBody>
                  <a:tcPr marL="73152" marR="73152" marT="18288" marB="18288" anchor="ctr"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Nulos</a:t>
                      </a:r>
                    </a:p>
                  </a:txBody>
                  <a:tcPr marL="73152" marR="73152" marT="18288" marB="18288" anchor="ctr"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Media</a:t>
                      </a:r>
                    </a:p>
                  </a:txBody>
                  <a:tcPr marL="73152" marR="73152" marT="18288" marB="18288" anchor="ctr"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Mediana</a:t>
                      </a:r>
                    </a:p>
                  </a:txBody>
                  <a:tcPr marL="73152" marR="73152" marT="18288" marB="18288" anchor="ctr"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Desvío</a:t>
                      </a:r>
                    </a:p>
                  </a:txBody>
                  <a:tcPr marL="73152" marR="73152" marT="18288" marB="18288" anchor="ctr"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Mín</a:t>
                      </a:r>
                    </a:p>
                  </a:txBody>
                  <a:tcPr marL="73152" marR="73152" marT="18288" marB="18288" anchor="ctr"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Máx</a:t>
                      </a:r>
                    </a:p>
                  </a:txBody>
                  <a:tcPr marL="73152" marR="73152" marT="18288" marB="18288" anchor="ctr"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 amb. 2026-T2</a:t>
                      </a:r>
                    </a:p>
                  </a:txBody>
                  <a:tcPr marL="73152" marR="73152" marT="18288" marB="18288" anchor="ctr">
                    <a:solidFill>
                      <a:srgbClr val="B850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Norte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114,2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113,2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6,0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106,7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142,1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$ 839.053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Norte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101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110,5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109,4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5,0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103,4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134,8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$ 833.491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Norte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106,8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105,7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6,4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96,3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129,8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$ 800.626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Oeste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105,9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105,2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6,4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94,5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123,2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$ 810.740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Centro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101,8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101,5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4,1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93,9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116,7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$ 791.520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Centro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98,7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98,8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3,6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91,0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111,5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$ 767.392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Centro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97,6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97,2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4,1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85,7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120,3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$ 728.541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Centro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94,7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92,9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6,2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82,4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111,9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$ 702.922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Oeste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94,6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94,4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4,8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84,9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105,8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$ 717.302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Sur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101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91,0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90,7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4,3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77,3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107,4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$ 684.567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Centro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101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89,6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89,2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4,0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82,4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104,5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$ 681.859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Oeste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91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88,4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88,8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5,6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74,1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105,3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$ 704.743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Sur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85,1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84,9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4,4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72,1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95,6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$ 649.494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Sur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52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84,1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84,0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5,9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74,3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98,5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$ 694.176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Sur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99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74,0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75,6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8,9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64,4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82,0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s/d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6071616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6E6E6E"/>
                </a:solidFill>
                <a:latin typeface="Calibri"/>
              </a:rPr>
              <a:t>Obs. = trimestres con dato publicado, sobre un máximo de 102 (34 trimestres × 3 tipos). Última columna: alquiler mensual de un 2 ambientes en el 2do trimestre de 2026, en pesos.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2918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85042"/>
                </a:solidFill>
                <a:latin typeface="Calibri"/>
              </a:rPr>
              <a:t>3. EXPLORACIÓN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6424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2B2B2B"/>
                </a:solidFill>
                <a:latin typeface="Cambria"/>
              </a:rPr>
              <a:t>Corregimos los precios por inflación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638251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E6E6E"/>
                </a:solidFill>
                <a:latin typeface="Calibri"/>
              </a:rPr>
              <a:t>8</a:t>
            </a:r>
          </a:p>
        </p:txBody>
      </p:sp>
      <p:pic>
        <p:nvPicPr>
          <p:cNvPr id="5" name="Picture 4" descr="g02_histogramas_prec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481328"/>
            <a:ext cx="10607040" cy="359007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5230368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B85042"/>
                </a:solidFill>
                <a:latin typeface="Cambria"/>
              </a:rPr>
              <a:t>El problema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2B2B2B"/>
                </a:solidFill>
                <a:latin typeface="Calibri"/>
              </a:rPr>
              <a:t>En pesos corrientes, las observaciones de 2018-2021 se apilan contra el cero y la media es 3,8 veces la mediana. El histograma muestra la inflación, no el mercado.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5230368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B85042"/>
                </a:solidFill>
                <a:latin typeface="Cambria"/>
              </a:rPr>
              <a:t>Cómo lo resolvemos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2B2B2B"/>
                </a:solidFill>
                <a:latin typeface="Calibri"/>
              </a:rPr>
              <a:t>Deflactamos con el IPC del INDEC (región GBA), a pesos de 2026-T2: </a:t>
            </a:r>
            <a:r>
              <a:rPr sz="1250" b="1">
                <a:solidFill>
                  <a:srgbClr val="2B2B2B"/>
                </a:solidFill>
                <a:latin typeface="Calibri"/>
              </a:rPr>
              <a:t>precio real = precio corriente × IPC base ÷ IPC del trimestre</a:t>
            </a:r>
            <a:r>
              <a:rPr sz="1250" b="0">
                <a:solidFill>
                  <a:srgbClr val="2B2B2B"/>
                </a:solidFill>
                <a:latin typeface="Calibri"/>
              </a:rPr>
              <a:t>. Ahora la media es 1,1 veces la mediana.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2918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85042"/>
                </a:solidFill>
                <a:latin typeface="Calibri"/>
              </a:rPr>
              <a:t>4. PRIMEROS HALLAZGOS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6424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2B2B2B"/>
                </a:solidFill>
                <a:latin typeface="Cambria"/>
              </a:rPr>
              <a:t>Hay una jerarquía espacial estable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638251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E6E6E"/>
                </a:solidFill>
                <a:latin typeface="Calibri"/>
              </a:rPr>
              <a:t>9</a:t>
            </a:r>
          </a:p>
        </p:txBody>
      </p:sp>
      <p:pic>
        <p:nvPicPr>
          <p:cNvPr id="5" name="Picture 4" descr="g04_boxplot_precio_relativo_comu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72768"/>
            <a:ext cx="7498079" cy="44988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321040" y="1627632"/>
            <a:ext cx="3337560" cy="3840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350" b="1">
                <a:solidFill>
                  <a:srgbClr val="2B2B2B"/>
                </a:solidFill>
                <a:latin typeface="Calibri"/>
              </a:rPr>
              <a:t>El orden de las comunas casi no cambia en ocho años.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Palermo (14) promedia 114% del valor de la Ciudad y Belgrano (13) 110%. En el otro extremo, las comunas 4 y 9 se ubican en 85% y 84%.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El desvío estándar del precio relativo dentro de cada comuna es de apenas 4 a 6 puntos: las cajas son angostas y casi no se superponen entre los extremos.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La brecha entre el percentil 90 y el 10 se mantiene entre 1,23 y 1,44 todos los años.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21040" y="5486400"/>
            <a:ext cx="3337560" cy="682371"/>
          </a:xfrm>
          <a:prstGeom prst="roundRect">
            <a:avLst>
              <a:gd name="adj" fmla="val 6000"/>
            </a:avLst>
          </a:prstGeom>
          <a:solidFill>
            <a:srgbClr val="E7E8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503919" y="5623560"/>
            <a:ext cx="2971800" cy="4080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2B2B"/>
                </a:solidFill>
                <a:latin typeface="Calibri"/>
              </a:rPr>
              <a:t>El ancho de cada caja es proporcional a la cantidad de datos: por eso la Comuna 8 aparece tan fina.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2918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85042"/>
                </a:solidFill>
                <a:latin typeface="Calibri"/>
              </a:rPr>
              <a:t>4. PRIMEROS HALLAZGOS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6424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2B2B2B"/>
                </a:solidFill>
                <a:latin typeface="Cambria"/>
              </a:rPr>
              <a:t>En términos reales, el alquiler cayó 16% desde 2018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638251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E6E6E"/>
                </a:solidFill>
                <a:latin typeface="Calibri"/>
              </a:rPr>
              <a:t>10</a:t>
            </a:r>
          </a:p>
        </p:txBody>
      </p:sp>
      <p:pic>
        <p:nvPicPr>
          <p:cNvPr id="5" name="Picture 4" descr="g06_precio_m2_por_ti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72768"/>
            <a:ext cx="6492240" cy="43281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98079" y="1627632"/>
            <a:ext cx="4160520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2B2B2B"/>
                </a:solidFill>
                <a:latin typeface="Calibri"/>
              </a:rPr>
              <a:t>Un 2 ambientes costaba $ 913.746 en 2018-T1 medido en pesos de hoy, contra $ 764.485 en 2026-T2. En pesos corrientes se multiplicó por 74, pero el IPC lo hizo por 89.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2B2B2B"/>
                </a:solidFill>
                <a:latin typeface="Calibri"/>
              </a:rPr>
              <a:t>La serie tiene un pico a fines de 2023, cuando se aceleró la inflación, cae fuerte en 2024 y desde entonces está estable.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2B2B2B"/>
                </a:solidFill>
                <a:latin typeface="Calibri"/>
              </a:rPr>
              <a:t>Las tres líneas nunca se cruzan: el m² del monoambiente es siempre el más caro, entre 8% y 21% por encima del de 3 ambientes.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98079" y="4224528"/>
          <a:ext cx="4160520" cy="126187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 marL="73152" marR="73152" marT="18288" marB="18288" anchor="ctr"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$/m² 2018-T1</a:t>
                      </a:r>
                    </a:p>
                  </a:txBody>
                  <a:tcPr marL="73152" marR="73152" marT="18288" marB="18288" anchor="ctr"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$/m² 2026-T2</a:t>
                      </a:r>
                    </a:p>
                  </a:txBody>
                  <a:tcPr marL="73152" marR="73152" marT="18288" marB="18288" anchor="ctr">
                    <a:solidFill>
                      <a:srgbClr val="B850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1 ambiente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22.542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18.855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2 ambientes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21.250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17.779</a:t>
                      </a:r>
                    </a:p>
                  </a:txBody>
                  <a:tcPr marL="73152" marR="73152" marT="18288" marB="18288" anchor="ctr">
                    <a:solidFill>
                      <a:srgbClr val="F2EF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3 ambientes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20.850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Calibri"/>
                        </a:rPr>
                        <a:t>16.776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498079" y="5596128"/>
            <a:ext cx="4160520" cy="546354"/>
          </a:xfrm>
          <a:prstGeom prst="roundRect">
            <a:avLst>
              <a:gd name="adj" fmla="val 6000"/>
            </a:avLst>
          </a:prstGeom>
          <a:solidFill>
            <a:srgbClr val="E7E8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680959" y="5733288"/>
            <a:ext cx="3794759" cy="2720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2B2B"/>
                </a:solidFill>
                <a:latin typeface="Calibri"/>
              </a:rPr>
              <a:t>Todo en pesos constantes de 2026-T2, deflactados con el IPC del INDEC (región GBA).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2918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85042"/>
                </a:solidFill>
                <a:latin typeface="Calibri"/>
              </a:rPr>
              <a:t>4. PRIMEROS HALLAZGOS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6424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 dirty="0" err="1">
                <a:solidFill>
                  <a:srgbClr val="2B2B2B"/>
                </a:solidFill>
                <a:latin typeface="Cambria"/>
              </a:rPr>
              <a:t>Precio</a:t>
            </a:r>
            <a:r>
              <a:rPr sz="2900" b="1" i="0" dirty="0">
                <a:solidFill>
                  <a:srgbClr val="2B2B2B"/>
                </a:solidFill>
                <a:latin typeface="Cambria"/>
              </a:rPr>
              <a:t> </a:t>
            </a:r>
            <a:r>
              <a:rPr sz="2900" b="1" i="0" dirty="0" err="1">
                <a:solidFill>
                  <a:srgbClr val="2B2B2B"/>
                </a:solidFill>
                <a:latin typeface="Cambria"/>
              </a:rPr>
              <a:t>por</a:t>
            </a:r>
            <a:r>
              <a:rPr sz="2900" b="1" i="0" dirty="0">
                <a:solidFill>
                  <a:srgbClr val="2B2B2B"/>
                </a:solidFill>
                <a:latin typeface="Cambria"/>
              </a:rPr>
              <a:t> m² y prima del </a:t>
            </a:r>
            <a:r>
              <a:rPr sz="2900" b="1" i="0" dirty="0" err="1">
                <a:solidFill>
                  <a:srgbClr val="2B2B2B"/>
                </a:solidFill>
                <a:latin typeface="Cambria"/>
              </a:rPr>
              <a:t>monoambiente</a:t>
            </a:r>
            <a:r>
              <a:rPr sz="2900" b="1" i="0" dirty="0">
                <a:solidFill>
                  <a:srgbClr val="2B2B2B"/>
                </a:solidFill>
                <a:latin typeface="Cambria"/>
              </a:rPr>
              <a:t>, </a:t>
            </a:r>
            <a:r>
              <a:rPr sz="2900" b="1" i="0" dirty="0" err="1">
                <a:solidFill>
                  <a:srgbClr val="2B2B2B"/>
                </a:solidFill>
                <a:latin typeface="Cambria"/>
              </a:rPr>
              <a:t>por</a:t>
            </a:r>
            <a:r>
              <a:rPr sz="2900" b="1" i="0" dirty="0">
                <a:solidFill>
                  <a:srgbClr val="2B2B2B"/>
                </a:solidFill>
                <a:latin typeface="Cambria"/>
              </a:rPr>
              <a:t> </a:t>
            </a:r>
            <a:r>
              <a:rPr sz="2900" b="1" i="0" dirty="0" err="1">
                <a:solidFill>
                  <a:srgbClr val="2B2B2B"/>
                </a:solidFill>
                <a:latin typeface="Cambria"/>
              </a:rPr>
              <a:t>comuna</a:t>
            </a:r>
            <a:endParaRPr sz="2900" b="1" i="0" dirty="0">
              <a:solidFill>
                <a:srgbClr val="2B2B2B"/>
              </a:solidFill>
              <a:latin typeface="Cambria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109960" y="638251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E6E6E"/>
                </a:solidFill>
                <a:latin typeface="Calibr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380000"/>
            <a:ext cx="1106424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200" b="1" i="0" dirty="0" err="1">
                <a:solidFill>
                  <a:srgbClr val="2B2B2B"/>
                </a:solidFill>
                <a:latin typeface="Calibri"/>
              </a:rPr>
              <a:t>Alquiler</a:t>
            </a:r>
            <a:r>
              <a:rPr sz="1200" b="1" i="0" dirty="0">
                <a:solidFill>
                  <a:srgbClr val="2B2B2B"/>
                </a:solidFill>
                <a:latin typeface="Calibri"/>
              </a:rPr>
              <a:t> </a:t>
            </a:r>
            <a:r>
              <a:rPr sz="1200" b="1" i="0" dirty="0" err="1">
                <a:solidFill>
                  <a:srgbClr val="2B2B2B"/>
                </a:solidFill>
                <a:latin typeface="Calibri"/>
              </a:rPr>
              <a:t>mensual</a:t>
            </a:r>
            <a:r>
              <a:rPr sz="1200" b="1" i="0" dirty="0">
                <a:solidFill>
                  <a:srgbClr val="2B2B2B"/>
                </a:solidFill>
                <a:latin typeface="Calibri"/>
              </a:rPr>
              <a:t> </a:t>
            </a:r>
            <a:r>
              <a:rPr sz="1200" b="1" i="0" dirty="0" err="1">
                <a:solidFill>
                  <a:srgbClr val="2B2B2B"/>
                </a:solidFill>
                <a:latin typeface="Calibri"/>
              </a:rPr>
              <a:t>por</a:t>
            </a:r>
            <a:r>
              <a:rPr sz="1200" b="1" i="0" dirty="0">
                <a:solidFill>
                  <a:srgbClr val="2B2B2B"/>
                </a:solidFill>
                <a:latin typeface="Calibri"/>
              </a:rPr>
              <a:t> m², </a:t>
            </a:r>
            <a:r>
              <a:rPr sz="1200" b="1" i="0" dirty="0" err="1">
                <a:solidFill>
                  <a:srgbClr val="2B2B2B"/>
                </a:solidFill>
                <a:latin typeface="Calibri"/>
              </a:rPr>
              <a:t>promedio</a:t>
            </a:r>
            <a:r>
              <a:rPr sz="1200" b="1" i="0" dirty="0">
                <a:solidFill>
                  <a:srgbClr val="2B2B2B"/>
                </a:solidFill>
                <a:latin typeface="Calibri"/>
              </a:rPr>
              <a:t> de 2025-T3 a 2026-T2, </a:t>
            </a:r>
            <a:r>
              <a:rPr sz="1200" b="1" i="0" dirty="0" err="1">
                <a:solidFill>
                  <a:srgbClr val="2B2B2B"/>
                </a:solidFill>
                <a:latin typeface="Calibri"/>
              </a:rPr>
              <a:t>en</a:t>
            </a:r>
            <a:r>
              <a:rPr sz="1200" b="1" i="0" dirty="0">
                <a:solidFill>
                  <a:srgbClr val="2B2B2B"/>
                </a:solidFill>
                <a:latin typeface="Calibri"/>
              </a:rPr>
              <a:t> pesos </a:t>
            </a:r>
            <a:r>
              <a:rPr sz="1200" b="1" i="0" dirty="0" err="1">
                <a:solidFill>
                  <a:srgbClr val="2B2B2B"/>
                </a:solidFill>
                <a:latin typeface="Calibri"/>
              </a:rPr>
              <a:t>constantes</a:t>
            </a:r>
            <a:r>
              <a:rPr sz="1200" b="1" i="0" dirty="0">
                <a:solidFill>
                  <a:srgbClr val="2B2B2B"/>
                </a:solidFill>
                <a:latin typeface="Calibri"/>
              </a:rPr>
              <a:t> de 2026-T2</a:t>
            </a:r>
            <a:r>
              <a:rPr lang="es-AR" sz="1200" b="1" i="0" dirty="0">
                <a:solidFill>
                  <a:srgbClr val="2B2B2B"/>
                </a:solidFill>
                <a:latin typeface="Calibri"/>
              </a:rPr>
              <a:t>. </a:t>
            </a:r>
            <a:r>
              <a:rPr lang="en-US" sz="1200" dirty="0"/>
              <a:t>“¿La </a:t>
            </a:r>
            <a:r>
              <a:rPr lang="en-US" sz="1200" dirty="0" err="1"/>
              <a:t>diferencia</a:t>
            </a:r>
            <a:r>
              <a:rPr lang="en-US" sz="1200" dirty="0"/>
              <a:t> de </a:t>
            </a:r>
            <a:r>
              <a:rPr lang="en-US" sz="1200" dirty="0" err="1"/>
              <a:t>precios</a:t>
            </a:r>
            <a:r>
              <a:rPr lang="en-US" sz="1200" dirty="0"/>
              <a:t> entre </a:t>
            </a:r>
            <a:r>
              <a:rPr lang="en-US" sz="1200" dirty="0" err="1"/>
              <a:t>tipos</a:t>
            </a:r>
            <a:r>
              <a:rPr lang="en-US" sz="1200" dirty="0"/>
              <a:t> de </a:t>
            </a:r>
            <a:r>
              <a:rPr lang="en-US" sz="1200" dirty="0" err="1"/>
              <a:t>vivienda</a:t>
            </a:r>
            <a:r>
              <a:rPr lang="en-US" sz="1200" dirty="0"/>
              <a:t> </a:t>
            </a:r>
            <a:r>
              <a:rPr lang="en-US" sz="1200" dirty="0" err="1"/>
              <a:t>por</a:t>
            </a:r>
            <a:r>
              <a:rPr lang="en-US" sz="1200" dirty="0"/>
              <a:t> barrio se </a:t>
            </a:r>
            <a:r>
              <a:rPr lang="en-US" sz="1200" dirty="0" err="1"/>
              <a:t>mantuvo</a:t>
            </a:r>
            <a:r>
              <a:rPr lang="en-US" sz="1200" dirty="0"/>
              <a:t>? ¿Se </a:t>
            </a:r>
            <a:r>
              <a:rPr lang="en-US" sz="1200" dirty="0" err="1"/>
              <a:t>abarataron</a:t>
            </a:r>
            <a:r>
              <a:rPr lang="en-US" sz="1200" dirty="0"/>
              <a:t> las </a:t>
            </a:r>
            <a:r>
              <a:rPr lang="en-US" sz="1200" dirty="0" err="1"/>
              <a:t>grandes</a:t>
            </a:r>
            <a:r>
              <a:rPr lang="en-US" sz="1200" dirty="0"/>
              <a:t> </a:t>
            </a:r>
            <a:r>
              <a:rPr lang="en-US" sz="1200" dirty="0" err="1"/>
              <a:t>en</a:t>
            </a:r>
            <a:r>
              <a:rPr lang="en-US" sz="1200" dirty="0"/>
              <a:t> </a:t>
            </a:r>
            <a:r>
              <a:rPr lang="en-US" sz="1200" dirty="0" err="1"/>
              <a:t>algunos</a:t>
            </a:r>
            <a:r>
              <a:rPr lang="en-US" sz="1200" dirty="0"/>
              <a:t> barrios y no </a:t>
            </a:r>
            <a:r>
              <a:rPr lang="en-US" sz="1200" dirty="0" err="1"/>
              <a:t>en</a:t>
            </a:r>
            <a:r>
              <a:rPr lang="en-US" sz="1200" dirty="0"/>
              <a:t> </a:t>
            </a:r>
            <a:r>
              <a:rPr lang="en-US" sz="1200" dirty="0" err="1"/>
              <a:t>otros</a:t>
            </a:r>
            <a:r>
              <a:rPr lang="en-US" sz="1200" dirty="0"/>
              <a:t>?”</a:t>
            </a:r>
            <a:endParaRPr sz="1200" b="1" i="0" dirty="0">
              <a:solidFill>
                <a:srgbClr val="2B2B2B"/>
              </a:solidFill>
              <a:latin typeface="Calibri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898030"/>
              </p:ext>
            </p:extLst>
          </p:nvPr>
        </p:nvGraphicFramePr>
        <p:xfrm>
          <a:off x="223880" y="1809024"/>
          <a:ext cx="11744240" cy="378022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2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6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6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6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8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80000">
                  <a:extLst>
                    <a:ext uri="{9D8B030D-6E8A-4147-A177-3AD203B41FA5}">
                      <a16:colId xmlns:a16="http://schemas.microsoft.com/office/drawing/2014/main" val="2807770039"/>
                    </a:ext>
                  </a:extLst>
                </a:gridCol>
                <a:gridCol w="680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64240">
                  <a:extLst>
                    <a:ext uri="{9D8B030D-6E8A-4147-A177-3AD203B41FA5}">
                      <a16:colId xmlns:a16="http://schemas.microsoft.com/office/drawing/2014/main" val="1465577740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Comuna</a:t>
                      </a:r>
                    </a:p>
                  </a:txBody>
                  <a:tcPr marL="73152" marR="73152" marT="18288" marB="18288" anchor="ctr"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Zona</a:t>
                      </a:r>
                    </a:p>
                  </a:txBody>
                  <a:tcPr marL="73152" marR="73152" marT="18288" marB="18288" anchor="ctr"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lang="en-US" sz="1000" b="1">
                          <a:solidFill>
                            <a:srgbClr val="FFFFFF"/>
                          </a:solidFill>
                          <a:latin typeface="Calibri"/>
                        </a:rPr>
                        <a:t>1 ambiente</a:t>
                      </a:r>
                    </a:p>
                    <a:p>
                      <a:pPr algn="r">
                        <a:spcAft>
                          <a:spcPts val="0"/>
                        </a:spcAft>
                      </a:pPr>
                      <a:r>
                        <a:rPr lang="en-US" sz="1000" b="1">
                          <a:solidFill>
                            <a:srgbClr val="FFFFFF"/>
                          </a:solidFill>
                          <a:latin typeface="Calibri"/>
                        </a:rPr>
                        <a:t>$/m² – alquiler 30 m²</a:t>
                      </a:r>
                    </a:p>
                  </a:txBody>
                  <a:tcPr marL="73152" marR="73152" marT="18288" marB="18288" anchor="ctr"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 ambientes</a:t>
                      </a:r>
                    </a:p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$/m² – alquiler 43 m²</a:t>
                      </a:r>
                    </a:p>
                  </a:txBody>
                  <a:tcPr marL="73152" marR="73152" marT="18288" marB="18288" anchor="ctr"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3 ambientes</a:t>
                      </a:r>
                    </a:p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$/m² – alquiler 70 m²</a:t>
                      </a:r>
                    </a:p>
                  </a:txBody>
                  <a:tcPr marL="73152" marR="73152" marT="18288" marB="18288" anchor="ctr"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Prima</a:t>
                      </a:r>
                    </a:p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hoy</a:t>
                      </a:r>
                    </a:p>
                  </a:txBody>
                  <a:tcPr marL="73152" marR="73152" marT="18288" marB="18288" anchor="ctr"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Prima</a:t>
                      </a:r>
                    </a:p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2018</a:t>
                      </a:r>
                    </a:p>
                  </a:txBody>
                  <a:tcPr marL="73152" marR="73152" marT="18288" marB="18288" anchor="ctr"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Prima</a:t>
                      </a:r>
                    </a:p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2018</a:t>
                      </a:r>
                    </a:p>
                  </a:txBody>
                  <a:tcPr marL="73152" marR="73152" marT="18288" marB="18288" anchor="ctr"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Cambio</a:t>
                      </a:r>
                    </a:p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(pp)</a:t>
                      </a:r>
                    </a:p>
                  </a:txBody>
                  <a:tcPr marL="73152" marR="73152" marT="18288" marB="18288" anchor="ctr">
                    <a:solidFill>
                      <a:srgbClr val="B850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1</a:t>
                      </a:r>
                      <a:r>
                        <a:rPr sz="800" b="0">
                          <a:solidFill>
                            <a:srgbClr val="6E6E6E"/>
                          </a:solidFill>
                          <a:latin typeface="Calibri"/>
                        </a:rPr>
                        <a:t> (Retiro, San Nicolás, Puerto Madero, San Telmo, Monserrat, Constitución)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Calibri"/>
                        </a:rPr>
                        <a:t>Centro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Calibri"/>
                        </a:rPr>
                        <a:t>17.790 – $ 533.697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Calibri"/>
                        </a:rPr>
                        <a:t>16.447 – $ 707.211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Calibri"/>
                        </a:rPr>
                        <a:t>14.485 – $ 1.013.975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B2B2B"/>
                          </a:solidFill>
                          <a:latin typeface="Calibri"/>
                        </a:rPr>
                        <a:t>+23%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6E6E6E"/>
                          </a:solidFill>
                          <a:latin typeface="Calibri"/>
                        </a:rPr>
                        <a:t>+8%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6E6E6E"/>
                          </a:solidFill>
                          <a:latin typeface="Calibri"/>
                        </a:rPr>
                        <a:t>+8%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D9622B"/>
                          </a:solidFill>
                          <a:latin typeface="Calibri"/>
                        </a:rPr>
                        <a:t>+14,3 pp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3</a:t>
                      </a:r>
                      <a:r>
                        <a:rPr sz="800" b="0">
                          <a:solidFill>
                            <a:srgbClr val="6E6E6E"/>
                          </a:solidFill>
                          <a:latin typeface="Calibri"/>
                        </a:rPr>
                        <a:t> (Balvanera, San Cristóbal)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Calibri"/>
                        </a:rPr>
                        <a:t>Centro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Calibri"/>
                        </a:rPr>
                        <a:t>17.594 – $ 527.808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Calibri"/>
                        </a:rPr>
                        <a:t>16.056 – $ 690.400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Calibri"/>
                        </a:rPr>
                        <a:t>14.527 – $ 1.016.859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B2B2B"/>
                          </a:solidFill>
                          <a:latin typeface="Calibri"/>
                        </a:rPr>
                        <a:t>+21%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6E6E6E"/>
                          </a:solidFill>
                          <a:latin typeface="Calibri"/>
                        </a:rPr>
                        <a:t>+20%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6E6E6E"/>
                          </a:solidFill>
                          <a:latin typeface="Calibri"/>
                        </a:rPr>
                        <a:t>+20%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D9622B"/>
                          </a:solidFill>
                          <a:latin typeface="Calibri"/>
                        </a:rPr>
                        <a:t>+1,0 pp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4</a:t>
                      </a:r>
                      <a:r>
                        <a:rPr sz="800" b="0">
                          <a:solidFill>
                            <a:srgbClr val="6E6E6E"/>
                          </a:solidFill>
                          <a:latin typeface="Calibri"/>
                        </a:rPr>
                        <a:t> (La Boca, Barracas, Parque Patricios, Nueva Pompeya)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Calibri"/>
                        </a:rPr>
                        <a:t>Sur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Calibri"/>
                        </a:rPr>
                        <a:t>17.304 – $ 519.117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Calibri"/>
                        </a:rPr>
                        <a:t>15.473 – $ 665.329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Calibri"/>
                        </a:rPr>
                        <a:t>14.758 – $ 1.033.067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B2B2B"/>
                          </a:solidFill>
                          <a:latin typeface="Calibri"/>
                        </a:rPr>
                        <a:t>+17%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6E6E6E"/>
                          </a:solidFill>
                          <a:latin typeface="Calibri"/>
                        </a:rPr>
                        <a:t>s/d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6E6E6E"/>
                          </a:solidFill>
                          <a:latin typeface="Calibri"/>
                        </a:rPr>
                        <a:t>s/d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B2B2B"/>
                          </a:solidFill>
                          <a:latin typeface="Calibri"/>
                        </a:rPr>
                        <a:t>s/d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5</a:t>
                      </a:r>
                      <a:r>
                        <a:rPr sz="800" b="0">
                          <a:solidFill>
                            <a:srgbClr val="6E6E6E"/>
                          </a:solidFill>
                          <a:latin typeface="Calibri"/>
                        </a:rPr>
                        <a:t> (Almagro, Boedo)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Calibri"/>
                        </a:rPr>
                        <a:t>Centro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Calibri"/>
                        </a:rPr>
                        <a:t>19.030 – $ 570.906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Calibri"/>
                        </a:rPr>
                        <a:t>17.233 – $ 741.029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Calibri"/>
                        </a:rPr>
                        <a:t>16.350 – $ 1.144.534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B2B2B"/>
                          </a:solidFill>
                          <a:latin typeface="Calibri"/>
                        </a:rPr>
                        <a:t>+16%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6E6E6E"/>
                          </a:solidFill>
                          <a:latin typeface="Calibri"/>
                        </a:rPr>
                        <a:t>+19%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6E6E6E"/>
                          </a:solidFill>
                          <a:latin typeface="Calibri"/>
                        </a:rPr>
                        <a:t>+19%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A6FB5"/>
                          </a:solidFill>
                          <a:latin typeface="Calibri"/>
                        </a:rPr>
                        <a:t>−2,3 pp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7</a:t>
                      </a:r>
                      <a:r>
                        <a:rPr sz="800" b="0">
                          <a:solidFill>
                            <a:srgbClr val="6E6E6E"/>
                          </a:solidFill>
                          <a:latin typeface="Calibri"/>
                        </a:rPr>
                        <a:t> (Flores, Parque Chacabuco)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Calibri"/>
                        </a:rPr>
                        <a:t>Sur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Calibri"/>
                        </a:rPr>
                        <a:t>17.723 – $ 531.687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Calibri"/>
                        </a:rPr>
                        <a:t>16.322 – $ 701.855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Calibri"/>
                        </a:rPr>
                        <a:t>15.440 – $ 1.080.778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B2B2B"/>
                          </a:solidFill>
                          <a:latin typeface="Calibri"/>
                        </a:rPr>
                        <a:t>+15%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6E6E6E"/>
                          </a:solidFill>
                          <a:latin typeface="Calibri"/>
                        </a:rPr>
                        <a:t>+16%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6E6E6E"/>
                          </a:solidFill>
                          <a:latin typeface="Calibri"/>
                        </a:rPr>
                        <a:t>+16%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A6FB5"/>
                          </a:solidFill>
                          <a:latin typeface="Calibri"/>
                        </a:rPr>
                        <a:t>−1,4 pp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2</a:t>
                      </a:r>
                      <a:r>
                        <a:rPr sz="800" b="0">
                          <a:solidFill>
                            <a:srgbClr val="6E6E6E"/>
                          </a:solidFill>
                          <a:latin typeface="Calibri"/>
                        </a:rPr>
                        <a:t> (Recoleta)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Calibri"/>
                        </a:rPr>
                        <a:t>Norte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Calibri"/>
                        </a:rPr>
                        <a:t>19.929 – $ 597.883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Calibri"/>
                        </a:rPr>
                        <a:t>18.482 – $ 794.706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Calibri"/>
                        </a:rPr>
                        <a:t>17.375 – $ 1.216.262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B2B2B"/>
                          </a:solidFill>
                          <a:latin typeface="Calibri"/>
                        </a:rPr>
                        <a:t>+15%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6E6E6E"/>
                          </a:solidFill>
                          <a:latin typeface="Calibri"/>
                        </a:rPr>
                        <a:t>+19%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6E6E6E"/>
                          </a:solidFill>
                          <a:latin typeface="Calibri"/>
                        </a:rPr>
                        <a:t>+19%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A6FB5"/>
                          </a:solidFill>
                          <a:latin typeface="Calibri"/>
                        </a:rPr>
                        <a:t>−4,3 pp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6</a:t>
                      </a:r>
                      <a:r>
                        <a:rPr sz="800" b="0">
                          <a:solidFill>
                            <a:srgbClr val="6E6E6E"/>
                          </a:solidFill>
                          <a:latin typeface="Calibri"/>
                        </a:rPr>
                        <a:t> (Caballito)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Calibri"/>
                        </a:rPr>
                        <a:t>Centro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Calibri"/>
                        </a:rPr>
                        <a:t>19.163 – $ 574.896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Calibri"/>
                        </a:rPr>
                        <a:t>17.880 – $ 768.831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00" b="0" dirty="0">
                          <a:solidFill>
                            <a:srgbClr val="2B2B2B"/>
                          </a:solidFill>
                          <a:latin typeface="Calibri"/>
                        </a:rPr>
                        <a:t>17.099 – $ 1.196.943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B2B2B"/>
                          </a:solidFill>
                          <a:latin typeface="Calibri"/>
                        </a:rPr>
                        <a:t>+12%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6E6E6E"/>
                          </a:solidFill>
                          <a:latin typeface="Calibri"/>
                        </a:rPr>
                        <a:t>+14%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6E6E6E"/>
                          </a:solidFill>
                          <a:latin typeface="Calibri"/>
                        </a:rPr>
                        <a:t>+14%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A6FB5"/>
                          </a:solidFill>
                          <a:latin typeface="Calibri"/>
                        </a:rPr>
                        <a:t>−2,0 pp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10</a:t>
                      </a:r>
                      <a:r>
                        <a:rPr sz="800" b="0">
                          <a:solidFill>
                            <a:srgbClr val="6E6E6E"/>
                          </a:solidFill>
                          <a:latin typeface="Calibri"/>
                        </a:rPr>
                        <a:t> (Villa Real, Monte Castro, Versalles, Floresta, Vélez Sarsfield, Villa Luro)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Calibri"/>
                        </a:rPr>
                        <a:t>Oeste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00" b="0" dirty="0">
                          <a:solidFill>
                            <a:srgbClr val="2B2B2B"/>
                          </a:solidFill>
                          <a:latin typeface="Calibri"/>
                        </a:rPr>
                        <a:t>16.894 – $ 506.828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Calibri"/>
                        </a:rPr>
                        <a:t>16.665 – $ 716.600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Calibri"/>
                        </a:rPr>
                        <a:t>15.101 – $ 1.057.057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B2B2B"/>
                          </a:solidFill>
                          <a:latin typeface="Calibri"/>
                        </a:rPr>
                        <a:t>+12%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6E6E6E"/>
                          </a:solidFill>
                          <a:latin typeface="Calibri"/>
                        </a:rPr>
                        <a:t>+11%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6E6E6E"/>
                          </a:solidFill>
                          <a:latin typeface="Calibri"/>
                        </a:rPr>
                        <a:t>+11%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D9622B"/>
                          </a:solidFill>
                          <a:latin typeface="Calibri"/>
                        </a:rPr>
                        <a:t>+0,4 pp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15</a:t>
                      </a:r>
                      <a:r>
                        <a:rPr sz="800" b="0">
                          <a:solidFill>
                            <a:srgbClr val="6E6E6E"/>
                          </a:solidFill>
                          <a:latin typeface="Calibri"/>
                        </a:rPr>
                        <a:t> (Chacarita, Villa Crespo, La Paternal, Villa Ortúzar, Agronomía, Parque Chas)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Calibri"/>
                        </a:rPr>
                        <a:t>Centro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Calibri"/>
                        </a:rPr>
                        <a:t>19.402 – $ 582.061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Calibri"/>
                        </a:rPr>
                        <a:t>18.625 – $ 800.872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Calibri"/>
                        </a:rPr>
                        <a:t>17.448 – $ 1.221.345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B2B2B"/>
                          </a:solidFill>
                          <a:latin typeface="Calibri"/>
                        </a:rPr>
                        <a:t>+11%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6E6E6E"/>
                          </a:solidFill>
                          <a:latin typeface="Calibri"/>
                        </a:rPr>
                        <a:t>+18%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6E6E6E"/>
                          </a:solidFill>
                          <a:latin typeface="Calibri"/>
                        </a:rPr>
                        <a:t>+18%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A6FB5"/>
                          </a:solidFill>
                          <a:latin typeface="Calibri"/>
                        </a:rPr>
                        <a:t>−6,3 pp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13</a:t>
                      </a:r>
                      <a:r>
                        <a:rPr sz="800" b="0">
                          <a:solidFill>
                            <a:srgbClr val="6E6E6E"/>
                          </a:solidFill>
                          <a:latin typeface="Calibri"/>
                        </a:rPr>
                        <a:t> (Núñez, Belgrano, Colegiales)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Calibri"/>
                        </a:rPr>
                        <a:t>Norte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Calibri"/>
                        </a:rPr>
                        <a:t>20.741 – $ 622.236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Calibri"/>
                        </a:rPr>
                        <a:t>19.748 – $ 849.156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Calibri"/>
                        </a:rPr>
                        <a:t>18.917 – $ 1.324.178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B2B2B"/>
                          </a:solidFill>
                          <a:latin typeface="Calibri"/>
                        </a:rPr>
                        <a:t>+10%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6E6E6E"/>
                          </a:solidFill>
                          <a:latin typeface="Calibri"/>
                        </a:rPr>
                        <a:t>+13%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6E6E6E"/>
                          </a:solidFill>
                          <a:latin typeface="Calibri"/>
                        </a:rPr>
                        <a:t>+13%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A6FB5"/>
                          </a:solidFill>
                          <a:latin typeface="Calibri"/>
                        </a:rPr>
                        <a:t>−3,1 pp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14</a:t>
                      </a:r>
                      <a:r>
                        <a:rPr sz="800" b="0">
                          <a:solidFill>
                            <a:srgbClr val="6E6E6E"/>
                          </a:solidFill>
                          <a:latin typeface="Calibri"/>
                        </a:rPr>
                        <a:t> (Palermo)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Calibri"/>
                        </a:rPr>
                        <a:t>Norte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Calibri"/>
                        </a:rPr>
                        <a:t>20.693 – $ 620.800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Calibri"/>
                        </a:rPr>
                        <a:t>19.841 – $ 853.178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Calibri"/>
                        </a:rPr>
                        <a:t>19.059 – $ 1.334.095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B2B2B"/>
                          </a:solidFill>
                          <a:latin typeface="Calibri"/>
                        </a:rPr>
                        <a:t>+9%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6E6E6E"/>
                          </a:solidFill>
                          <a:latin typeface="Calibri"/>
                        </a:rPr>
                        <a:t>+19%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6E6E6E"/>
                          </a:solidFill>
                          <a:latin typeface="Calibri"/>
                        </a:rPr>
                        <a:t>+19%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A6FB5"/>
                          </a:solidFill>
                          <a:latin typeface="Calibri"/>
                        </a:rPr>
                        <a:t>−10,5 pp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9</a:t>
                      </a:r>
                      <a:r>
                        <a:rPr sz="800" b="0">
                          <a:solidFill>
                            <a:srgbClr val="6E6E6E"/>
                          </a:solidFill>
                          <a:latin typeface="Calibri"/>
                        </a:rPr>
                        <a:t> (Liniers, Mataderos, Parque Avellaneda)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Calibri"/>
                        </a:rPr>
                        <a:t>Sur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Calibri"/>
                        </a:rPr>
                        <a:t>16.953 – $ 508.579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Calibri"/>
                        </a:rPr>
                        <a:t>16.334 – $ 702.363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Calibri"/>
                        </a:rPr>
                        <a:t>15.628 – $ 1.093.946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B2B2B"/>
                          </a:solidFill>
                          <a:latin typeface="Calibri"/>
                        </a:rPr>
                        <a:t>+8%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6E6E6E"/>
                          </a:solidFill>
                          <a:latin typeface="Calibri"/>
                        </a:rPr>
                        <a:t>s/d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6E6E6E"/>
                          </a:solidFill>
                          <a:latin typeface="Calibri"/>
                        </a:rPr>
                        <a:t>s/d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B2B2B"/>
                          </a:solidFill>
                          <a:latin typeface="Calibri"/>
                        </a:rPr>
                        <a:t>s/d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11</a:t>
                      </a:r>
                      <a:r>
                        <a:rPr sz="800" b="0">
                          <a:solidFill>
                            <a:srgbClr val="6E6E6E"/>
                          </a:solidFill>
                          <a:latin typeface="Calibri"/>
                        </a:rPr>
                        <a:t> (Villa General Mitre, Villa Devoto, Villa del Parque, Villa Santa Rita)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Calibri"/>
                        </a:rPr>
                        <a:t>Oeste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Calibri"/>
                        </a:rPr>
                        <a:t>18.365 – $ 550.963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Calibri"/>
                        </a:rPr>
                        <a:t>17.031 – $ 732.345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Calibri"/>
                        </a:rPr>
                        <a:t>17.368 – $ 1.215.779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B2B2B"/>
                          </a:solidFill>
                          <a:latin typeface="Calibri"/>
                        </a:rPr>
                        <a:t>+6%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6E6E6E"/>
                          </a:solidFill>
                          <a:latin typeface="Calibri"/>
                        </a:rPr>
                        <a:t>+11%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6E6E6E"/>
                          </a:solidFill>
                          <a:latin typeface="Calibri"/>
                        </a:rPr>
                        <a:t>+11%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A6FB5"/>
                          </a:solidFill>
                          <a:latin typeface="Calibri"/>
                        </a:rPr>
                        <a:t>−5,1 pp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3235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12</a:t>
                      </a:r>
                      <a:r>
                        <a:rPr sz="800" b="0">
                          <a:solidFill>
                            <a:srgbClr val="6E6E6E"/>
                          </a:solidFill>
                          <a:latin typeface="Calibri"/>
                        </a:rPr>
                        <a:t> (Coghlan, Saavedra, Villa Urquiza, Villa Pueyrredón)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Calibri"/>
                        </a:rPr>
                        <a:t>Oeste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Calibri"/>
                        </a:rPr>
                        <a:t>19.130 – $ 573.900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Calibri"/>
                        </a:rPr>
                        <a:t>19.116 – $ 821.972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Calibri"/>
                        </a:rPr>
                        <a:t>19.098 – $ 1.336.858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B2B2B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6E6E6E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6E6E6E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A6FB5"/>
                          </a:solidFill>
                          <a:latin typeface="Calibri"/>
                        </a:rPr>
                        <a:t>−3,5 pp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B2B2B"/>
                          </a:solidFill>
                          <a:latin typeface="Calibri"/>
                        </a:rPr>
                        <a:t>8</a:t>
                      </a:r>
                      <a:r>
                        <a:rPr sz="800" b="0">
                          <a:solidFill>
                            <a:srgbClr val="6E6E6E"/>
                          </a:solidFill>
                          <a:latin typeface="Calibri"/>
                        </a:rPr>
                        <a:t> (Villa Soldati, Villa Riachuelo, Villa Lugano)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Calibri"/>
                        </a:rPr>
                        <a:t>Sur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Calibri"/>
                        </a:rPr>
                        <a:t>s/d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Calibri"/>
                        </a:rPr>
                        <a:t>s/d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Calibri"/>
                        </a:rPr>
                        <a:t>13.263 – $ 928.414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B2B2B"/>
                          </a:solidFill>
                          <a:latin typeface="Calibri"/>
                        </a:rPr>
                        <a:t>s/d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6E6E6E"/>
                          </a:solidFill>
                          <a:latin typeface="Calibri"/>
                        </a:rPr>
                        <a:t>s/d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6E6E6E"/>
                          </a:solidFill>
                          <a:latin typeface="Calibri"/>
                        </a:rPr>
                        <a:t>s/d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Calibri"/>
                        </a:rPr>
                        <a:t>s/d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6071616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6E6E6E"/>
                </a:solidFill>
                <a:latin typeface="Calibri"/>
              </a:rPr>
              <a:t>Prima = cuánto más caro es el m² del monoambiente que el del 3 ambientes, en %. Prima 2018 = promedio de los 4 trimestres de 2018; cambio en puntos porcentuales (naranja: la prima creció, los departamentos grandes se abarataron más; azul: se achicó). Alquiler = $/m² × superficie de referencia (30, 43 y 70 m²). Comunas 4, 8 y 9 sin dato de 1 ambiente en 2018. Ordenado por prima de hoy.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2918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85042"/>
                </a:solidFill>
                <a:latin typeface="Calibri"/>
              </a:rPr>
              <a:t>4. PRIMEROS HALLAZGOS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6424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s-ES" sz="2900" b="1" i="0" dirty="0">
                <a:solidFill>
                  <a:srgbClr val="2B2B2B"/>
                </a:solidFill>
                <a:latin typeface="Cambria"/>
              </a:rPr>
              <a:t>¿Todas las zonas evolucionaron igual?</a:t>
            </a:r>
            <a:endParaRPr sz="2900" b="1" i="0" dirty="0">
              <a:solidFill>
                <a:srgbClr val="2B2B2B"/>
              </a:solidFill>
              <a:latin typeface="Cambria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109960" y="6382512"/>
            <a:ext cx="54864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000" b="0" i="0">
                <a:solidFill>
                  <a:srgbClr val="6E6E6E"/>
                </a:solidFill>
                <a:latin typeface="Calibri"/>
              </a:rPr>
              <a:t>12</a:t>
            </a:r>
            <a:endParaRPr sz="1000" b="0" i="0">
              <a:solidFill>
                <a:srgbClr val="6E6E6E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1380000"/>
            <a:ext cx="1106424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s-ES" sz="1200" b="1" i="0" dirty="0">
                <a:solidFill>
                  <a:srgbClr val="2B2B2B"/>
                </a:solidFill>
                <a:latin typeface="Calibri"/>
              </a:rPr>
              <a:t>Alquiler real de un 2 ambientes por zona, en índice (promedio 2018 = 100)</a:t>
            </a:r>
            <a:endParaRPr sz="1200" b="1" i="0" dirty="0">
              <a:solidFill>
                <a:srgbClr val="2B2B2B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66928" y="6223000"/>
            <a:ext cx="10160000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s-ES" sz="950" b="0" i="1">
                <a:solidFill>
                  <a:srgbClr val="6E6E6E"/>
                </a:solidFill>
                <a:latin typeface="Calibri"/>
              </a:rPr>
              <a:t>Cada zona es el promedio de sus comunas; huecos de hasta 4 trimestres completados por interpolación lineal. Se excluye la Comuna 8. Sur: comunas 4, 7 y 9 en 2 ambientes; solo la 7 en 1 y 3 ambientes. Variación: promedio 2018 contra los últimos 4 trimestres.</a:t>
            </a:r>
            <a:endParaRPr sz="950" b="0" i="1">
              <a:solidFill>
                <a:srgbClr val="6E6E6E"/>
              </a:solidFill>
              <a:latin typeface="Calibri"/>
            </a:endParaRPr>
          </a:p>
        </p:txBody>
      </p:sp>
      <p:graphicFrame>
        <p:nvGraphicFramePr>
          <p:cNvPr id="8" name="Gráfico 7">
            <a:extLst>
              <a:ext uri="{FF2B5EF4-FFF2-40B4-BE49-F238E27FC236}">
                <a16:creationId xmlns:a16="http://schemas.microsoft.com/office/drawing/2014/main" id="{6E77C56C-C517-99A4-639C-4269EB69AFF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12881439"/>
              </p:ext>
            </p:extLst>
          </p:nvPr>
        </p:nvGraphicFramePr>
        <p:xfrm>
          <a:off x="558800" y="1625600"/>
          <a:ext cx="7112000" cy="3683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CuadroTexto 8">
            <a:extLst>
              <a:ext uri="{FF2B5EF4-FFF2-40B4-BE49-F238E27FC236}">
                <a16:creationId xmlns:a16="http://schemas.microsoft.com/office/drawing/2014/main" id="{C89AAEF9-088F-93ED-8E1B-7AF75C4EAFFF}"/>
              </a:ext>
            </a:extLst>
          </p:cNvPr>
          <p:cNvSpPr txBox="1"/>
          <p:nvPr/>
        </p:nvSpPr>
        <p:spPr>
          <a:xfrm>
            <a:off x="7937500" y="1625600"/>
            <a:ext cx="3695700" cy="430887"/>
          </a:xfrm>
          <a:prstGeom prst="rect">
            <a:avLst/>
          </a:prstGeom>
          <a:noFill/>
        </p:spPr>
        <p:txBody>
          <a:bodyPr vert="horz" wrap="square" lIns="0" rIns="0" rtlCol="0">
            <a:spAutoFit/>
          </a:bodyPr>
          <a:lstStyle/>
          <a:p>
            <a:r>
              <a:rPr lang="es-ES" sz="1200" b="1">
                <a:solidFill>
                  <a:srgbClr val="2B2B2B"/>
                </a:solidFill>
                <a:latin typeface="Calibri" panose="020F0502020204030204" pitchFamily="34" charset="0"/>
              </a:rPr>
              <a:t>Los tres tipos de departamento</a:t>
            </a:r>
          </a:p>
          <a:p>
            <a:r>
              <a:rPr lang="es-ES" sz="1000">
                <a:solidFill>
                  <a:srgbClr val="6E6E6E"/>
                </a:solidFill>
                <a:latin typeface="Calibri" panose="020F0502020204030204" pitchFamily="34" charset="0"/>
              </a:rPr>
              <a:t>variación real y trimestre del pico</a:t>
            </a:r>
            <a:endParaRPr lang="en-US" sz="1000">
              <a:solidFill>
                <a:srgbClr val="6E6E6E"/>
              </a:solidFill>
              <a:latin typeface="Calibri" panose="020F0502020204030204" pitchFamily="34" charset="0"/>
            </a:endParaRPr>
          </a:p>
        </p:txBody>
      </p:sp>
      <p:graphicFrame>
        <p:nvGraphicFramePr>
          <p:cNvPr id="10" name="Tabla 9">
            <a:extLst>
              <a:ext uri="{FF2B5EF4-FFF2-40B4-BE49-F238E27FC236}">
                <a16:creationId xmlns:a16="http://schemas.microsoft.com/office/drawing/2014/main" id="{B2820752-C0A0-1DCD-808F-7BACFD2C26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8608534"/>
              </p:ext>
            </p:extLst>
          </p:nvPr>
        </p:nvGraphicFramePr>
        <p:xfrm>
          <a:off x="7937500" y="2133600"/>
          <a:ext cx="3695700" cy="24384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38200">
                  <a:extLst>
                    <a:ext uri="{9D8B030D-6E8A-4147-A177-3AD203B41FA5}">
                      <a16:colId xmlns:a16="http://schemas.microsoft.com/office/drawing/2014/main" val="862933790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3082139369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2090489286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747399082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algn="l"/>
                      <a:r>
                        <a:rPr lang="en-US" sz="10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Zona</a:t>
                      </a:r>
                    </a:p>
                  </a:txBody>
                  <a:tcPr anchor="ctr"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1 amb.</a:t>
                      </a:r>
                    </a:p>
                  </a:txBody>
                  <a:tcPr anchor="ctr"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2 amb.</a:t>
                      </a:r>
                    </a:p>
                  </a:txBody>
                  <a:tcPr anchor="ctr"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3 amb.</a:t>
                      </a:r>
                    </a:p>
                  </a:txBody>
                  <a:tcPr anchor="ctr">
                    <a:solidFill>
                      <a:srgbClr val="B850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9310734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2B2B2B"/>
                          </a:solidFill>
                          <a:latin typeface="Calibri" panose="020F0502020204030204" pitchFamily="34" charset="0"/>
                        </a:rPr>
                        <a:t>Norte</a:t>
                      </a:r>
                    </a:p>
                  </a:txBody>
                  <a:tcPr anchor="ctr">
                    <a:lnB w="9525">
                      <a:solidFill>
                        <a:srgbClr val="E1E0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1">
                          <a:solidFill>
                            <a:srgbClr val="2B2B2B"/>
                          </a:solidFill>
                          <a:latin typeface="Calibri" panose="020F0502020204030204" pitchFamily="34" charset="0"/>
                        </a:rPr>
                        <a:t>−15%</a:t>
                      </a:r>
                    </a:p>
                    <a:p>
                      <a:pPr algn="r"/>
                      <a:r>
                        <a:rPr lang="en-US" sz="900">
                          <a:solidFill>
                            <a:srgbClr val="6E6E6E"/>
                          </a:solidFill>
                          <a:latin typeface="Calibri" panose="020F0502020204030204" pitchFamily="34" charset="0"/>
                        </a:rPr>
                        <a:t>pico 2023-T4</a:t>
                      </a:r>
                    </a:p>
                  </a:txBody>
                  <a:tcPr anchor="ctr">
                    <a:lnB w="9525">
                      <a:solidFill>
                        <a:srgbClr val="E1E0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1">
                          <a:solidFill>
                            <a:srgbClr val="2B2B2B"/>
                          </a:solidFill>
                          <a:latin typeface="Calibri" panose="020F0502020204030204" pitchFamily="34" charset="0"/>
                        </a:rPr>
                        <a:t>−15%</a:t>
                      </a:r>
                    </a:p>
                    <a:p>
                      <a:pPr algn="r"/>
                      <a:r>
                        <a:rPr lang="en-US" sz="900">
                          <a:solidFill>
                            <a:srgbClr val="6E6E6E"/>
                          </a:solidFill>
                          <a:latin typeface="Calibri" panose="020F0502020204030204" pitchFamily="34" charset="0"/>
                        </a:rPr>
                        <a:t>pico 2023-T4</a:t>
                      </a:r>
                    </a:p>
                  </a:txBody>
                  <a:tcPr anchor="ctr">
                    <a:lnB w="9525">
                      <a:solidFill>
                        <a:srgbClr val="E1E0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1">
                          <a:solidFill>
                            <a:srgbClr val="2B2B2B"/>
                          </a:solidFill>
                          <a:latin typeface="Calibri" panose="020F0502020204030204" pitchFamily="34" charset="0"/>
                        </a:rPr>
                        <a:t>−11%</a:t>
                      </a:r>
                    </a:p>
                    <a:p>
                      <a:pPr algn="r"/>
                      <a:r>
                        <a:rPr lang="en-US" sz="900">
                          <a:solidFill>
                            <a:srgbClr val="6E6E6E"/>
                          </a:solidFill>
                          <a:latin typeface="Calibri" panose="020F0502020204030204" pitchFamily="34" charset="0"/>
                        </a:rPr>
                        <a:t>pico 2023-T4</a:t>
                      </a:r>
                    </a:p>
                  </a:txBody>
                  <a:tcPr anchor="ctr">
                    <a:lnB w="9525">
                      <a:solidFill>
                        <a:srgbClr val="E1E0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4351162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2B2B2B"/>
                          </a:solidFill>
                          <a:latin typeface="Calibri" panose="020F0502020204030204" pitchFamily="34" charset="0"/>
                        </a:rPr>
                        <a:t>Centro</a:t>
                      </a:r>
                    </a:p>
                  </a:txBody>
                  <a:tcPr anchor="ctr"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1">
                          <a:solidFill>
                            <a:srgbClr val="2B2B2B"/>
                          </a:solidFill>
                          <a:latin typeface="Calibri" panose="020F0502020204030204" pitchFamily="34" charset="0"/>
                        </a:rPr>
                        <a:t>−13%</a:t>
                      </a:r>
                    </a:p>
                    <a:p>
                      <a:pPr algn="r"/>
                      <a:r>
                        <a:rPr lang="en-US" sz="900">
                          <a:solidFill>
                            <a:srgbClr val="B85042"/>
                          </a:solidFill>
                          <a:latin typeface="Calibri" panose="020F0502020204030204" pitchFamily="34" charset="0"/>
                        </a:rPr>
                        <a:t>pico 2023-T3</a:t>
                      </a:r>
                    </a:p>
                  </a:txBody>
                  <a:tcPr anchor="ctr"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1">
                          <a:solidFill>
                            <a:srgbClr val="2B2B2B"/>
                          </a:solidFill>
                          <a:latin typeface="Calibri" panose="020F0502020204030204" pitchFamily="34" charset="0"/>
                        </a:rPr>
                        <a:t>−13%</a:t>
                      </a:r>
                    </a:p>
                    <a:p>
                      <a:pPr algn="r"/>
                      <a:r>
                        <a:rPr lang="en-US" sz="900">
                          <a:solidFill>
                            <a:srgbClr val="6E6E6E"/>
                          </a:solidFill>
                          <a:latin typeface="Calibri" panose="020F0502020204030204" pitchFamily="34" charset="0"/>
                        </a:rPr>
                        <a:t>pico 2023-T4</a:t>
                      </a:r>
                    </a:p>
                  </a:txBody>
                  <a:tcPr anchor="ctr"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1">
                          <a:solidFill>
                            <a:srgbClr val="2B2B2B"/>
                          </a:solidFill>
                          <a:latin typeface="Calibri" panose="020F0502020204030204" pitchFamily="34" charset="0"/>
                        </a:rPr>
                        <a:t>−14%</a:t>
                      </a:r>
                    </a:p>
                    <a:p>
                      <a:pPr algn="r"/>
                      <a:r>
                        <a:rPr lang="en-US" sz="900">
                          <a:solidFill>
                            <a:srgbClr val="6E6E6E"/>
                          </a:solidFill>
                          <a:latin typeface="Calibri" panose="020F0502020204030204" pitchFamily="34" charset="0"/>
                        </a:rPr>
                        <a:t>pico 2023-T4</a:t>
                      </a:r>
                    </a:p>
                  </a:txBody>
                  <a:tcPr anchor="ctr"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4776563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2B2B2B"/>
                          </a:solidFill>
                          <a:latin typeface="Calibri" panose="020F0502020204030204" pitchFamily="34" charset="0"/>
                        </a:rPr>
                        <a:t>Oeste</a:t>
                      </a:r>
                    </a:p>
                  </a:txBody>
                  <a:tcPr anchor="ctr"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1">
                          <a:solidFill>
                            <a:srgbClr val="2B2B2B"/>
                          </a:solidFill>
                          <a:latin typeface="Calibri" panose="020F0502020204030204" pitchFamily="34" charset="0"/>
                        </a:rPr>
                        <a:t>−8%</a:t>
                      </a:r>
                    </a:p>
                    <a:p>
                      <a:pPr algn="r"/>
                      <a:r>
                        <a:rPr lang="en-US" sz="900">
                          <a:solidFill>
                            <a:srgbClr val="6E6E6E"/>
                          </a:solidFill>
                          <a:latin typeface="Calibri" panose="020F0502020204030204" pitchFamily="34" charset="0"/>
                        </a:rPr>
                        <a:t>pico 2023-T4</a:t>
                      </a:r>
                    </a:p>
                  </a:txBody>
                  <a:tcPr anchor="ctr"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1">
                          <a:solidFill>
                            <a:srgbClr val="2B2B2B"/>
                          </a:solidFill>
                          <a:latin typeface="Calibri" panose="020F0502020204030204" pitchFamily="34" charset="0"/>
                        </a:rPr>
                        <a:t>−6%</a:t>
                      </a:r>
                    </a:p>
                    <a:p>
                      <a:pPr algn="r"/>
                      <a:r>
                        <a:rPr lang="en-US" sz="900">
                          <a:solidFill>
                            <a:srgbClr val="6E6E6E"/>
                          </a:solidFill>
                          <a:latin typeface="Calibri" panose="020F0502020204030204" pitchFamily="34" charset="0"/>
                        </a:rPr>
                        <a:t>pico 2023-T4</a:t>
                      </a:r>
                    </a:p>
                  </a:txBody>
                  <a:tcPr anchor="ctr"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1">
                          <a:solidFill>
                            <a:srgbClr val="2B2B2B"/>
                          </a:solidFill>
                          <a:latin typeface="Calibri" panose="020F0502020204030204" pitchFamily="34" charset="0"/>
                        </a:rPr>
                        <a:t>−5%</a:t>
                      </a:r>
                    </a:p>
                    <a:p>
                      <a:pPr algn="r"/>
                      <a:r>
                        <a:rPr lang="en-US" sz="900">
                          <a:solidFill>
                            <a:srgbClr val="6E6E6E"/>
                          </a:solidFill>
                          <a:latin typeface="Calibri" panose="020F0502020204030204" pitchFamily="34" charset="0"/>
                        </a:rPr>
                        <a:t>pico 2023-T4</a:t>
                      </a:r>
                    </a:p>
                  </a:txBody>
                  <a:tcPr anchor="ctr"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9241077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2B2B2B"/>
                          </a:solidFill>
                          <a:latin typeface="Calibri" panose="020F0502020204030204" pitchFamily="34" charset="0"/>
                        </a:rPr>
                        <a:t>Sur</a:t>
                      </a:r>
                    </a:p>
                  </a:txBody>
                  <a:tcPr anchor="ctr"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1">
                          <a:solidFill>
                            <a:srgbClr val="2B2B2B"/>
                          </a:solidFill>
                          <a:latin typeface="Calibri" panose="020F0502020204030204" pitchFamily="34" charset="0"/>
                        </a:rPr>
                        <a:t>−8%</a:t>
                      </a:r>
                    </a:p>
                    <a:p>
                      <a:pPr algn="r"/>
                      <a:r>
                        <a:rPr lang="en-US" sz="900">
                          <a:solidFill>
                            <a:srgbClr val="6E6E6E"/>
                          </a:solidFill>
                          <a:latin typeface="Calibri" panose="020F0502020204030204" pitchFamily="34" charset="0"/>
                        </a:rPr>
                        <a:t>pico 2023-T4</a:t>
                      </a:r>
                    </a:p>
                  </a:txBody>
                  <a:tcPr anchor="ctr"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1">
                          <a:solidFill>
                            <a:srgbClr val="2B2B2B"/>
                          </a:solidFill>
                          <a:latin typeface="Calibri" panose="020F0502020204030204" pitchFamily="34" charset="0"/>
                        </a:rPr>
                        <a:t>−6%</a:t>
                      </a:r>
                    </a:p>
                    <a:p>
                      <a:pPr algn="r"/>
                      <a:r>
                        <a:rPr lang="en-US" sz="900">
                          <a:solidFill>
                            <a:srgbClr val="B85042"/>
                          </a:solidFill>
                          <a:latin typeface="Calibri" panose="020F0502020204030204" pitchFamily="34" charset="0"/>
                        </a:rPr>
                        <a:t>pico 2023-T3</a:t>
                      </a:r>
                    </a:p>
                  </a:txBody>
                  <a:tcPr anchor="ctr"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1">
                          <a:solidFill>
                            <a:srgbClr val="2B2B2B"/>
                          </a:solidFill>
                          <a:latin typeface="Calibri" panose="020F0502020204030204" pitchFamily="34" charset="0"/>
                        </a:rPr>
                        <a:t>−7%</a:t>
                      </a:r>
                    </a:p>
                    <a:p>
                      <a:pPr algn="r"/>
                      <a:r>
                        <a:rPr lang="en-US" sz="900">
                          <a:solidFill>
                            <a:srgbClr val="6E6E6E"/>
                          </a:solidFill>
                          <a:latin typeface="Calibri" panose="020F0502020204030204" pitchFamily="34" charset="0"/>
                        </a:rPr>
                        <a:t>pico 2023-T4</a:t>
                      </a:r>
                    </a:p>
                  </a:txBody>
                  <a:tcPr anchor="ctr"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4029770"/>
                  </a:ext>
                </a:extLst>
              </a:tr>
            </a:tbl>
          </a:graphicData>
        </a:graphic>
      </p:graphicFrame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F5BF636D-9756-22AE-EFF4-CD427E59E821}"/>
              </a:ext>
            </a:extLst>
          </p:cNvPr>
          <p:cNvSpPr/>
          <p:nvPr/>
        </p:nvSpPr>
        <p:spPr>
          <a:xfrm>
            <a:off x="566420" y="5397500"/>
            <a:ext cx="11064240" cy="736600"/>
          </a:xfrm>
          <a:prstGeom prst="roundRect">
            <a:avLst>
              <a:gd name="adj" fmla="val 8000"/>
            </a:avLst>
          </a:prstGeom>
          <a:solidFill>
            <a:srgbClr val="F6E9E5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52400" tIns="76200" rIns="152400" bIns="76200" rtlCol="0" anchor="ctr"/>
          <a:lstStyle/>
          <a:p>
            <a:r>
              <a:rPr lang="es-ES" sz="1200" b="1">
                <a:solidFill>
                  <a:srgbClr val="B85042"/>
                </a:solidFill>
                <a:latin typeface="Calibri" panose="020F0502020204030204" pitchFamily="34" charset="0"/>
              </a:rPr>
              <a:t>Conclusión.</a:t>
            </a:r>
            <a:r>
              <a:rPr lang="es-ES" sz="1200">
                <a:solidFill>
                  <a:srgbClr val="2B2B2B"/>
                </a:solidFill>
                <a:latin typeface="Calibri" panose="020F0502020204030204" pitchFamily="34" charset="0"/>
              </a:rPr>
              <a:t> Las cuatro zonas siguieron el mismo ciclo y tocaron su pico casi al mismo tiempo (2023-T3/T4): no hubo rezagos importantes. Las diferencias están en el ritmo: Oeste y Sur se recuperaron antes en 2020-2021 y perdieron menos en términos reales (5-8%, contra 11-15% de Norte y Centro). El orden entre zonas se mantiene, pero la brecha se achicó.</a:t>
            </a:r>
            <a:endParaRPr lang="en-US" sz="1200">
              <a:solidFill>
                <a:srgbClr val="2B2B2B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70765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7E8D1"/>
                </a:solidFill>
                <a:latin typeface="Calibri"/>
              </a:rPr>
              <a:t>4. PRIMEROS HALLAZGOS Y PRÓXIMOS PASOS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58952"/>
            <a:ext cx="1106424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Cambria"/>
              </a:rPr>
              <a:t>Qué encontramos y qué preguntas nos quedan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6382512"/>
            <a:ext cx="54864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000" b="0" i="0">
                <a:solidFill>
                  <a:srgbClr val="E7E8D1"/>
                </a:solidFill>
                <a:latin typeface="Calibri"/>
              </a:rPr>
              <a:t>13</a:t>
            </a:r>
            <a:endParaRPr sz="1000" b="0" i="0">
              <a:solidFill>
                <a:srgbClr val="E7E8D1"/>
              </a:solidFill>
              <a:latin typeface="Calibri"/>
            </a:endParaRPr>
          </a:p>
        </p:txBody>
      </p:sp>
      <p:sp>
        <p:nvSpPr>
          <p:cNvPr id="6" name="Oval 5"/>
          <p:cNvSpPr/>
          <p:nvPr/>
        </p:nvSpPr>
        <p:spPr>
          <a:xfrm>
            <a:off x="685800" y="1600200"/>
            <a:ext cx="329184" cy="329184"/>
          </a:xfrm>
          <a:prstGeom prst="ellipse">
            <a:avLst/>
          </a:prstGeom>
          <a:solidFill>
            <a:srgbClr val="E7E8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50" b="1">
                <a:solidFill>
                  <a:srgbClr val="8C3A30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07008" y="1581912"/>
            <a:ext cx="598932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Los faltantes tienen geografía.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7E8D1"/>
                </a:solidFill>
                <a:latin typeface="Calibri"/>
              </a:rPr>
              <a:t>El 45% de las observaciones del sur no tiene dato, contra el 0,3% del norte. Todo promedio «de la Ciudad» está sesgado hacia el norte.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2532888"/>
            <a:ext cx="329184" cy="329184"/>
          </a:xfrm>
          <a:prstGeom prst="ellipse">
            <a:avLst/>
          </a:prstGeom>
          <a:solidFill>
            <a:srgbClr val="E7E8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50" b="1">
                <a:solidFill>
                  <a:srgbClr val="8C3A30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8" y="2514600"/>
            <a:ext cx="598932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La oferta publicada creció desde 2024.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7E8D1"/>
                </a:solidFill>
                <a:latin typeface="Calibri"/>
              </a:rPr>
              <a:t>Los faltantes bajan del 17% anual entre 2020 y 2023 al 4-8% en 2024-2026.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3465576"/>
            <a:ext cx="329184" cy="329184"/>
          </a:xfrm>
          <a:prstGeom prst="ellipse">
            <a:avLst/>
          </a:prstGeom>
          <a:solidFill>
            <a:srgbClr val="E7E8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50" b="1">
                <a:solidFill>
                  <a:srgbClr val="8C3A30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7008" y="3447288"/>
            <a:ext cx="598932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La jerarquía entre comunas es estable.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7E8D1"/>
                </a:solidFill>
                <a:latin typeface="Calibri"/>
              </a:rPr>
              <a:t>Palermo y Belgrano 10-14% por encima del promedio; las comunas 4, 8 y 9 entre 15% y 26% por debajo, todos los años.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4398264"/>
            <a:ext cx="329184" cy="329184"/>
          </a:xfrm>
          <a:prstGeom prst="ellipse">
            <a:avLst/>
          </a:prstGeom>
          <a:solidFill>
            <a:srgbClr val="E7E8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50" b="1">
                <a:solidFill>
                  <a:srgbClr val="8C3A30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8" y="4379976"/>
            <a:ext cx="598932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En términos reales, el alquiler cayó 16% desde 2018.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7E8D1"/>
                </a:solidFill>
                <a:latin typeface="Calibri"/>
              </a:rPr>
              <a:t>Entre 16% y 20% según el tipo, con un pico a fines de 2023 y una caída fuerte en 2024. En pesos corrientes parecía haberse multiplicado por 74.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5330952"/>
            <a:ext cx="329184" cy="329184"/>
          </a:xfrm>
          <a:prstGeom prst="ellipse">
            <a:avLst/>
          </a:prstGeom>
          <a:solidFill>
            <a:srgbClr val="E7E8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50" b="1">
                <a:solidFill>
                  <a:srgbClr val="8C3A30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07008" y="5312664"/>
            <a:ext cx="598932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El m² del monoambiente cuesta 14% más que el del 3 ambientes.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7E8D1"/>
                </a:solidFill>
                <a:latin typeface="Calibri"/>
              </a:rPr>
              <a:t>Una prima persistente en los ocho años de la serie.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35240" y="1600200"/>
            <a:ext cx="3886200" cy="4069080"/>
          </a:xfrm>
          <a:prstGeom prst="roundRect">
            <a:avLst>
              <a:gd name="adj" fmla="val 6000"/>
            </a:avLst>
          </a:prstGeom>
          <a:solidFill>
            <a:srgbClr val="F2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909560" y="1847088"/>
            <a:ext cx="333756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B85042"/>
                </a:solidFill>
                <a:latin typeface="Cambria"/>
              </a:rPr>
              <a:t>Preguntas para las próximas etapas</a:t>
            </a:r>
          </a:p>
          <a:p>
            <a:pPr>
              <a:spcAft>
                <a:spcPts val="1200"/>
              </a:spcAft>
            </a:pPr>
            <a:r>
              <a:rPr sz="1200" b="1">
                <a:solidFill>
                  <a:srgbClr val="2B2B2B"/>
                </a:solidFill>
                <a:latin typeface="Calibri"/>
              </a:rPr>
              <a:t>¿Qué explica el pico de 2023 y la caída de 2024?</a:t>
            </a:r>
            <a:r>
              <a:rPr sz="1200" b="0">
                <a:solidFill>
                  <a:srgbClr val="2B2B2B"/>
                </a:solidFill>
                <a:latin typeface="Calibri"/>
              </a:rPr>
              <a:t> ¿Coincide con la derogación de la Ley de Alquileres y el salto inflacionario de diciembre de 2023, o es un desfasaje entre los precios de publicación y el IPC?</a:t>
            </a:r>
          </a:p>
          <a:p>
            <a:pPr>
              <a:spcAft>
                <a:spcPts val="0"/>
              </a:spcAft>
            </a:pPr>
            <a:r>
              <a:rPr sz="1200" b="1">
                <a:solidFill>
                  <a:srgbClr val="2B2B2B"/>
                </a:solidFill>
                <a:latin typeface="Calibri"/>
              </a:rPr>
              <a:t>¿La brecha entre comunas se explica por sus características socioeconómicas?</a:t>
            </a:r>
            <a:r>
              <a:rPr sz="1200" b="0">
                <a:solidFill>
                  <a:srgbClr val="2B2B2B"/>
                </a:solidFill>
                <a:latin typeface="Calibri"/>
              </a:rPr>
              <a:t> Sumar una base complementaria (EAH o Censo) permitiría contrastar precio con ingreso, densidad y tipo de vivienda.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94</TotalTime>
  <Words>2890</Words>
  <Application>Microsoft Office PowerPoint</Application>
  <PresentationFormat>Panorámica</PresentationFormat>
  <Paragraphs>616</Paragraphs>
  <Slides>13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7" baseType="lpstr">
      <vt:lpstr>Arial</vt:lpstr>
      <vt:lpstr>Calibri</vt:lpstr>
      <vt:lpstr>Cambria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Joaquín Martinez</cp:lastModifiedBy>
  <cp:revision>1</cp:revision>
  <dcterms:created xsi:type="dcterms:W3CDTF">2013-01-27T09:14:16Z</dcterms:created>
  <dcterms:modified xsi:type="dcterms:W3CDTF">2026-10-20T16:46:02Z</dcterms:modified>
  <cp:category/>
</cp:coreProperties>
</file>