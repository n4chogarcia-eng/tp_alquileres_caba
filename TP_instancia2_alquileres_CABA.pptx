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50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274320"/>
            <a:ext cx="11643055" cy="6309360"/>
          </a:xfrm>
          <a:prstGeom prst="rect">
            <a:avLst/>
          </a:prstGeom>
          <a:noFill/>
          <a:ln w="15240">
            <a:solidFill>
              <a:srgbClr val="E8E0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600200"/>
            <a:ext cx="10149840" cy="2377440"/>
          </a:xfrm>
          <a:prstGeom prst="rect">
            <a:avLst/>
          </a:prstGeom>
          <a:noFill/>
        </p:spPr>
        <p:txBody>
          <a:bodyPr wrap="square" lIns="0" rIns="0" tIns="0" bIns="0" anchor="t">
            <a:spAutoFit/>
          </a:bodyPr>
          <a:lstStyle/>
          <a:p>
            <a:pPr algn="l">
              <a:lnSpc>
                <a:spcPct val="100000"/>
              </a:lnSpc>
              <a:spcAft>
                <a:spcPts val="200"/>
              </a:spcAft>
            </a:pPr>
            <a:r>
              <a:rPr sz="4700" b="1" i="0">
                <a:solidFill>
                  <a:srgbClr val="F6F1E7"/>
                </a:solidFill>
                <a:latin typeface="Bookman Old Style"/>
              </a:rPr>
              <a:t>EL ALQUILER EN LA CIUDAD</a:t>
            </a:r>
          </a:p>
          <a:p>
            <a:pPr>
              <a:lnSpc>
                <a:spcPct val="100000"/>
              </a:lnSpc>
              <a:spcAft>
                <a:spcPts val="0"/>
              </a:spcAft>
            </a:pPr>
            <a:r>
              <a:rPr sz="4700" b="1" i="0">
                <a:solidFill>
                  <a:srgbClr val="F6F1E7"/>
                </a:solidFill>
                <a:latin typeface="Bookman Old Style"/>
              </a:rPr>
              <a:t>DE BUENOS AIRES</a:t>
            </a:r>
          </a:p>
        </p:txBody>
      </p:sp>
      <p:sp>
        <p:nvSpPr>
          <p:cNvPr id="5" name="TextBox 4"/>
          <p:cNvSpPr txBox="1"/>
          <p:nvPr/>
        </p:nvSpPr>
        <p:spPr>
          <a:xfrm>
            <a:off x="1005840" y="3703320"/>
            <a:ext cx="9692640" cy="1005840"/>
          </a:xfrm>
          <a:prstGeom prst="rect">
            <a:avLst/>
          </a:prstGeom>
          <a:noFill/>
        </p:spPr>
        <p:txBody>
          <a:bodyPr wrap="square" lIns="0" rIns="0" tIns="0" bIns="0" anchor="t">
            <a:spAutoFit/>
          </a:bodyPr>
          <a:lstStyle/>
          <a:p>
            <a:pPr algn="l">
              <a:lnSpc>
                <a:spcPct val="112000"/>
              </a:lnSpc>
              <a:spcAft>
                <a:spcPts val="300"/>
              </a:spcAft>
            </a:pPr>
            <a:r>
              <a:rPr sz="1700" b="0" i="0">
                <a:solidFill>
                  <a:srgbClr val="E8E0D2"/>
                </a:solidFill>
                <a:latin typeface="Calibri"/>
              </a:rPr>
              <a:t>DOS HIPÓTESIS SOBRE LA OFERTA Y EL CICLO DE PRECIOS.</a:t>
            </a:r>
          </a:p>
          <a:p>
            <a:pPr>
              <a:lnSpc>
                <a:spcPct val="112000"/>
              </a:lnSpc>
              <a:spcAft>
                <a:spcPts val="0"/>
              </a:spcAft>
            </a:pPr>
            <a:r>
              <a:rPr sz="1700" b="0" i="0">
                <a:solidFill>
                  <a:srgbClr val="E8E0D2"/>
                </a:solidFill>
                <a:latin typeface="Calibri"/>
              </a:rPr>
              <a:t>INSTANCIA 2: MÉTODOS ESTADÍSTICOS Y CUANTITATIVOS.</a:t>
            </a:r>
          </a:p>
        </p:txBody>
      </p:sp>
      <p:sp>
        <p:nvSpPr>
          <p:cNvPr id="6" name="TextBox 5"/>
          <p:cNvSpPr txBox="1"/>
          <p:nvPr/>
        </p:nvSpPr>
        <p:spPr>
          <a:xfrm>
            <a:off x="1005840" y="5349240"/>
            <a:ext cx="10149840" cy="822960"/>
          </a:xfrm>
          <a:prstGeom prst="rect">
            <a:avLst/>
          </a:prstGeom>
          <a:noFill/>
        </p:spPr>
        <p:txBody>
          <a:bodyPr wrap="square" lIns="0" rIns="0" tIns="0" bIns="0" anchor="t">
            <a:spAutoFit/>
          </a:bodyPr>
          <a:lstStyle/>
          <a:p>
            <a:pPr algn="l">
              <a:lnSpc>
                <a:spcPct val="112000"/>
              </a:lnSpc>
              <a:spcAft>
                <a:spcPts val="300"/>
              </a:spcAft>
            </a:pPr>
            <a:r>
              <a:rPr sz="1400" b="0" i="0">
                <a:solidFill>
                  <a:srgbClr val="F6F1E7"/>
                </a:solidFill>
                <a:latin typeface="Calibri"/>
              </a:rPr>
              <a:t>INTEGRANTES: GARCIA CARZOGLIO IGNACIO, MARTÍNEZ JOAQUÍN, BENDERSKY TOMÁS.</a:t>
            </a:r>
          </a:p>
          <a:p>
            <a:pPr>
              <a:lnSpc>
                <a:spcPct val="112000"/>
              </a:lnSpc>
              <a:spcAft>
                <a:spcPts val="0"/>
              </a:spcAft>
            </a:pPr>
            <a:r>
              <a:rPr sz="1200" b="0" i="0">
                <a:solidFill>
                  <a:srgbClr val="E8E0D2"/>
                </a:solidFill>
                <a:latin typeface="Calibri"/>
              </a:rPr>
              <a:t>Ciencia de Datos para Economía y Negocios · FCE-UBA · Grupo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15505E"/>
                </a:solidFill>
                <a:latin typeface="Bookman Old Style"/>
              </a:rPr>
              <a:t>DE DÓNDE VENIMOS</a:t>
            </a:r>
          </a:p>
        </p:txBody>
      </p:sp>
      <p:sp>
        <p:nvSpPr>
          <p:cNvPr id="6" name="TextBox 5"/>
          <p:cNvSpPr txBox="1"/>
          <p:nvPr/>
        </p:nvSpPr>
        <p:spPr>
          <a:xfrm>
            <a:off x="868680" y="1627632"/>
            <a:ext cx="5943600" cy="4023360"/>
          </a:xfrm>
          <a:prstGeom prst="rect">
            <a:avLst/>
          </a:prstGeom>
          <a:noFill/>
        </p:spPr>
        <p:txBody>
          <a:bodyPr wrap="square" lIns="0" rIns="0" tIns="0" bIns="0" anchor="t">
            <a:spAutoFit/>
          </a:bodyPr>
          <a:lstStyle/>
          <a:p>
            <a:pPr algn="l">
              <a:lnSpc>
                <a:spcPct val="112000"/>
              </a:lnSpc>
              <a:spcAft>
                <a:spcPts val="900"/>
              </a:spcAft>
            </a:pPr>
            <a:r>
              <a:rPr sz="1500">
                <a:solidFill>
                  <a:srgbClr val="15505E"/>
                </a:solidFill>
                <a:latin typeface="Calibri"/>
              </a:rPr>
              <a:t>•  </a:t>
            </a:r>
            <a:r>
              <a:rPr sz="1500" b="1">
                <a:solidFill>
                  <a:srgbClr val="15505E"/>
                </a:solidFill>
                <a:latin typeface="Calibri"/>
              </a:rPr>
              <a:t>La base es el </a:t>
            </a:r>
            <a:r>
              <a:rPr sz="1500">
                <a:solidFill>
                  <a:srgbClr val="15505E"/>
                </a:solidFill>
                <a:latin typeface="Calibri"/>
              </a:rPr>
              <a:t>precio promedio de publicación de departamentos en alquiler de 1, 2 y 3 ambientes usados, por comuna. La publica el Instituto de Estadística y Censos de la Ciudad con datos de Argenprop.</a:t>
            </a:r>
          </a:p>
          <a:p>
            <a:pPr>
              <a:lnSpc>
                <a:spcPct val="112000"/>
              </a:lnSpc>
              <a:spcAft>
                <a:spcPts val="900"/>
              </a:spcAft>
            </a:pPr>
            <a:r>
              <a:rPr sz="1500">
                <a:solidFill>
                  <a:srgbClr val="15505E"/>
                </a:solidFill>
                <a:latin typeface="Calibri"/>
              </a:rPr>
              <a:t>•  </a:t>
            </a:r>
            <a:r>
              <a:rPr sz="1500" b="1">
                <a:solidFill>
                  <a:srgbClr val="15505E"/>
                </a:solidFill>
                <a:latin typeface="Calibri"/>
              </a:rPr>
              <a:t>La unidad de observación es </a:t>
            </a:r>
            <a:r>
              <a:rPr sz="1500">
                <a:solidFill>
                  <a:srgbClr val="15505E"/>
                </a:solidFill>
                <a:latin typeface="Calibri"/>
              </a:rPr>
              <a:t>cada comuna, para un tipo de departamento, en un trimestre. Son 15 comunas × 3 tipos × 34 trimestres = 1.530 observaciones, entre el primer trimestre de 2018 y el segundo de 2026.</a:t>
            </a:r>
          </a:p>
          <a:p>
            <a:pPr>
              <a:lnSpc>
                <a:spcPct val="112000"/>
              </a:lnSpc>
              <a:spcAft>
                <a:spcPts val="900"/>
              </a:spcAft>
            </a:pPr>
            <a:r>
              <a:rPr sz="1500">
                <a:solidFill>
                  <a:srgbClr val="15505E"/>
                </a:solidFill>
                <a:latin typeface="Calibri"/>
              </a:rPr>
              <a:t>•  </a:t>
            </a:r>
            <a:r>
              <a:rPr sz="1500" b="1">
                <a:solidFill>
                  <a:srgbClr val="15505E"/>
                </a:solidFill>
                <a:latin typeface="Calibri"/>
              </a:rPr>
              <a:t>Un paso previo: </a:t>
            </a:r>
            <a:r>
              <a:rPr sz="1500">
                <a:solidFill>
                  <a:srgbClr val="15505E"/>
                </a:solidFill>
                <a:latin typeface="Calibri"/>
              </a:rPr>
              <a:t>los precios vienen en pesos corrientes y los deflactamos con el IPC del INDEC (región GBA). Todo lo que sigue está en pesos del 2do trimestre de 2026.</a:t>
            </a:r>
          </a:p>
        </p:txBody>
      </p:sp>
      <p:sp>
        <p:nvSpPr>
          <p:cNvPr id="7" name="Rounded Rectangle 6"/>
          <p:cNvSpPr/>
          <p:nvPr/>
        </p:nvSpPr>
        <p:spPr>
          <a:xfrm>
            <a:off x="7086600" y="1627632"/>
            <a:ext cx="4251960" cy="4023360"/>
          </a:xfrm>
          <a:prstGeom prst="roundRect">
            <a:avLst>
              <a:gd name="adj" fmla="val 5000"/>
            </a:avLst>
          </a:prstGeom>
          <a:solidFill>
            <a:srgbClr val="1550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360920" y="1874519"/>
            <a:ext cx="3703320" cy="3566160"/>
          </a:xfrm>
          <a:prstGeom prst="rect">
            <a:avLst/>
          </a:prstGeom>
          <a:noFill/>
        </p:spPr>
        <p:txBody>
          <a:bodyPr wrap="square" lIns="0" rIns="0" tIns="0" bIns="0" anchor="t">
            <a:spAutoFit/>
          </a:bodyPr>
          <a:lstStyle/>
          <a:p>
            <a:pPr algn="l">
              <a:lnSpc>
                <a:spcPct val="112000"/>
              </a:lnSpc>
              <a:spcAft>
                <a:spcPts val="1200"/>
              </a:spcAft>
            </a:pPr>
            <a:r>
              <a:rPr sz="1600" b="1" i="0">
                <a:solidFill>
                  <a:srgbClr val="F6F1E7"/>
                </a:solidFill>
                <a:latin typeface="Bookman Old Style"/>
              </a:rPr>
              <a:t>Lo que encontramos en la primera entrega</a:t>
            </a:r>
          </a:p>
          <a:p>
            <a:pPr>
              <a:lnSpc>
                <a:spcPct val="110000"/>
              </a:lnSpc>
              <a:spcAft>
                <a:spcPts val="1000"/>
              </a:spcAft>
            </a:pPr>
            <a:r>
              <a:rPr sz="1300" b="0" i="0">
                <a:solidFill>
                  <a:srgbClr val="F6F1E7"/>
                </a:solidFill>
                <a:latin typeface="Calibri"/>
              </a:rPr>
              <a:t>· Falta el 13% de los datos y los faltantes se concentran en el sur: 45% contra 0,3% en el norte.</a:t>
            </a:r>
          </a:p>
          <a:p>
            <a:pPr>
              <a:lnSpc>
                <a:spcPct val="110000"/>
              </a:lnSpc>
              <a:spcAft>
                <a:spcPts val="1000"/>
              </a:spcAft>
            </a:pPr>
            <a:r>
              <a:rPr sz="1300" b="0" i="0">
                <a:solidFill>
                  <a:srgbClr val="F6F1E7"/>
                </a:solidFill>
                <a:latin typeface="Calibri"/>
              </a:rPr>
              <a:t>· Hay una jerarquía de precios estable entre comunas. Palermo y Belgrano arriba, las comunas 4, 8 y 9 abajo.</a:t>
            </a:r>
          </a:p>
          <a:p>
            <a:pPr>
              <a:lnSpc>
                <a:spcPct val="110000"/>
              </a:lnSpc>
              <a:spcAft>
                <a:spcPts val="1000"/>
              </a:spcAft>
            </a:pPr>
            <a:r>
              <a:rPr sz="1300" b="0" i="0">
                <a:solidFill>
                  <a:srgbClr val="F6F1E7"/>
                </a:solidFill>
                <a:latin typeface="Calibri"/>
              </a:rPr>
              <a:t>· En términos reales el alquiler cayó entre 16% y 20% desde 2018, con un pico a fines de 2023.</a:t>
            </a:r>
          </a:p>
        </p:txBody>
      </p:sp>
      <p:sp>
        <p:nvSpPr>
          <p:cNvPr id="9" name="TextBox 8"/>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6B7578"/>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50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F6F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F6F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F6F1E7"/>
                </a:solidFill>
                <a:latin typeface="Bookman Old Style"/>
              </a:rPr>
              <a:t>QUÉ CORREGIMOS DE LA PRIMERA ENTREGA</a:t>
            </a:r>
          </a:p>
        </p:txBody>
      </p:sp>
      <p:sp>
        <p:nvSpPr>
          <p:cNvPr id="6" name="TextBox 5"/>
          <p:cNvSpPr txBox="1"/>
          <p:nvPr/>
        </p:nvSpPr>
        <p:spPr>
          <a:xfrm>
            <a:off x="868680" y="1572768"/>
            <a:ext cx="10424160" cy="365760"/>
          </a:xfrm>
          <a:prstGeom prst="rect">
            <a:avLst/>
          </a:prstGeom>
          <a:noFill/>
        </p:spPr>
        <p:txBody>
          <a:bodyPr wrap="square" lIns="0" rIns="0" tIns="0" bIns="0" anchor="t">
            <a:spAutoFit/>
          </a:bodyPr>
          <a:lstStyle/>
          <a:p>
            <a:pPr algn="l">
              <a:lnSpc>
                <a:spcPct val="112000"/>
              </a:lnSpc>
              <a:spcAft>
                <a:spcPts val="0"/>
              </a:spcAft>
            </a:pPr>
            <a:r>
              <a:rPr sz="1400" b="0" i="0">
                <a:solidFill>
                  <a:srgbClr val="E8E0D2"/>
                </a:solidFill>
                <a:latin typeface="Calibri"/>
              </a:rPr>
              <a:t>La devolución nos marcó cuatro cosas. Esto es lo que hicimos con cada una.</a:t>
            </a:r>
          </a:p>
        </p:txBody>
      </p:sp>
      <p:graphicFrame>
        <p:nvGraphicFramePr>
          <p:cNvPr id="7" name="Table 6"/>
          <p:cNvGraphicFramePr>
            <a:graphicFrameLocks noGrp="1"/>
          </p:cNvGraphicFramePr>
          <p:nvPr/>
        </p:nvGraphicFramePr>
        <p:xfrm>
          <a:off x="868680" y="2084831"/>
          <a:ext cx="10424160" cy="3858768"/>
        </p:xfrm>
        <a:graphic>
          <a:graphicData uri="http://schemas.openxmlformats.org/drawingml/2006/table">
            <a:tbl>
              <a:tblPr>
                <a:tableStyleId>{5C22544A-7EE6-4342-B048-85BDC9FD1C3A}</a:tableStyleId>
              </a:tblPr>
              <a:tblGrid>
                <a:gridCol w="4206240"/>
                <a:gridCol w="6217920"/>
              </a:tblGrid>
              <a:tr h="384048">
                <a:tc>
                  <a:txBody>
                    <a:bodyPr wrap="square"/>
                    <a:lstStyle/>
                    <a:p>
                      <a:pPr>
                        <a:lnSpc>
                          <a:spcPct val="100000"/>
                        </a:lnSpc>
                        <a:spcAft>
                          <a:spcPts val="0"/>
                        </a:spcAft>
                      </a:pPr>
                      <a:r>
                        <a:rPr sz="1200" b="1">
                          <a:solidFill>
                            <a:srgbClr val="F6F1E7"/>
                          </a:solidFill>
                          <a:latin typeface="Calibri"/>
                        </a:rPr>
                        <a:t>Lo que nos dijo el profesor</a:t>
                      </a:r>
                    </a:p>
                  </a:txBody>
                  <a:tcPr marL="82296" marR="82296" marT="18288" marB="18288" anchor="ctr">
                    <a:solidFill>
                      <a:srgbClr val="C8742A"/>
                    </a:solidFill>
                  </a:tcPr>
                </a:tc>
                <a:tc>
                  <a:txBody>
                    <a:bodyPr wrap="square"/>
                    <a:lstStyle/>
                    <a:p>
                      <a:pPr>
                        <a:lnSpc>
                          <a:spcPct val="100000"/>
                        </a:lnSpc>
                        <a:spcAft>
                          <a:spcPts val="0"/>
                        </a:spcAft>
                      </a:pPr>
                      <a:r>
                        <a:rPr sz="1200" b="1">
                          <a:solidFill>
                            <a:srgbClr val="F6F1E7"/>
                          </a:solidFill>
                          <a:latin typeface="Calibri"/>
                        </a:rPr>
                        <a:t>Qué hicimos</a:t>
                      </a:r>
                    </a:p>
                  </a:txBody>
                  <a:tcPr marL="82296" marR="82296" marT="18288" marB="18288" anchor="ctr">
                    <a:solidFill>
                      <a:srgbClr val="C8742A"/>
                    </a:solidFill>
                  </a:tcPr>
                </a:tc>
              </a:tr>
              <a:tr h="868680">
                <a:tc>
                  <a:txBody>
                    <a:bodyPr wrap="square"/>
                    <a:lstStyle/>
                    <a:p>
                      <a:pPr>
                        <a:lnSpc>
                          <a:spcPct val="100000"/>
                        </a:lnSpc>
                        <a:spcAft>
                          <a:spcPts val="0"/>
                        </a:spcAft>
                      </a:pPr>
                      <a:r>
                        <a:rPr sz="1200" b="0">
                          <a:solidFill>
                            <a:srgbClr val="15505E"/>
                          </a:solidFill>
                          <a:latin typeface="Calibri"/>
                        </a:rPr>
                        <a:t>El análisis de correlación era raro. Si lo que se quiere ver es el precio del m² por tipo, mejor una tabla.</a:t>
                      </a:r>
                    </a:p>
                  </a:txBody>
                  <a:tcPr marL="82296" marR="82296" marT="18288" marB="18288" anchor="ctr">
                    <a:solidFill>
                      <a:srgbClr val="F6F1E7"/>
                    </a:solidFill>
                  </a:tcPr>
                </a:tc>
                <a:tc>
                  <a:txBody>
                    <a:bodyPr wrap="square"/>
                    <a:lstStyle/>
                    <a:p>
                      <a:pPr>
                        <a:lnSpc>
                          <a:spcPct val="100000"/>
                        </a:lnSpc>
                        <a:spcAft>
                          <a:spcPts val="0"/>
                        </a:spcAft>
                      </a:pPr>
                      <a:r>
                        <a:rPr sz="1200" b="0">
                          <a:solidFill>
                            <a:srgbClr val="15505E"/>
                          </a:solidFill>
                          <a:latin typeface="Calibri"/>
                        </a:rPr>
                        <a:t>Sacamos la diapositiva de correlaciones y la reemplazamos por una tabla de precio por m² y prima del monoambiente, comuna por comuna.</a:t>
                      </a:r>
                    </a:p>
                  </a:txBody>
                  <a:tcPr marL="82296" marR="82296" marT="18288" marB="18288" anchor="ctr">
                    <a:solidFill>
                      <a:srgbClr val="F6F1E7"/>
                    </a:solidFill>
                  </a:tcPr>
                </a:tc>
              </a:tr>
              <a:tr h="868680">
                <a:tc>
                  <a:txBody>
                    <a:bodyPr wrap="square"/>
                    <a:lstStyle/>
                    <a:p>
                      <a:pPr>
                        <a:lnSpc>
                          <a:spcPct val="100000"/>
                        </a:lnSpc>
                        <a:spcAft>
                          <a:spcPts val="0"/>
                        </a:spcAft>
                      </a:pPr>
                      <a:r>
                        <a:rPr sz="1200" b="0">
                          <a:solidFill>
                            <a:srgbClr val="15505E"/>
                          </a:solidFill>
                          <a:latin typeface="Calibri"/>
                        </a:rPr>
                        <a:t>¿La evolución del precio fue la misma en todos los barrios? ¿Hubo rezagos?</a:t>
                      </a:r>
                    </a:p>
                  </a:txBody>
                  <a:tcPr marL="82296" marR="82296" marT="18288" marB="18288" anchor="ctr">
                    <a:solidFill>
                      <a:srgbClr val="FFFFFF"/>
                    </a:solidFill>
                  </a:tcPr>
                </a:tc>
                <a:tc>
                  <a:txBody>
                    <a:bodyPr wrap="square"/>
                    <a:lstStyle/>
                    <a:p>
                      <a:pPr>
                        <a:lnSpc>
                          <a:spcPct val="100000"/>
                        </a:lnSpc>
                        <a:spcAft>
                          <a:spcPts val="0"/>
                        </a:spcAft>
                      </a:pPr>
                      <a:r>
                        <a:rPr sz="1200" b="0">
                          <a:solidFill>
                            <a:srgbClr val="15505E"/>
                          </a:solidFill>
                          <a:latin typeface="Calibri"/>
                        </a:rPr>
                        <a:t>Agregamos un índice base 2018 = 100 por zona. Las cuatro zonas tocaron el pico casi juntas (2023-T3 y T4): no hubo rezagos.</a:t>
                      </a:r>
                    </a:p>
                  </a:txBody>
                  <a:tcPr marL="82296" marR="82296" marT="18288" marB="18288" anchor="ctr">
                    <a:solidFill>
                      <a:srgbClr val="FFFFFF"/>
                    </a:solidFill>
                  </a:tcPr>
                </a:tc>
              </a:tr>
              <a:tr h="868680">
                <a:tc>
                  <a:txBody>
                    <a:bodyPr wrap="square"/>
                    <a:lstStyle/>
                    <a:p>
                      <a:pPr>
                        <a:lnSpc>
                          <a:spcPct val="100000"/>
                        </a:lnSpc>
                        <a:spcAft>
                          <a:spcPts val="0"/>
                        </a:spcAft>
                      </a:pPr>
                      <a:r>
                        <a:rPr sz="1200" b="0">
                          <a:solidFill>
                            <a:srgbClr val="15505E"/>
                          </a:solidFill>
                          <a:latin typeface="Calibri"/>
                        </a:rPr>
                        <a:t>¿Se abarataron las viviendas grandes en algunos barrios y en otros no?</a:t>
                      </a:r>
                    </a:p>
                  </a:txBody>
                  <a:tcPr marL="82296" marR="82296" marT="18288" marB="18288" anchor="ctr">
                    <a:solidFill>
                      <a:srgbClr val="F6F1E7"/>
                    </a:solidFill>
                  </a:tcPr>
                </a:tc>
                <a:tc>
                  <a:txBody>
                    <a:bodyPr wrap="square"/>
                    <a:lstStyle/>
                    <a:p>
                      <a:pPr>
                        <a:lnSpc>
                          <a:spcPct val="100000"/>
                        </a:lnSpc>
                        <a:spcAft>
                          <a:spcPts val="0"/>
                        </a:spcAft>
                      </a:pPr>
                      <a:r>
                        <a:rPr sz="1200" b="0">
                          <a:solidFill>
                            <a:srgbClr val="15505E"/>
                          </a:solidFill>
                          <a:latin typeface="Calibri"/>
                        </a:rPr>
                        <a:t>Comparamos la prima del monoambiente hoy contra 2018 en cada comuna. En Palermo se achicó 10,5 puntos; en la Comuna 1 creció 14,3.</a:t>
                      </a:r>
                    </a:p>
                  </a:txBody>
                  <a:tcPr marL="82296" marR="82296" marT="18288" marB="18288" anchor="ctr">
                    <a:solidFill>
                      <a:srgbClr val="F6F1E7"/>
                    </a:solidFill>
                  </a:tcPr>
                </a:tc>
              </a:tr>
              <a:tr h="868680">
                <a:tc>
                  <a:txBody>
                    <a:bodyPr wrap="square"/>
                    <a:lstStyle/>
                    <a:p>
                      <a:pPr>
                        <a:lnSpc>
                          <a:spcPct val="100000"/>
                        </a:lnSpc>
                        <a:spcAft>
                          <a:spcPts val="0"/>
                        </a:spcAft>
                      </a:pPr>
                      <a:r>
                        <a:rPr sz="1200" b="0">
                          <a:solidFill>
                            <a:srgbClr val="15505E"/>
                          </a:solidFill>
                          <a:latin typeface="Calibri"/>
                        </a:rPr>
                        <a:t>Salgan del análisis de tendencias. Usen ANOVA e índices.</a:t>
                      </a:r>
                    </a:p>
                  </a:txBody>
                  <a:tcPr marL="82296" marR="82296" marT="18288" marB="18288" anchor="ctr">
                    <a:solidFill>
                      <a:srgbClr val="FFFFFF"/>
                    </a:solidFill>
                  </a:tcPr>
                </a:tc>
                <a:tc>
                  <a:txBody>
                    <a:bodyPr wrap="square"/>
                    <a:lstStyle/>
                    <a:p>
                      <a:pPr>
                        <a:lnSpc>
                          <a:spcPct val="100000"/>
                        </a:lnSpc>
                        <a:spcAft>
                          <a:spcPts val="0"/>
                        </a:spcAft>
                      </a:pPr>
                      <a:r>
                        <a:rPr sz="1200" b="0">
                          <a:solidFill>
                            <a:srgbClr val="15505E"/>
                          </a:solidFill>
                          <a:latin typeface="Calibri"/>
                        </a:rPr>
                        <a:t>Cambiamos la hipótesis descriptiva por dos hipótesis con un mecanismo económico detrás, y aplicamos ANOVA, chi-cuadrado, Theil e índices.</a:t>
                      </a:r>
                    </a:p>
                  </a:txBody>
                  <a:tcPr marL="82296" marR="82296" marT="18288" marB="18288" anchor="ctr">
                    <a:solidFill>
                      <a:srgbClr val="FFFFFF"/>
                    </a:solidFill>
                  </a:tcPr>
                </a:tc>
              </a:tr>
            </a:tbl>
          </a:graphicData>
        </a:graphic>
      </p:graphicFrame>
      <p:sp>
        <p:nvSpPr>
          <p:cNvPr id="8" name="TextBox 7"/>
          <p:cNvSpPr txBox="1"/>
          <p:nvPr/>
        </p:nvSpPr>
        <p:spPr>
          <a:xfrm>
            <a:off x="868680" y="6172200"/>
            <a:ext cx="10454335" cy="457200"/>
          </a:xfrm>
          <a:prstGeom prst="rect">
            <a:avLst/>
          </a:prstGeom>
          <a:noFill/>
        </p:spPr>
        <p:txBody>
          <a:bodyPr wrap="square" lIns="0" rIns="0" tIns="0" bIns="0" anchor="t">
            <a:spAutoFit/>
          </a:bodyPr>
          <a:lstStyle/>
          <a:p>
            <a:pPr algn="l">
              <a:lnSpc>
                <a:spcPct val="108000"/>
              </a:lnSpc>
              <a:spcAft>
                <a:spcPts val="0"/>
              </a:spcAft>
            </a:pPr>
            <a:r>
              <a:rPr sz="1000" b="0" i="1">
                <a:solidFill>
                  <a:srgbClr val="E8E0D2"/>
                </a:solidFill>
                <a:latin typeface="Calibri"/>
              </a:rPr>
              <a:t>La quinta observación fue sobre el texto: esta vez lo escribimos nosotros.</a:t>
            </a:r>
          </a:p>
        </p:txBody>
      </p:sp>
      <p:sp>
        <p:nvSpPr>
          <p:cNvPr id="9" name="TextBox 8"/>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E8E0D2"/>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15505E"/>
                </a:solidFill>
                <a:latin typeface="Bookman Old Style"/>
              </a:rPr>
              <a:t>NUESTRAS DOS HIPÓTESIS</a:t>
            </a:r>
          </a:p>
        </p:txBody>
      </p:sp>
      <p:sp>
        <p:nvSpPr>
          <p:cNvPr id="6" name="TextBox 5"/>
          <p:cNvSpPr txBox="1"/>
          <p:nvPr/>
        </p:nvSpPr>
        <p:spPr>
          <a:xfrm>
            <a:off x="868680" y="1572768"/>
            <a:ext cx="10424160" cy="457200"/>
          </a:xfrm>
          <a:prstGeom prst="rect">
            <a:avLst/>
          </a:prstGeom>
          <a:noFill/>
        </p:spPr>
        <p:txBody>
          <a:bodyPr wrap="square" lIns="0" rIns="0" tIns="0" bIns="0" anchor="t">
            <a:spAutoFit/>
          </a:bodyPr>
          <a:lstStyle/>
          <a:p>
            <a:pPr algn="l">
              <a:lnSpc>
                <a:spcPct val="112000"/>
              </a:lnSpc>
              <a:spcAft>
                <a:spcPts val="0"/>
              </a:spcAft>
            </a:pPr>
            <a:r>
              <a:rPr sz="1400" b="0" i="0">
                <a:solidFill>
                  <a:srgbClr val="15505E"/>
                </a:solidFill>
                <a:latin typeface="Calibri"/>
              </a:rPr>
              <a:t>Decir que la jerarquía de precios es estable describe, pero no explica nada: le pasa a casi cualquier ciudad. Buscamos dos regularidades que sí piden una explicación y las convertimos en preguntas que se puedan contrastar.</a:t>
            </a:r>
          </a:p>
        </p:txBody>
      </p:sp>
      <p:sp>
        <p:nvSpPr>
          <p:cNvPr id="7" name="Rounded Rectangle 6"/>
          <p:cNvSpPr/>
          <p:nvPr/>
        </p:nvSpPr>
        <p:spPr>
          <a:xfrm>
            <a:off x="868680" y="2304288"/>
            <a:ext cx="507492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43000" y="2523744"/>
            <a:ext cx="4526280" cy="2514600"/>
          </a:xfrm>
          <a:prstGeom prst="rect">
            <a:avLst/>
          </a:prstGeom>
          <a:noFill/>
        </p:spPr>
        <p:txBody>
          <a:bodyPr wrap="square" lIns="0" rIns="0" tIns="0" bIns="0" anchor="t">
            <a:spAutoFit/>
          </a:bodyPr>
          <a:lstStyle/>
          <a:p>
            <a:pPr algn="l">
              <a:lnSpc>
                <a:spcPct val="105000"/>
              </a:lnSpc>
              <a:spcAft>
                <a:spcPts val="1000"/>
              </a:spcAft>
            </a:pPr>
            <a:r>
              <a:rPr sz="1500" b="1" i="0">
                <a:solidFill>
                  <a:srgbClr val="C8742A"/>
                </a:solidFill>
                <a:latin typeface="Bookman Old Style"/>
              </a:rPr>
              <a:t>Hipótesis 1. El faltante como termómetro de la oferta</a:t>
            </a:r>
          </a:p>
          <a:p>
            <a:pPr>
              <a:lnSpc>
                <a:spcPct val="114000"/>
              </a:lnSpc>
              <a:spcAft>
                <a:spcPts val="1000"/>
              </a:spcAft>
            </a:pPr>
            <a:r>
              <a:rPr sz="1250" b="0" i="0">
                <a:solidFill>
                  <a:srgbClr val="15505E"/>
                </a:solidFill>
                <a:latin typeface="Calibri"/>
              </a:rPr>
              <a:t>La teoría de los controles de alquiler dice que, si se regula cómo se actualizan los contratos, una parte de los propietarios retira la unidad del mercado. Eso reduce la oferta publicada. Como la fuente solo publica una comuna si supera un mínimo de avisos, que falte el dato nos sirve de medida indirecta de la oferta.</a:t>
            </a:r>
          </a:p>
          <a:p>
            <a:pPr>
              <a:lnSpc>
                <a:spcPct val="112000"/>
              </a:lnSpc>
              <a:spcAft>
                <a:spcPts val="0"/>
              </a:spcAft>
            </a:pPr>
            <a:r>
              <a:rPr sz="1250" b="1">
                <a:solidFill>
                  <a:srgbClr val="15505E"/>
                </a:solidFill>
                <a:latin typeface="Calibri"/>
              </a:rPr>
              <a:t>Qué deberíamos ver. </a:t>
            </a:r>
            <a:r>
              <a:rPr sz="1250" b="0">
                <a:solidFill>
                  <a:srgbClr val="15505E"/>
                </a:solidFill>
                <a:latin typeface="Calibri"/>
              </a:rPr>
              <a:t>Esperamos más faltantes durante la Ley de Alquileres (2020-2023) y menos después de su derogación, sobre todo en el sur.</a:t>
            </a:r>
          </a:p>
        </p:txBody>
      </p:sp>
      <p:sp>
        <p:nvSpPr>
          <p:cNvPr id="9" name="Rounded Rectangle 8"/>
          <p:cNvSpPr/>
          <p:nvPr/>
        </p:nvSpPr>
        <p:spPr>
          <a:xfrm>
            <a:off x="6217920" y="2304288"/>
            <a:ext cx="507492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92240" y="2523744"/>
            <a:ext cx="4526280" cy="2514600"/>
          </a:xfrm>
          <a:prstGeom prst="rect">
            <a:avLst/>
          </a:prstGeom>
          <a:noFill/>
        </p:spPr>
        <p:txBody>
          <a:bodyPr wrap="square" lIns="0" rIns="0" tIns="0" bIns="0" anchor="t">
            <a:spAutoFit/>
          </a:bodyPr>
          <a:lstStyle/>
          <a:p>
            <a:pPr algn="l">
              <a:lnSpc>
                <a:spcPct val="105000"/>
              </a:lnSpc>
              <a:spcAft>
                <a:spcPts val="1000"/>
              </a:spcAft>
            </a:pPr>
            <a:r>
              <a:rPr sz="1500" b="1" i="0">
                <a:solidFill>
                  <a:srgbClr val="C8742A"/>
                </a:solidFill>
                <a:latin typeface="Bookman Old Style"/>
              </a:rPr>
              <a:t>Hipótesis 2. El lujo amplifica el ciclo</a:t>
            </a:r>
          </a:p>
          <a:p>
            <a:pPr>
              <a:lnSpc>
                <a:spcPct val="114000"/>
              </a:lnSpc>
              <a:spcAft>
                <a:spcPts val="1000"/>
              </a:spcAft>
            </a:pPr>
            <a:r>
              <a:rPr sz="1250" b="0" i="0">
                <a:solidFill>
                  <a:srgbClr val="15505E"/>
                </a:solidFill>
                <a:latin typeface="Calibri"/>
              </a:rPr>
              <a:t>En finanzas, la beta mide cuánto se mueve un activo cuando se mueve el mercado. Pensamos que las comunas caras funcionan como un activo de beta alta: en las zonas caras el alquiler es un gasto más postergable y hay más propietarios inversores, así que la demanda y la oferta reaccionan más.</a:t>
            </a:r>
          </a:p>
          <a:p>
            <a:pPr>
              <a:lnSpc>
                <a:spcPct val="112000"/>
              </a:lnSpc>
              <a:spcAft>
                <a:spcPts val="0"/>
              </a:spcAft>
            </a:pPr>
            <a:r>
              <a:rPr sz="1250" b="1">
                <a:solidFill>
                  <a:srgbClr val="15505E"/>
                </a:solidFill>
                <a:latin typeface="Calibri"/>
              </a:rPr>
              <a:t>Qué deberíamos ver. </a:t>
            </a:r>
            <a:r>
              <a:rPr sz="1250" b="0">
                <a:solidFill>
                  <a:srgbClr val="15505E"/>
                </a:solidFill>
                <a:latin typeface="Calibri"/>
              </a:rPr>
              <a:t>Esperamos que la beta de una comuna crezca con su nivel de precio: que las caras suban más en los auges y caigan más en las bajas.</a:t>
            </a:r>
          </a:p>
        </p:txBody>
      </p:sp>
      <p:sp>
        <p:nvSpPr>
          <p:cNvPr id="11" name="TextBox 10"/>
          <p:cNvSpPr txBox="1"/>
          <p:nvPr/>
        </p:nvSpPr>
        <p:spPr>
          <a:xfrm>
            <a:off x="868680" y="6053328"/>
            <a:ext cx="10454335" cy="457200"/>
          </a:xfrm>
          <a:prstGeom prst="rect">
            <a:avLst/>
          </a:prstGeom>
          <a:noFill/>
        </p:spPr>
        <p:txBody>
          <a:bodyPr wrap="square" lIns="0" rIns="0" tIns="0" bIns="0" anchor="t">
            <a:spAutoFit/>
          </a:bodyPr>
          <a:lstStyle/>
          <a:p>
            <a:pPr algn="l">
              <a:lnSpc>
                <a:spcPct val="108000"/>
              </a:lnSpc>
              <a:spcAft>
                <a:spcPts val="0"/>
              </a:spcAft>
            </a:pPr>
            <a:r>
              <a:rPr sz="1000" b="0" i="1">
                <a:solidFill>
                  <a:srgbClr val="6B7578"/>
                </a:solidFill>
                <a:latin typeface="Calibri"/>
              </a:rPr>
              <a:t>El profesor nos recordó que el trabajo es exploratorio: buscamos asociaciones, no relaciones de causa y efecto.</a:t>
            </a:r>
          </a:p>
        </p:txBody>
      </p:sp>
      <p:sp>
        <p:nvSpPr>
          <p:cNvPr id="12" name="TextBox 11"/>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6B7578"/>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15505E"/>
                </a:solidFill>
                <a:latin typeface="Bookman Old Style"/>
              </a:rPr>
              <a:t>LOS FALTANTES: DÓNDE ESTÁN</a:t>
            </a:r>
          </a:p>
        </p:txBody>
      </p:sp>
      <p:sp>
        <p:nvSpPr>
          <p:cNvPr id="6" name="TextBox 5"/>
          <p:cNvSpPr txBox="1"/>
          <p:nvPr/>
        </p:nvSpPr>
        <p:spPr>
          <a:xfrm>
            <a:off x="868680" y="1572768"/>
            <a:ext cx="5760720" cy="457200"/>
          </a:xfrm>
          <a:prstGeom prst="rect">
            <a:avLst/>
          </a:prstGeom>
          <a:noFill/>
        </p:spPr>
        <p:txBody>
          <a:bodyPr wrap="square" lIns="0" rIns="0" tIns="0" bIns="0" anchor="t">
            <a:spAutoFit/>
          </a:bodyPr>
          <a:lstStyle/>
          <a:p>
            <a:pPr algn="l">
              <a:lnSpc>
                <a:spcPct val="112000"/>
              </a:lnSpc>
              <a:spcAft>
                <a:spcPts val="0"/>
              </a:spcAft>
            </a:pPr>
            <a:r>
              <a:rPr sz="1400" b="1" i="0">
                <a:solidFill>
                  <a:srgbClr val="15505E"/>
                </a:solidFill>
                <a:latin typeface="Calibri"/>
              </a:rPr>
              <a:t>Faltan 199 de las 1.530 observaciones (13%). No están repartidos al azar.</a:t>
            </a:r>
          </a:p>
        </p:txBody>
      </p:sp>
      <p:graphicFrame>
        <p:nvGraphicFramePr>
          <p:cNvPr id="7" name="Table 6"/>
          <p:cNvGraphicFramePr>
            <a:graphicFrameLocks noGrp="1"/>
          </p:cNvGraphicFramePr>
          <p:nvPr/>
        </p:nvGraphicFramePr>
        <p:xfrm>
          <a:off x="868680" y="2103120"/>
          <a:ext cx="5760720" cy="3090672"/>
        </p:xfrm>
        <a:graphic>
          <a:graphicData uri="http://schemas.openxmlformats.org/drawingml/2006/table">
            <a:tbl>
              <a:tblPr>
                <a:tableStyleId>{5C22544A-7EE6-4342-B048-85BDC9FD1C3A}</a:tableStyleId>
              </a:tblPr>
              <a:tblGrid>
                <a:gridCol w="3657600"/>
                <a:gridCol w="2103120"/>
              </a:tblGrid>
              <a:tr h="384048">
                <a:tc>
                  <a:txBody>
                    <a:bodyPr wrap="square"/>
                    <a:lstStyle/>
                    <a:p>
                      <a:pPr algn="l">
                        <a:lnSpc>
                          <a:spcPct val="100000"/>
                        </a:lnSpc>
                        <a:spcAft>
                          <a:spcPts val="0"/>
                        </a:spcAft>
                      </a:pPr>
                      <a:r>
                        <a:rPr sz="1200" b="1">
                          <a:solidFill>
                            <a:srgbClr val="F6F1E7"/>
                          </a:solidFill>
                          <a:latin typeface="Calibri"/>
                        </a:rPr>
                        <a:t>Corte</a:t>
                      </a:r>
                    </a:p>
                  </a:txBody>
                  <a:tcPr marL="82296" marR="82296" marT="18288" marB="18288" anchor="ctr">
                    <a:solidFill>
                      <a:srgbClr val="15505E"/>
                    </a:solidFill>
                  </a:tcPr>
                </a:tc>
                <a:tc>
                  <a:txBody>
                    <a:bodyPr wrap="square"/>
                    <a:lstStyle/>
                    <a:p>
                      <a:pPr algn="r">
                        <a:lnSpc>
                          <a:spcPct val="100000"/>
                        </a:lnSpc>
                        <a:spcAft>
                          <a:spcPts val="0"/>
                        </a:spcAft>
                      </a:pPr>
                      <a:r>
                        <a:rPr sz="1200" b="1">
                          <a:solidFill>
                            <a:srgbClr val="F6F1E7"/>
                          </a:solidFill>
                          <a:latin typeface="Calibri"/>
                        </a:rPr>
                        <a:t>Sin dato publicado</a:t>
                      </a:r>
                    </a:p>
                  </a:txBody>
                  <a:tcPr marL="82296" marR="82296" marT="18288" marB="18288" anchor="ctr">
                    <a:solidFill>
                      <a:srgbClr val="15505E"/>
                    </a:solidFill>
                  </a:tcPr>
                </a:tc>
              </a:tr>
              <a:tr h="338328">
                <a:tc>
                  <a:txBody>
                    <a:bodyPr wrap="square"/>
                    <a:lstStyle/>
                    <a:p>
                      <a:pPr algn="l">
                        <a:lnSpc>
                          <a:spcPct val="100000"/>
                        </a:lnSpc>
                        <a:spcAft>
                          <a:spcPts val="0"/>
                        </a:spcAft>
                      </a:pPr>
                      <a:r>
                        <a:rPr sz="1200" b="0">
                          <a:solidFill>
                            <a:srgbClr val="15505E"/>
                          </a:solidFill>
                          <a:latin typeface="Calibri"/>
                        </a:rPr>
                        <a:t>Total de la base</a:t>
                      </a:r>
                    </a:p>
                  </a:txBody>
                  <a:tcPr marL="82296" marR="82296" marT="18288" marB="18288" anchor="ctr">
                    <a:solidFill>
                      <a:srgbClr val="F6F1E7"/>
                    </a:solidFill>
                  </a:tcPr>
                </a:tc>
                <a:tc>
                  <a:txBody>
                    <a:bodyPr wrap="square"/>
                    <a:lstStyle/>
                    <a:p>
                      <a:pPr algn="r">
                        <a:lnSpc>
                          <a:spcPct val="100000"/>
                        </a:lnSpc>
                        <a:spcAft>
                          <a:spcPts val="0"/>
                        </a:spcAft>
                      </a:pPr>
                      <a:r>
                        <a:rPr sz="1200" b="0">
                          <a:solidFill>
                            <a:srgbClr val="15505E"/>
                          </a:solidFill>
                          <a:latin typeface="Calibri"/>
                        </a:rPr>
                        <a:t>13,0%</a:t>
                      </a:r>
                    </a:p>
                  </a:txBody>
                  <a:tcPr marL="82296" marR="82296" marT="18288" marB="18288" anchor="ctr">
                    <a:solidFill>
                      <a:srgbClr val="F6F1E7"/>
                    </a:solidFill>
                  </a:tcPr>
                </a:tc>
              </a:tr>
              <a:tr h="338328">
                <a:tc>
                  <a:txBody>
                    <a:bodyPr wrap="square"/>
                    <a:lstStyle/>
                    <a:p>
                      <a:pPr algn="l">
                        <a:lnSpc>
                          <a:spcPct val="100000"/>
                        </a:lnSpc>
                        <a:spcAft>
                          <a:spcPts val="0"/>
                        </a:spcAft>
                      </a:pPr>
                      <a:r>
                        <a:rPr sz="1200" b="0">
                          <a:solidFill>
                            <a:srgbClr val="15505E"/>
                          </a:solidFill>
                          <a:latin typeface="Calibri"/>
                        </a:rPr>
                        <a:t>Zona Sur</a:t>
                      </a:r>
                    </a:p>
                  </a:txBody>
                  <a:tcPr marL="82296" marR="82296" marT="18288" marB="18288" anchor="ctr">
                    <a:solidFill>
                      <a:srgbClr val="FFFFFF"/>
                    </a:solidFill>
                  </a:tcPr>
                </a:tc>
                <a:tc>
                  <a:txBody>
                    <a:bodyPr wrap="square"/>
                    <a:lstStyle/>
                    <a:p>
                      <a:pPr algn="r">
                        <a:lnSpc>
                          <a:spcPct val="100000"/>
                        </a:lnSpc>
                        <a:spcAft>
                          <a:spcPts val="0"/>
                        </a:spcAft>
                      </a:pPr>
                      <a:r>
                        <a:rPr sz="1200" b="0">
                          <a:solidFill>
                            <a:srgbClr val="15505E"/>
                          </a:solidFill>
                          <a:latin typeface="Calibri"/>
                        </a:rPr>
                        <a:t>45,1%</a:t>
                      </a:r>
                    </a:p>
                  </a:txBody>
                  <a:tcPr marL="82296" marR="82296" marT="18288" marB="18288" anchor="ctr">
                    <a:solidFill>
                      <a:srgbClr val="FFFFFF"/>
                    </a:solidFill>
                  </a:tcPr>
                </a:tc>
              </a:tr>
              <a:tr h="338328">
                <a:tc>
                  <a:txBody>
                    <a:bodyPr wrap="square"/>
                    <a:lstStyle/>
                    <a:p>
                      <a:pPr algn="l">
                        <a:lnSpc>
                          <a:spcPct val="100000"/>
                        </a:lnSpc>
                        <a:spcAft>
                          <a:spcPts val="0"/>
                        </a:spcAft>
                      </a:pPr>
                      <a:r>
                        <a:rPr sz="1200" b="0">
                          <a:solidFill>
                            <a:srgbClr val="15505E"/>
                          </a:solidFill>
                          <a:latin typeface="Calibri"/>
                        </a:rPr>
                        <a:t>Zona Oeste</a:t>
                      </a:r>
                    </a:p>
                  </a:txBody>
                  <a:tcPr marL="82296" marR="82296" marT="18288" marB="18288" anchor="ctr">
                    <a:solidFill>
                      <a:srgbClr val="F6F1E7"/>
                    </a:solidFill>
                  </a:tcPr>
                </a:tc>
                <a:tc>
                  <a:txBody>
                    <a:bodyPr wrap="square"/>
                    <a:lstStyle/>
                    <a:p>
                      <a:pPr algn="r">
                        <a:lnSpc>
                          <a:spcPct val="100000"/>
                        </a:lnSpc>
                        <a:spcAft>
                          <a:spcPts val="0"/>
                        </a:spcAft>
                      </a:pPr>
                      <a:r>
                        <a:rPr sz="1200" b="0">
                          <a:solidFill>
                            <a:srgbClr val="15505E"/>
                          </a:solidFill>
                          <a:latin typeface="Calibri"/>
                        </a:rPr>
                        <a:t>4,2%</a:t>
                      </a:r>
                    </a:p>
                  </a:txBody>
                  <a:tcPr marL="82296" marR="82296" marT="18288" marB="18288" anchor="ctr">
                    <a:solidFill>
                      <a:srgbClr val="F6F1E7"/>
                    </a:solidFill>
                  </a:tcPr>
                </a:tc>
              </a:tr>
              <a:tr h="338328">
                <a:tc>
                  <a:txBody>
                    <a:bodyPr wrap="square"/>
                    <a:lstStyle/>
                    <a:p>
                      <a:pPr algn="l">
                        <a:lnSpc>
                          <a:spcPct val="100000"/>
                        </a:lnSpc>
                        <a:spcAft>
                          <a:spcPts val="0"/>
                        </a:spcAft>
                      </a:pPr>
                      <a:r>
                        <a:rPr sz="1200" b="0">
                          <a:solidFill>
                            <a:srgbClr val="15505E"/>
                          </a:solidFill>
                          <a:latin typeface="Calibri"/>
                        </a:rPr>
                        <a:t>Zona Norte</a:t>
                      </a:r>
                    </a:p>
                  </a:txBody>
                  <a:tcPr marL="82296" marR="82296" marT="18288" marB="18288" anchor="ctr">
                    <a:solidFill>
                      <a:srgbClr val="FFFFFF"/>
                    </a:solidFill>
                  </a:tcPr>
                </a:tc>
                <a:tc>
                  <a:txBody>
                    <a:bodyPr wrap="square"/>
                    <a:lstStyle/>
                    <a:p>
                      <a:pPr algn="r">
                        <a:lnSpc>
                          <a:spcPct val="100000"/>
                        </a:lnSpc>
                        <a:spcAft>
                          <a:spcPts val="0"/>
                        </a:spcAft>
                      </a:pPr>
                      <a:r>
                        <a:rPr sz="1200" b="0">
                          <a:solidFill>
                            <a:srgbClr val="15505E"/>
                          </a:solidFill>
                          <a:latin typeface="Calibri"/>
                        </a:rPr>
                        <a:t>0,3%</a:t>
                      </a:r>
                    </a:p>
                  </a:txBody>
                  <a:tcPr marL="82296" marR="82296" marT="18288" marB="18288" anchor="ctr">
                    <a:solidFill>
                      <a:srgbClr val="FFFFFF"/>
                    </a:solidFill>
                  </a:tcPr>
                </a:tc>
              </a:tr>
              <a:tr h="338328">
                <a:tc>
                  <a:txBody>
                    <a:bodyPr wrap="square"/>
                    <a:lstStyle/>
                    <a:p>
                      <a:pPr algn="l">
                        <a:lnSpc>
                          <a:spcPct val="100000"/>
                        </a:lnSpc>
                        <a:spcAft>
                          <a:spcPts val="0"/>
                        </a:spcAft>
                      </a:pPr>
                      <a:r>
                        <a:rPr sz="1200" b="0">
                          <a:solidFill>
                            <a:srgbClr val="15505E"/>
                          </a:solidFill>
                          <a:latin typeface="Calibri"/>
                        </a:rPr>
                        <a:t>Zona Centro</a:t>
                      </a:r>
                    </a:p>
                  </a:txBody>
                  <a:tcPr marL="82296" marR="82296" marT="18288" marB="18288" anchor="ctr">
                    <a:solidFill>
                      <a:srgbClr val="F6F1E7"/>
                    </a:solidFill>
                  </a:tcPr>
                </a:tc>
                <a:tc>
                  <a:txBody>
                    <a:bodyPr wrap="square"/>
                    <a:lstStyle/>
                    <a:p>
                      <a:pPr algn="r">
                        <a:lnSpc>
                          <a:spcPct val="100000"/>
                        </a:lnSpc>
                        <a:spcAft>
                          <a:spcPts val="0"/>
                        </a:spcAft>
                      </a:pPr>
                      <a:r>
                        <a:rPr sz="1200" b="0">
                          <a:solidFill>
                            <a:srgbClr val="15505E"/>
                          </a:solidFill>
                          <a:latin typeface="Calibri"/>
                        </a:rPr>
                        <a:t>0,2%</a:t>
                      </a:r>
                    </a:p>
                  </a:txBody>
                  <a:tcPr marL="82296" marR="82296" marT="18288" marB="18288" anchor="ctr">
                    <a:solidFill>
                      <a:srgbClr val="F6F1E7"/>
                    </a:solidFill>
                  </a:tcPr>
                </a:tc>
              </a:tr>
              <a:tr h="338328">
                <a:tc>
                  <a:txBody>
                    <a:bodyPr wrap="square"/>
                    <a:lstStyle/>
                    <a:p>
                      <a:pPr algn="l">
                        <a:lnSpc>
                          <a:spcPct val="100000"/>
                        </a:lnSpc>
                        <a:spcAft>
                          <a:spcPts val="0"/>
                        </a:spcAft>
                      </a:pPr>
                      <a:r>
                        <a:rPr sz="1200" b="0">
                          <a:solidFill>
                            <a:srgbClr val="15505E"/>
                          </a:solidFill>
                          <a:latin typeface="Calibri"/>
                        </a:rPr>
                        <a:t>1 ambiente</a:t>
                      </a:r>
                    </a:p>
                  </a:txBody>
                  <a:tcPr marL="82296" marR="82296" marT="18288" marB="18288" anchor="ctr">
                    <a:solidFill>
                      <a:srgbClr val="FFFFFF"/>
                    </a:solidFill>
                  </a:tcPr>
                </a:tc>
                <a:tc>
                  <a:txBody>
                    <a:bodyPr wrap="square"/>
                    <a:lstStyle/>
                    <a:p>
                      <a:pPr algn="r">
                        <a:lnSpc>
                          <a:spcPct val="100000"/>
                        </a:lnSpc>
                        <a:spcAft>
                          <a:spcPts val="0"/>
                        </a:spcAft>
                      </a:pPr>
                      <a:r>
                        <a:rPr sz="1200" b="0">
                          <a:solidFill>
                            <a:srgbClr val="15505E"/>
                          </a:solidFill>
                          <a:latin typeface="Calibri"/>
                        </a:rPr>
                        <a:t>17,1%</a:t>
                      </a:r>
                    </a:p>
                  </a:txBody>
                  <a:tcPr marL="82296" marR="82296" marT="18288" marB="18288" anchor="ctr">
                    <a:solidFill>
                      <a:srgbClr val="FFFFFF"/>
                    </a:solidFill>
                  </a:tcPr>
                </a:tc>
              </a:tr>
              <a:tr h="338328">
                <a:tc>
                  <a:txBody>
                    <a:bodyPr wrap="square"/>
                    <a:lstStyle/>
                    <a:p>
                      <a:pPr algn="l">
                        <a:lnSpc>
                          <a:spcPct val="100000"/>
                        </a:lnSpc>
                        <a:spcAft>
                          <a:spcPts val="0"/>
                        </a:spcAft>
                      </a:pPr>
                      <a:r>
                        <a:rPr sz="1200" b="0">
                          <a:solidFill>
                            <a:srgbClr val="15505E"/>
                          </a:solidFill>
                          <a:latin typeface="Calibri"/>
                        </a:rPr>
                        <a:t>2 ambientes</a:t>
                      </a:r>
                    </a:p>
                  </a:txBody>
                  <a:tcPr marL="82296" marR="82296" marT="18288" marB="18288" anchor="ctr">
                    <a:solidFill>
                      <a:srgbClr val="F6F1E7"/>
                    </a:solidFill>
                  </a:tcPr>
                </a:tc>
                <a:tc>
                  <a:txBody>
                    <a:bodyPr wrap="square"/>
                    <a:lstStyle/>
                    <a:p>
                      <a:pPr algn="r">
                        <a:lnSpc>
                          <a:spcPct val="100000"/>
                        </a:lnSpc>
                        <a:spcAft>
                          <a:spcPts val="0"/>
                        </a:spcAft>
                      </a:pPr>
                      <a:r>
                        <a:rPr sz="1200" b="0">
                          <a:solidFill>
                            <a:srgbClr val="15505E"/>
                          </a:solidFill>
                          <a:latin typeface="Calibri"/>
                        </a:rPr>
                        <a:t>7,8%</a:t>
                      </a:r>
                    </a:p>
                  </a:txBody>
                  <a:tcPr marL="82296" marR="82296" marT="18288" marB="18288" anchor="ctr">
                    <a:solidFill>
                      <a:srgbClr val="F6F1E7"/>
                    </a:solidFill>
                  </a:tcPr>
                </a:tc>
              </a:tr>
              <a:tr h="338328">
                <a:tc>
                  <a:txBody>
                    <a:bodyPr wrap="square"/>
                    <a:lstStyle/>
                    <a:p>
                      <a:pPr algn="l">
                        <a:lnSpc>
                          <a:spcPct val="100000"/>
                        </a:lnSpc>
                        <a:spcAft>
                          <a:spcPts val="0"/>
                        </a:spcAft>
                      </a:pPr>
                      <a:r>
                        <a:rPr sz="1200" b="0">
                          <a:solidFill>
                            <a:srgbClr val="15505E"/>
                          </a:solidFill>
                          <a:latin typeface="Calibri"/>
                        </a:rPr>
                        <a:t>3 ambientes</a:t>
                      </a:r>
                    </a:p>
                  </a:txBody>
                  <a:tcPr marL="82296" marR="82296" marT="18288" marB="18288" anchor="ctr">
                    <a:solidFill>
                      <a:srgbClr val="FFFFFF"/>
                    </a:solidFill>
                  </a:tcPr>
                </a:tc>
                <a:tc>
                  <a:txBody>
                    <a:bodyPr wrap="square"/>
                    <a:lstStyle/>
                    <a:p>
                      <a:pPr algn="r">
                        <a:lnSpc>
                          <a:spcPct val="100000"/>
                        </a:lnSpc>
                        <a:spcAft>
                          <a:spcPts val="0"/>
                        </a:spcAft>
                      </a:pPr>
                      <a:r>
                        <a:rPr sz="1200" b="0">
                          <a:solidFill>
                            <a:srgbClr val="15505E"/>
                          </a:solidFill>
                          <a:latin typeface="Calibri"/>
                        </a:rPr>
                        <a:t>14,1%</a:t>
                      </a:r>
                    </a:p>
                  </a:txBody>
                  <a:tcPr marL="82296" marR="82296" marT="18288" marB="18288" anchor="ctr">
                    <a:solidFill>
                      <a:srgbClr val="FFFFFF"/>
                    </a:solidFill>
                  </a:tcPr>
                </a:tc>
              </a:tr>
            </a:tbl>
          </a:graphicData>
        </a:graphic>
      </p:graphicFrame>
      <p:sp>
        <p:nvSpPr>
          <p:cNvPr id="8" name="Rounded Rectangle 7"/>
          <p:cNvSpPr/>
          <p:nvPr/>
        </p:nvSpPr>
        <p:spPr>
          <a:xfrm>
            <a:off x="7086600" y="2103120"/>
            <a:ext cx="4251960" cy="3246120"/>
          </a:xfrm>
          <a:prstGeom prst="roundRect">
            <a:avLst>
              <a:gd name="adj" fmla="val 5000"/>
            </a:avLst>
          </a:prstGeom>
          <a:solidFill>
            <a:srgbClr val="1550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360920" y="2359152"/>
            <a:ext cx="3703320" cy="2743200"/>
          </a:xfrm>
          <a:prstGeom prst="rect">
            <a:avLst/>
          </a:prstGeom>
          <a:noFill/>
        </p:spPr>
        <p:txBody>
          <a:bodyPr wrap="square" lIns="0" rIns="0" tIns="0" bIns="0" anchor="t">
            <a:spAutoFit/>
          </a:bodyPr>
          <a:lstStyle/>
          <a:p>
            <a:pPr algn="l">
              <a:lnSpc>
                <a:spcPct val="112000"/>
              </a:lnSpc>
              <a:spcAft>
                <a:spcPts val="1100"/>
              </a:spcAft>
            </a:pPr>
            <a:r>
              <a:rPr sz="1600" b="1" i="0">
                <a:solidFill>
                  <a:srgbClr val="F6F1E7"/>
                </a:solidFill>
                <a:latin typeface="Bookman Old Style"/>
              </a:rPr>
              <a:t>Por qué falta el dato</a:t>
            </a:r>
          </a:p>
          <a:p>
            <a:pPr>
              <a:lnSpc>
                <a:spcPct val="114000"/>
              </a:lnSpc>
              <a:spcAft>
                <a:spcPts val="1000"/>
              </a:spcAft>
            </a:pPr>
            <a:r>
              <a:rPr sz="1300" b="0" i="0">
                <a:solidFill>
                  <a:srgbClr val="F6F1E7"/>
                </a:solidFill>
                <a:latin typeface="Calibri"/>
              </a:rPr>
              <a:t>La fuente solo publica una comuna si alcanza un mínimo de avisos. El dato falta cuando hay poca oferta publicada, así que el faltante depende del propio mercado.</a:t>
            </a:r>
          </a:p>
          <a:p>
            <a:pPr>
              <a:lnSpc>
                <a:spcPct val="114000"/>
              </a:lnSpc>
              <a:spcAft>
                <a:spcPts val="0"/>
              </a:spcAft>
            </a:pPr>
            <a:r>
              <a:rPr sz="1300" b="0" i="0">
                <a:solidFill>
                  <a:srgbClr val="F6F1E7"/>
                </a:solidFill>
                <a:latin typeface="Calibri"/>
              </a:rPr>
              <a:t>Esto es lo que en la clase 12 se llama MNAR: ni borrar ni imputar arreglan el sesgo. Por eso no imputamos ningún precio.</a:t>
            </a:r>
          </a:p>
        </p:txBody>
      </p:sp>
      <p:sp>
        <p:nvSpPr>
          <p:cNvPr id="10" name="TextBox 9"/>
          <p:cNvSpPr txBox="1"/>
          <p:nvPr/>
        </p:nvSpPr>
        <p:spPr>
          <a:xfrm>
            <a:off x="868680" y="5623560"/>
            <a:ext cx="10454335" cy="457200"/>
          </a:xfrm>
          <a:prstGeom prst="rect">
            <a:avLst/>
          </a:prstGeom>
          <a:noFill/>
        </p:spPr>
        <p:txBody>
          <a:bodyPr wrap="square" lIns="0" rIns="0" tIns="0" bIns="0" anchor="t">
            <a:spAutoFit/>
          </a:bodyPr>
          <a:lstStyle/>
          <a:p>
            <a:pPr algn="l">
              <a:lnSpc>
                <a:spcPct val="108000"/>
              </a:lnSpc>
              <a:spcAft>
                <a:spcPts val="0"/>
              </a:spcAft>
            </a:pPr>
            <a:r>
              <a:rPr sz="1000" b="0" i="1">
                <a:solidFill>
                  <a:srgbClr val="6B7578"/>
                </a:solidFill>
                <a:latin typeface="Calibri"/>
              </a:rPr>
              <a:t>La Comuna 8 (Soldati, Lugano, Riachuelo) no tiene dato en el 97% de los trimestres: 3 datos en 8 años.</a:t>
            </a:r>
          </a:p>
        </p:txBody>
      </p:sp>
      <p:sp>
        <p:nvSpPr>
          <p:cNvPr id="11" name="TextBox 10"/>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6B7578"/>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50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F6F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F6F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F6F1E7"/>
                </a:solidFill>
                <a:latin typeface="Bookman Old Style"/>
              </a:rPr>
              <a:t>QUÉ HACEMOS CON LOS FALTANTES</a:t>
            </a:r>
          </a:p>
        </p:txBody>
      </p:sp>
      <p:sp>
        <p:nvSpPr>
          <p:cNvPr id="6" name="TextBox 5"/>
          <p:cNvSpPr txBox="1"/>
          <p:nvPr/>
        </p:nvSpPr>
        <p:spPr>
          <a:xfrm>
            <a:off x="868680" y="1572768"/>
            <a:ext cx="10424160" cy="411480"/>
          </a:xfrm>
          <a:prstGeom prst="rect">
            <a:avLst/>
          </a:prstGeom>
          <a:noFill/>
        </p:spPr>
        <p:txBody>
          <a:bodyPr wrap="square" lIns="0" rIns="0" tIns="0" bIns="0" anchor="t">
            <a:spAutoFit/>
          </a:bodyPr>
          <a:lstStyle/>
          <a:p>
            <a:pPr algn="l">
              <a:lnSpc>
                <a:spcPct val="112000"/>
              </a:lnSpc>
              <a:spcAft>
                <a:spcPts val="0"/>
              </a:spcAft>
            </a:pPr>
            <a:r>
              <a:rPr sz="1400" b="0" i="0">
                <a:solidFill>
                  <a:srgbClr val="E8E0D2"/>
                </a:solidFill>
                <a:latin typeface="Calibri"/>
              </a:rPr>
              <a:t>No tomamos una sola decisión para toda la base: depende de para qué usamos el dato en cada hipótesis.</a:t>
            </a:r>
          </a:p>
        </p:txBody>
      </p:sp>
      <p:graphicFrame>
        <p:nvGraphicFramePr>
          <p:cNvPr id="7" name="Table 6"/>
          <p:cNvGraphicFramePr>
            <a:graphicFrameLocks noGrp="1"/>
          </p:cNvGraphicFramePr>
          <p:nvPr/>
        </p:nvGraphicFramePr>
        <p:xfrm>
          <a:off x="868680" y="2148840"/>
          <a:ext cx="10424160" cy="2432304"/>
        </p:xfrm>
        <a:graphic>
          <a:graphicData uri="http://schemas.openxmlformats.org/drawingml/2006/table">
            <a:tbl>
              <a:tblPr>
                <a:tableStyleId>{5C22544A-7EE6-4342-B048-85BDC9FD1C3A}</a:tableStyleId>
              </a:tblPr>
              <a:tblGrid>
                <a:gridCol w="1920240"/>
                <a:gridCol w="3931920"/>
                <a:gridCol w="4572000"/>
              </a:tblGrid>
              <a:tr h="329184">
                <a:tc>
                  <a:txBody>
                    <a:bodyPr wrap="square"/>
                    <a:lstStyle/>
                    <a:p>
                      <a:pPr>
                        <a:lnSpc>
                          <a:spcPct val="100000"/>
                        </a:lnSpc>
                        <a:spcAft>
                          <a:spcPts val="0"/>
                        </a:spcAft>
                      </a:pPr>
                      <a:r>
                        <a:rPr sz="1200" b="1">
                          <a:solidFill>
                            <a:srgbClr val="F6F1E7"/>
                          </a:solidFill>
                          <a:latin typeface="Calibri"/>
                        </a:rPr>
                        <a:t/>
                      </a:r>
                    </a:p>
                  </a:txBody>
                  <a:tcPr marL="82296" marR="82296" marT="18288" marB="18288" anchor="ctr">
                    <a:solidFill>
                      <a:srgbClr val="C8742A"/>
                    </a:solidFill>
                  </a:tcPr>
                </a:tc>
                <a:tc>
                  <a:txBody>
                    <a:bodyPr wrap="square"/>
                    <a:lstStyle/>
                    <a:p>
                      <a:pPr>
                        <a:lnSpc>
                          <a:spcPct val="100000"/>
                        </a:lnSpc>
                        <a:spcAft>
                          <a:spcPts val="0"/>
                        </a:spcAft>
                      </a:pPr>
                      <a:r>
                        <a:rPr sz="1200" b="1">
                          <a:solidFill>
                            <a:srgbClr val="F6F1E7"/>
                          </a:solidFill>
                          <a:latin typeface="Calibri"/>
                        </a:rPr>
                        <a:t>Qué hacemos</a:t>
                      </a:r>
                    </a:p>
                  </a:txBody>
                  <a:tcPr marL="82296" marR="82296" marT="18288" marB="18288" anchor="ctr">
                    <a:solidFill>
                      <a:srgbClr val="C8742A"/>
                    </a:solidFill>
                  </a:tcPr>
                </a:tc>
                <a:tc>
                  <a:txBody>
                    <a:bodyPr wrap="square"/>
                    <a:lstStyle/>
                    <a:p>
                      <a:pPr>
                        <a:lnSpc>
                          <a:spcPct val="100000"/>
                        </a:lnSpc>
                        <a:spcAft>
                          <a:spcPts val="0"/>
                        </a:spcAft>
                      </a:pPr>
                      <a:r>
                        <a:rPr sz="1200" b="1">
                          <a:solidFill>
                            <a:srgbClr val="F6F1E7"/>
                          </a:solidFill>
                          <a:latin typeface="Calibri"/>
                        </a:rPr>
                        <a:t>Por qué</a:t>
                      </a:r>
                    </a:p>
                  </a:txBody>
                  <a:tcPr marL="82296" marR="82296" marT="18288" marB="18288" anchor="ctr">
                    <a:solidFill>
                      <a:srgbClr val="C8742A"/>
                    </a:solidFill>
                  </a:tcPr>
                </a:tc>
              </a:tr>
              <a:tr h="1051560">
                <a:tc>
                  <a:txBody>
                    <a:bodyPr wrap="square"/>
                    <a:lstStyle/>
                    <a:p>
                      <a:pPr>
                        <a:lnSpc>
                          <a:spcPct val="100000"/>
                        </a:lnSpc>
                        <a:spcAft>
                          <a:spcPts val="0"/>
                        </a:spcAft>
                      </a:pPr>
                      <a:r>
                        <a:rPr sz="1200" b="0">
                          <a:solidFill>
                            <a:srgbClr val="15505E"/>
                          </a:solidFill>
                          <a:latin typeface="Calibri"/>
                        </a:rPr>
                        <a:t>Hipótesis 1
(chi-cuadrado)</a:t>
                      </a:r>
                    </a:p>
                  </a:txBody>
                  <a:tcPr marL="82296" marR="82296" marT="18288" marB="18288" anchor="ctr">
                    <a:solidFill>
                      <a:srgbClr val="F6F1E7"/>
                    </a:solidFill>
                  </a:tcPr>
                </a:tc>
                <a:tc>
                  <a:txBody>
                    <a:bodyPr wrap="square"/>
                    <a:lstStyle/>
                    <a:p>
                      <a:pPr>
                        <a:lnSpc>
                          <a:spcPct val="100000"/>
                        </a:lnSpc>
                        <a:spcAft>
                          <a:spcPts val="0"/>
                        </a:spcAft>
                      </a:pPr>
                      <a:r>
                        <a:rPr sz="1200" b="0">
                          <a:solidFill>
                            <a:srgbClr val="15505E"/>
                          </a:solidFill>
                          <a:latin typeface="Calibri"/>
                        </a:rPr>
                        <a:t>Los mantenemos. El faltante es la variable que queremos estudiar.</a:t>
                      </a:r>
                    </a:p>
                  </a:txBody>
                  <a:tcPr marL="82296" marR="82296" marT="18288" marB="18288" anchor="ctr">
                    <a:solidFill>
                      <a:srgbClr val="F6F1E7"/>
                    </a:solidFill>
                  </a:tcPr>
                </a:tc>
                <a:tc>
                  <a:txBody>
                    <a:bodyPr wrap="square"/>
                    <a:lstStyle/>
                    <a:p>
                      <a:pPr>
                        <a:lnSpc>
                          <a:spcPct val="100000"/>
                        </a:lnSpc>
                        <a:spcAft>
                          <a:spcPts val="0"/>
                        </a:spcAft>
                      </a:pPr>
                      <a:r>
                        <a:rPr sz="1200" b="0">
                          <a:solidFill>
                            <a:srgbClr val="15505E"/>
                          </a:solidFill>
                          <a:latin typeface="Calibri"/>
                        </a:rPr>
                        <a:t>Que el dato falte es información sobre la oferta. Imputarlo sería borrar justo lo que queremos medir.</a:t>
                      </a:r>
                    </a:p>
                  </a:txBody>
                  <a:tcPr marL="82296" marR="82296" marT="18288" marB="18288" anchor="ctr">
                    <a:solidFill>
                      <a:srgbClr val="F6F1E7"/>
                    </a:solidFill>
                  </a:tcPr>
                </a:tc>
              </a:tr>
              <a:tr h="1051560">
                <a:tc>
                  <a:txBody>
                    <a:bodyPr wrap="square"/>
                    <a:lstStyle/>
                    <a:p>
                      <a:pPr>
                        <a:lnSpc>
                          <a:spcPct val="100000"/>
                        </a:lnSpc>
                        <a:spcAft>
                          <a:spcPts val="0"/>
                        </a:spcAft>
                      </a:pPr>
                      <a:r>
                        <a:rPr sz="1200" b="0">
                          <a:solidFill>
                            <a:srgbClr val="15505E"/>
                          </a:solidFill>
                          <a:latin typeface="Calibri"/>
                        </a:rPr>
                        <a:t>Hipótesis 2
(beta y Theil)</a:t>
                      </a:r>
                    </a:p>
                  </a:txBody>
                  <a:tcPr marL="82296" marR="82296" marT="18288" marB="18288" anchor="ctr">
                    <a:solidFill>
                      <a:srgbClr val="FFFFFF"/>
                    </a:solidFill>
                  </a:tcPr>
                </a:tc>
                <a:tc>
                  <a:txBody>
                    <a:bodyPr wrap="square"/>
                    <a:lstStyle/>
                    <a:p>
                      <a:pPr>
                        <a:lnSpc>
                          <a:spcPct val="100000"/>
                        </a:lnSpc>
                        <a:spcAft>
                          <a:spcPts val="0"/>
                        </a:spcAft>
                      </a:pPr>
                      <a:r>
                        <a:rPr sz="1200" b="0">
                          <a:solidFill>
                            <a:srgbClr val="15505E"/>
                          </a:solidFill>
                          <a:latin typeface="Calibri"/>
                        </a:rPr>
                        <a:t>Panel balanceado: interpolación lineal de huecos de hasta 4 trimestres y afuera las series incompletas.</a:t>
                      </a:r>
                    </a:p>
                  </a:txBody>
                  <a:tcPr marL="82296" marR="82296" marT="18288" marB="18288" anchor="ctr">
                    <a:solidFill>
                      <a:srgbClr val="FFFFFF"/>
                    </a:solidFill>
                  </a:tcPr>
                </a:tc>
                <a:tc>
                  <a:txBody>
                    <a:bodyPr wrap="square"/>
                    <a:lstStyle/>
                    <a:p>
                      <a:pPr>
                        <a:lnSpc>
                          <a:spcPct val="100000"/>
                        </a:lnSpc>
                        <a:spcAft>
                          <a:spcPts val="0"/>
                        </a:spcAft>
                      </a:pPr>
                      <a:r>
                        <a:rPr sz="1200" b="0">
                          <a:solidFill>
                            <a:srgbClr val="15505E"/>
                          </a:solidFill>
                          <a:latin typeface="Calibri"/>
                        </a:rPr>
                        <a:t>Los retornos se calculan entre trimestres consecutivos, así que necesitan series completas. No extrapolamos al principio ni al final.</a:t>
                      </a:r>
                    </a:p>
                  </a:txBody>
                  <a:tcPr marL="82296" marR="82296" marT="18288" marB="18288" anchor="ctr">
                    <a:solidFill>
                      <a:srgbClr val="FFFFFF"/>
                    </a:solidFill>
                  </a:tcPr>
                </a:tc>
              </a:tr>
            </a:tbl>
          </a:graphicData>
        </a:graphic>
      </p:graphicFrame>
      <p:sp>
        <p:nvSpPr>
          <p:cNvPr id="8" name="Rounded Rectangle 7"/>
          <p:cNvSpPr/>
          <p:nvPr/>
        </p:nvSpPr>
        <p:spPr>
          <a:xfrm>
            <a:off x="868680" y="4526280"/>
            <a:ext cx="10424160" cy="1371600"/>
          </a:xfrm>
          <a:prstGeom prst="roundRect">
            <a:avLst>
              <a:gd name="adj" fmla="val 5000"/>
            </a:avLst>
          </a:prstGeom>
          <a:solidFill>
            <a:srgbClr val="E8E0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43000" y="4736592"/>
            <a:ext cx="9875520" cy="1005840"/>
          </a:xfrm>
          <a:prstGeom prst="rect">
            <a:avLst/>
          </a:prstGeom>
          <a:noFill/>
        </p:spPr>
        <p:txBody>
          <a:bodyPr wrap="square" lIns="0" rIns="0" tIns="0" bIns="0" anchor="t">
            <a:spAutoFit/>
          </a:bodyPr>
          <a:lstStyle/>
          <a:p>
            <a:pPr algn="l">
              <a:lnSpc>
                <a:spcPct val="112000"/>
              </a:lnSpc>
              <a:spcAft>
                <a:spcPts val="800"/>
              </a:spcAft>
            </a:pPr>
            <a:r>
              <a:rPr sz="1400" b="1" i="0">
                <a:solidFill>
                  <a:srgbClr val="C8742A"/>
                </a:solidFill>
                <a:latin typeface="Bookman Old Style"/>
              </a:rPr>
              <a:t>Qué consecuencias tiene</a:t>
            </a:r>
          </a:p>
          <a:p>
            <a:pPr>
              <a:lnSpc>
                <a:spcPct val="114000"/>
              </a:lnSpc>
              <a:spcAft>
                <a:spcPts val="0"/>
              </a:spcAft>
            </a:pPr>
            <a:r>
              <a:rPr sz="1300" b="0" i="0">
                <a:solidFill>
                  <a:srgbClr val="15505E"/>
                </a:solidFill>
                <a:latin typeface="Calibri"/>
              </a:rPr>
              <a:t>El panel queda con 38 de las 45 series y el sur apenas con 5: en la hipótesis 2 el sur queda subrepresentado y la dispersión entre comunas probablemente esté subestimada. Interpolamos 22 valores sobre 1.292, 8 de ellos en 2023, así que algunas series tienen el pico de ese año suavizado y su beta puede quedar más baja de lo que fue.</a:t>
            </a:r>
          </a:p>
        </p:txBody>
      </p:sp>
      <p:sp>
        <p:nvSpPr>
          <p:cNvPr id="10" name="TextBox 9"/>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E8E0D2"/>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15505E"/>
                </a:solidFill>
                <a:latin typeface="Bookman Old Style"/>
              </a:rPr>
              <a:t>OUTLIERS: EL PICO DE 2023</a:t>
            </a:r>
          </a:p>
        </p:txBody>
      </p:sp>
      <p:sp>
        <p:nvSpPr>
          <p:cNvPr id="6" name="TextBox 5"/>
          <p:cNvSpPr txBox="1"/>
          <p:nvPr/>
        </p:nvSpPr>
        <p:spPr>
          <a:xfrm>
            <a:off x="868680" y="1600200"/>
            <a:ext cx="5669280" cy="4023360"/>
          </a:xfrm>
          <a:prstGeom prst="rect">
            <a:avLst/>
          </a:prstGeom>
          <a:noFill/>
        </p:spPr>
        <p:txBody>
          <a:bodyPr wrap="square" lIns="0" rIns="0" tIns="0" bIns="0" anchor="t">
            <a:spAutoFit/>
          </a:bodyPr>
          <a:lstStyle/>
          <a:p>
            <a:pPr algn="l">
              <a:lnSpc>
                <a:spcPct val="112000"/>
              </a:lnSpc>
              <a:spcAft>
                <a:spcPts val="1100"/>
              </a:spcAft>
            </a:pPr>
            <a:r>
              <a:rPr sz="1400" b="0" i="0">
                <a:solidFill>
                  <a:srgbClr val="15505E"/>
                </a:solidFill>
                <a:latin typeface="Calibri"/>
              </a:rPr>
              <a:t>Usamos la regla del rango intercuartílico que vimos en clase: es atípico todo lo que cae fuera de Q1 − 1,5·IQR y Q3 + 1,5·IQR.</a:t>
            </a:r>
          </a:p>
          <a:p>
            <a:pPr>
              <a:lnSpc>
                <a:spcPct val="112000"/>
              </a:lnSpc>
              <a:spcAft>
                <a:spcPts val="1000"/>
              </a:spcAft>
            </a:pPr>
            <a:r>
              <a:rPr sz="1400" b="0" i="0">
                <a:solidFill>
                  <a:srgbClr val="15505E"/>
                </a:solidFill>
                <a:latin typeface="Calibri"/>
              </a:rPr>
              <a:t>La aplicamos en dos escalas, porque el precio en pesos es asimétrico y la regla supone cierta simetría:</a:t>
            </a:r>
          </a:p>
          <a:p>
            <a:pPr>
              <a:lnSpc>
                <a:spcPct val="112000"/>
              </a:lnSpc>
              <a:spcAft>
                <a:spcPts val="800"/>
              </a:spcAft>
            </a:pPr>
            <a:r>
              <a:rPr sz="1350" b="1">
                <a:solidFill>
                  <a:srgbClr val="15505E"/>
                </a:solidFill>
                <a:latin typeface="Calibri"/>
              </a:rPr>
              <a:t>· Precio relativo (Ciudad = 100): </a:t>
            </a:r>
            <a:r>
              <a:rPr sz="1350" b="0">
                <a:solidFill>
                  <a:srgbClr val="15505E"/>
                </a:solidFill>
                <a:latin typeface="Calibri"/>
              </a:rPr>
              <a:t>7 casos, 6 de ellos en 2023.</a:t>
            </a:r>
          </a:p>
          <a:p>
            <a:pPr>
              <a:lnSpc>
                <a:spcPct val="112000"/>
              </a:lnSpc>
              <a:spcAft>
                <a:spcPts val="800"/>
              </a:spcAft>
            </a:pPr>
            <a:r>
              <a:rPr sz="1350" b="1">
                <a:solidFill>
                  <a:srgbClr val="15505E"/>
                </a:solidFill>
                <a:latin typeface="Calibri"/>
              </a:rPr>
              <a:t>· log del precio real por m², por tipo: </a:t>
            </a:r>
            <a:r>
              <a:rPr sz="1350" b="0">
                <a:solidFill>
                  <a:srgbClr val="15505E"/>
                </a:solidFill>
                <a:latin typeface="Calibri"/>
              </a:rPr>
              <a:t>60 casos, 59 de ellos en 2023.</a:t>
            </a:r>
          </a:p>
          <a:p>
            <a:pPr>
              <a:lnSpc>
                <a:spcPct val="114000"/>
              </a:lnSpc>
              <a:spcAft>
                <a:spcPts val="0"/>
              </a:spcAft>
            </a:pPr>
            <a:r>
              <a:rPr sz="1400" b="0" i="0">
                <a:solidFill>
                  <a:srgbClr val="15505E"/>
                </a:solidFill>
                <a:latin typeface="Calibri"/>
              </a:rPr>
              <a:t>Casi todos los atípicos son el mismo episodio: el pico real de 2023, cuando la inflación se aceleró y los precios de publicación se adelantaron al IPC.</a:t>
            </a:r>
          </a:p>
        </p:txBody>
      </p:sp>
      <p:sp>
        <p:nvSpPr>
          <p:cNvPr id="7" name="Rounded Rectangle 6"/>
          <p:cNvSpPr/>
          <p:nvPr/>
        </p:nvSpPr>
        <p:spPr>
          <a:xfrm>
            <a:off x="6949440" y="1600200"/>
            <a:ext cx="4389120" cy="4023360"/>
          </a:xfrm>
          <a:prstGeom prst="roundRect">
            <a:avLst>
              <a:gd name="adj" fmla="val 5000"/>
            </a:avLst>
          </a:prstGeom>
          <a:solidFill>
            <a:srgbClr val="1550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223760" y="1828800"/>
            <a:ext cx="3840480" cy="3566160"/>
          </a:xfrm>
          <a:prstGeom prst="rect">
            <a:avLst/>
          </a:prstGeom>
          <a:noFill/>
        </p:spPr>
        <p:txBody>
          <a:bodyPr wrap="square" lIns="0" rIns="0" tIns="0" bIns="0" anchor="t">
            <a:spAutoFit/>
          </a:bodyPr>
          <a:lstStyle/>
          <a:p>
            <a:pPr algn="l">
              <a:lnSpc>
                <a:spcPct val="112000"/>
              </a:lnSpc>
              <a:spcAft>
                <a:spcPts val="1100"/>
              </a:spcAft>
            </a:pPr>
            <a:r>
              <a:rPr sz="1700" b="1" i="0">
                <a:solidFill>
                  <a:srgbClr val="F6F1E7"/>
                </a:solidFill>
                <a:latin typeface="Bookman Old Style"/>
              </a:rPr>
              <a:t>¿Error o dato real?</a:t>
            </a:r>
          </a:p>
          <a:p>
            <a:pPr>
              <a:lnSpc>
                <a:spcPct val="114000"/>
              </a:lnSpc>
              <a:spcAft>
                <a:spcPts val="1100"/>
              </a:spcAft>
            </a:pPr>
            <a:r>
              <a:rPr sz="1300" b="0" i="0">
                <a:solidFill>
                  <a:srgbClr val="F6F1E7"/>
                </a:solidFill>
                <a:latin typeface="Calibri"/>
              </a:rPr>
              <a:t>Dato real. No hay valores imposibles ni saltos de un orden de magnitud, y los atípicos aparecen a la vez en casi todas las comunas y tipos.</a:t>
            </a:r>
          </a:p>
          <a:p>
            <a:pPr>
              <a:lnSpc>
                <a:spcPct val="114000"/>
              </a:lnSpc>
              <a:spcAft>
                <a:spcPts val="1100"/>
              </a:spcAft>
            </a:pPr>
            <a:r>
              <a:rPr sz="1300" b="0" i="0">
                <a:solidFill>
                  <a:srgbClr val="F6F1E7"/>
                </a:solidFill>
                <a:latin typeface="Calibri"/>
              </a:rPr>
              <a:t>Los mantenemos: el pico de 2023 es justamente el auge en el que la hipótesis 2 mide la amplificación. Borrarlo sería borrar el fenómeno.</a:t>
            </a:r>
          </a:p>
          <a:p>
            <a:pPr>
              <a:lnSpc>
                <a:spcPct val="114000"/>
              </a:lnSpc>
              <a:spcAft>
                <a:spcPts val="0"/>
              </a:spcAft>
            </a:pPr>
            <a:r>
              <a:rPr sz="1300" b="0" i="0">
                <a:solidFill>
                  <a:srgbClr val="F6F1E7"/>
                </a:solidFill>
                <a:latin typeface="Calibri"/>
              </a:rPr>
              <a:t>Para que no dominen los resultados trabajamos en logaritmos, acompañamos cada test con su versión no paramétrica y repetimos los índices sin 2023.</a:t>
            </a:r>
          </a:p>
        </p:txBody>
      </p:sp>
      <p:sp>
        <p:nvSpPr>
          <p:cNvPr id="9" name="TextBox 8"/>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6B7578"/>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15505E"/>
                </a:solidFill>
                <a:latin typeface="Bookman Old Style"/>
              </a:rPr>
              <a:t>H1. LA OFERTA PUBLICADA Y LA LEY DE ALQUILERES</a:t>
            </a:r>
          </a:p>
        </p:txBody>
      </p:sp>
      <p:pic>
        <p:nvPicPr>
          <p:cNvPr id="6" name="Picture 5" descr="i2_g01_faltantes_trimestre.png"/>
          <p:cNvPicPr>
            <a:picLocks noChangeAspect="1"/>
          </p:cNvPicPr>
          <p:nvPr/>
        </p:nvPicPr>
        <p:blipFill>
          <a:blip r:embed="rId2"/>
          <a:stretch>
            <a:fillRect/>
          </a:stretch>
        </p:blipFill>
        <p:spPr>
          <a:xfrm>
            <a:off x="868680" y="1572768"/>
            <a:ext cx="7223760" cy="3756355"/>
          </a:xfrm>
          <a:prstGeom prst="rect">
            <a:avLst/>
          </a:prstGeom>
        </p:spPr>
      </p:pic>
      <p:sp>
        <p:nvSpPr>
          <p:cNvPr id="7" name="TextBox 6"/>
          <p:cNvSpPr txBox="1"/>
          <p:nvPr/>
        </p:nvSpPr>
        <p:spPr>
          <a:xfrm>
            <a:off x="8321040" y="1627632"/>
            <a:ext cx="3017520" cy="3931920"/>
          </a:xfrm>
          <a:prstGeom prst="rect">
            <a:avLst/>
          </a:prstGeom>
          <a:noFill/>
        </p:spPr>
        <p:txBody>
          <a:bodyPr wrap="square" lIns="0" rIns="0" tIns="0" bIns="0" anchor="t">
            <a:spAutoFit/>
          </a:bodyPr>
          <a:lstStyle/>
          <a:p>
            <a:pPr algn="l">
              <a:lnSpc>
                <a:spcPct val="114000"/>
              </a:lnSpc>
              <a:spcAft>
                <a:spcPts val="1100"/>
              </a:spcAft>
            </a:pPr>
            <a:r>
              <a:rPr sz="1300" b="0" i="0">
                <a:solidFill>
                  <a:srgbClr val="15505E"/>
                </a:solidFill>
                <a:latin typeface="Calibri"/>
              </a:rPr>
              <a:t>La Ley 27.551 rigió desde mediados de 2020 y fue derogada por el DNU 70/2023 a fines de diciembre de 2023. Eso nos da tres períodos para comparar.</a:t>
            </a:r>
          </a:p>
          <a:p>
            <a:pPr>
              <a:lnSpc>
                <a:spcPct val="112000"/>
              </a:lnSpc>
              <a:spcAft>
                <a:spcPts val="600"/>
              </a:spcAft>
            </a:pPr>
            <a:r>
              <a:rPr sz="1350" b="1">
                <a:solidFill>
                  <a:srgbClr val="15505E"/>
                </a:solidFill>
                <a:latin typeface="Calibri"/>
              </a:rPr>
              <a:t>Antes de la ley: </a:t>
            </a:r>
            <a:r>
              <a:rPr sz="1350" b="0">
                <a:solidFill>
                  <a:srgbClr val="15505E"/>
                </a:solidFill>
                <a:latin typeface="Calibri"/>
              </a:rPr>
              <a:t>12,7% sin dato</a:t>
            </a:r>
          </a:p>
          <a:p>
            <a:pPr>
              <a:lnSpc>
                <a:spcPct val="112000"/>
              </a:lnSpc>
              <a:spcAft>
                <a:spcPts val="600"/>
              </a:spcAft>
            </a:pPr>
            <a:r>
              <a:rPr sz="1350" b="1">
                <a:solidFill>
                  <a:srgbClr val="15505E"/>
                </a:solidFill>
                <a:latin typeface="Calibri"/>
              </a:rPr>
              <a:t>Durante la ley: </a:t>
            </a:r>
            <a:r>
              <a:rPr sz="1350" b="0">
                <a:solidFill>
                  <a:srgbClr val="15505E"/>
                </a:solidFill>
                <a:latin typeface="Calibri"/>
              </a:rPr>
              <a:t>17,6% sin dato</a:t>
            </a:r>
          </a:p>
          <a:p>
            <a:pPr>
              <a:lnSpc>
                <a:spcPct val="112000"/>
              </a:lnSpc>
              <a:spcAft>
                <a:spcPts val="600"/>
              </a:spcAft>
            </a:pPr>
            <a:r>
              <a:rPr sz="1350" b="1">
                <a:solidFill>
                  <a:srgbClr val="15505E"/>
                </a:solidFill>
                <a:latin typeface="Calibri"/>
              </a:rPr>
              <a:t>Después: </a:t>
            </a:r>
            <a:r>
              <a:rPr sz="1350" b="0">
                <a:solidFill>
                  <a:srgbClr val="15505E"/>
                </a:solidFill>
                <a:latin typeface="Calibri"/>
              </a:rPr>
              <a:t>6,9% sin dato</a:t>
            </a:r>
          </a:p>
          <a:p>
            <a:pPr>
              <a:lnSpc>
                <a:spcPct val="114000"/>
              </a:lnSpc>
              <a:spcAft>
                <a:spcPts val="0"/>
              </a:spcAft>
            </a:pPr>
            <a:r>
              <a:rPr sz="1300" b="0" i="0">
                <a:solidFill>
                  <a:srgbClr val="15505E"/>
                </a:solidFill>
                <a:latin typeface="Calibri"/>
              </a:rPr>
              <a:t>El salto de 2024 es el más fuerte de toda la serie.</a:t>
            </a:r>
          </a:p>
        </p:txBody>
      </p:sp>
      <p:sp>
        <p:nvSpPr>
          <p:cNvPr id="8" name="TextBox 7"/>
          <p:cNvSpPr txBox="1"/>
          <p:nvPr/>
        </p:nvSpPr>
        <p:spPr>
          <a:xfrm>
            <a:off x="868680" y="5806440"/>
            <a:ext cx="10454335" cy="457200"/>
          </a:xfrm>
          <a:prstGeom prst="rect">
            <a:avLst/>
          </a:prstGeom>
          <a:noFill/>
        </p:spPr>
        <p:txBody>
          <a:bodyPr wrap="square" lIns="0" rIns="0" tIns="0" bIns="0" anchor="t">
            <a:spAutoFit/>
          </a:bodyPr>
          <a:lstStyle/>
          <a:p>
            <a:pPr algn="l">
              <a:lnSpc>
                <a:spcPct val="108000"/>
              </a:lnSpc>
              <a:spcAft>
                <a:spcPts val="0"/>
              </a:spcAft>
            </a:pPr>
            <a:r>
              <a:rPr sz="1000" b="0" i="1">
                <a:solidFill>
                  <a:srgbClr val="6B7578"/>
                </a:solidFill>
                <a:latin typeface="Calibri"/>
              </a:rPr>
              <a:t>Cada punto es el porcentaje de las 45 series (comuna × tipo) que ese trimestre no tuvo precio publicado.</a:t>
            </a:r>
          </a:p>
        </p:txBody>
      </p:sp>
      <p:sp>
        <p:nvSpPr>
          <p:cNvPr id="9" name="TextBox 8"/>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6B7578"/>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50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F6F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F6F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F6F1E7"/>
                </a:solidFill>
                <a:latin typeface="Bookman Old Style"/>
              </a:rPr>
              <a:t>H1. TEST CHI-CUADRADO DE INDEPENDENCIA</a:t>
            </a:r>
          </a:p>
        </p:txBody>
      </p:sp>
      <p:sp>
        <p:nvSpPr>
          <p:cNvPr id="6" name="TextBox 5"/>
          <p:cNvSpPr txBox="1"/>
          <p:nvPr/>
        </p:nvSpPr>
        <p:spPr>
          <a:xfrm>
            <a:off x="868680" y="1554480"/>
            <a:ext cx="5120640" cy="1828800"/>
          </a:xfrm>
          <a:prstGeom prst="rect">
            <a:avLst/>
          </a:prstGeom>
          <a:noFill/>
        </p:spPr>
        <p:txBody>
          <a:bodyPr wrap="square" lIns="0" rIns="0" tIns="0" bIns="0" anchor="t">
            <a:spAutoFit/>
          </a:bodyPr>
          <a:lstStyle/>
          <a:p>
            <a:pPr algn="l">
              <a:lnSpc>
                <a:spcPct val="114000"/>
              </a:lnSpc>
              <a:spcAft>
                <a:spcPts val="1000"/>
              </a:spcAft>
            </a:pPr>
            <a:r>
              <a:rPr sz="1350" b="0" i="0">
                <a:solidFill>
                  <a:srgbClr val="F6F1E7"/>
                </a:solidFill>
                <a:latin typeface="Calibri"/>
              </a:rPr>
              <a:t>¿La proporción de observaciones sin dato depende del período regulatorio? Son dos variables categóricas, así que corresponde un chi-cuadrado.</a:t>
            </a:r>
          </a:p>
          <a:p>
            <a:pPr>
              <a:lnSpc>
                <a:spcPct val="112000"/>
              </a:lnSpc>
              <a:spcAft>
                <a:spcPts val="500"/>
              </a:spcAft>
            </a:pPr>
            <a:r>
              <a:rPr sz="1300" b="1">
                <a:solidFill>
                  <a:srgbClr val="C8742A"/>
                </a:solidFill>
                <a:latin typeface="Calibri"/>
              </a:rPr>
              <a:t>H0: </a:t>
            </a:r>
            <a:r>
              <a:rPr sz="1300" b="0">
                <a:solidFill>
                  <a:srgbClr val="F6F1E7"/>
                </a:solidFill>
                <a:latin typeface="Calibri"/>
              </a:rPr>
              <a:t>que una comuna-tipo tenga dato publicado es independiente del período.</a:t>
            </a:r>
          </a:p>
          <a:p>
            <a:pPr>
              <a:lnSpc>
                <a:spcPct val="112000"/>
              </a:lnSpc>
              <a:spcAft>
                <a:spcPts val="0"/>
              </a:spcAft>
            </a:pPr>
            <a:r>
              <a:rPr sz="1300" b="1">
                <a:solidFill>
                  <a:srgbClr val="C8742A"/>
                </a:solidFill>
                <a:latin typeface="Calibri"/>
              </a:rPr>
              <a:t>H1: </a:t>
            </a:r>
            <a:r>
              <a:rPr sz="1300" b="0">
                <a:solidFill>
                  <a:srgbClr val="F6F1E7"/>
                </a:solidFill>
                <a:latin typeface="Calibri"/>
              </a:rPr>
              <a:t>la proporción de faltantes cambia entre períodos.</a:t>
            </a:r>
          </a:p>
        </p:txBody>
      </p:sp>
      <p:graphicFrame>
        <p:nvGraphicFramePr>
          <p:cNvPr id="7" name="Table 6"/>
          <p:cNvGraphicFramePr>
            <a:graphicFrameLocks noGrp="1"/>
          </p:cNvGraphicFramePr>
          <p:nvPr/>
        </p:nvGraphicFramePr>
        <p:xfrm>
          <a:off x="868680" y="3611880"/>
          <a:ext cx="5120640" cy="1463040"/>
        </p:xfrm>
        <a:graphic>
          <a:graphicData uri="http://schemas.openxmlformats.org/drawingml/2006/table">
            <a:tbl>
              <a:tblPr>
                <a:tableStyleId>{5C22544A-7EE6-4342-B048-85BDC9FD1C3A}</a:tableStyleId>
              </a:tblPr>
              <a:tblGrid>
                <a:gridCol w="1828800"/>
                <a:gridCol w="868680"/>
                <a:gridCol w="822960"/>
                <a:gridCol w="777240"/>
                <a:gridCol w="822960"/>
              </a:tblGrid>
              <a:tr h="365760">
                <a:tc>
                  <a:txBody>
                    <a:bodyPr wrap="square"/>
                    <a:lstStyle/>
                    <a:p>
                      <a:pPr algn="l">
                        <a:lnSpc>
                          <a:spcPct val="100000"/>
                        </a:lnSpc>
                        <a:spcAft>
                          <a:spcPts val="0"/>
                        </a:spcAft>
                      </a:pPr>
                      <a:r>
                        <a:rPr sz="1050" b="1">
                          <a:solidFill>
                            <a:srgbClr val="F6F1E7"/>
                          </a:solidFill>
                          <a:latin typeface="Calibri"/>
                        </a:rPr>
                        <a:t>Período</a:t>
                      </a:r>
                    </a:p>
                  </a:txBody>
                  <a:tcPr marL="82296" marR="82296" marT="18288" marB="18288" anchor="ctr">
                    <a:solidFill>
                      <a:srgbClr val="C8742A"/>
                    </a:solidFill>
                  </a:tcPr>
                </a:tc>
                <a:tc>
                  <a:txBody>
                    <a:bodyPr wrap="square"/>
                    <a:lstStyle/>
                    <a:p>
                      <a:pPr algn="r">
                        <a:lnSpc>
                          <a:spcPct val="100000"/>
                        </a:lnSpc>
                        <a:spcAft>
                          <a:spcPts val="0"/>
                        </a:spcAft>
                      </a:pPr>
                      <a:r>
                        <a:rPr sz="1050" b="1">
                          <a:solidFill>
                            <a:srgbClr val="F6F1E7"/>
                          </a:solidFill>
                          <a:latin typeface="Calibri"/>
                        </a:rPr>
                        <a:t>Con dato</a:t>
                      </a:r>
                    </a:p>
                  </a:txBody>
                  <a:tcPr marL="82296" marR="82296" marT="18288" marB="18288" anchor="ctr">
                    <a:solidFill>
                      <a:srgbClr val="C8742A"/>
                    </a:solidFill>
                  </a:tcPr>
                </a:tc>
                <a:tc>
                  <a:txBody>
                    <a:bodyPr wrap="square"/>
                    <a:lstStyle/>
                    <a:p>
                      <a:pPr algn="r">
                        <a:lnSpc>
                          <a:spcPct val="100000"/>
                        </a:lnSpc>
                        <a:spcAft>
                          <a:spcPts val="0"/>
                        </a:spcAft>
                      </a:pPr>
                      <a:r>
                        <a:rPr sz="1050" b="1">
                          <a:solidFill>
                            <a:srgbClr val="F6F1E7"/>
                          </a:solidFill>
                          <a:latin typeface="Calibri"/>
                        </a:rPr>
                        <a:t>Sin dato</a:t>
                      </a:r>
                    </a:p>
                  </a:txBody>
                  <a:tcPr marL="82296" marR="82296" marT="18288" marB="18288" anchor="ctr">
                    <a:solidFill>
                      <a:srgbClr val="C8742A"/>
                    </a:solidFill>
                  </a:tcPr>
                </a:tc>
                <a:tc>
                  <a:txBody>
                    <a:bodyPr wrap="square"/>
                    <a:lstStyle/>
                    <a:p>
                      <a:pPr algn="r">
                        <a:lnSpc>
                          <a:spcPct val="100000"/>
                        </a:lnSpc>
                        <a:spcAft>
                          <a:spcPts val="0"/>
                        </a:spcAft>
                      </a:pPr>
                      <a:r>
                        <a:rPr sz="1050" b="1">
                          <a:solidFill>
                            <a:srgbClr val="F6F1E7"/>
                          </a:solidFill>
                          <a:latin typeface="Calibri"/>
                        </a:rPr>
                        <a:t>%</a:t>
                      </a:r>
                    </a:p>
                  </a:txBody>
                  <a:tcPr marL="82296" marR="82296" marT="18288" marB="18288" anchor="ctr">
                    <a:solidFill>
                      <a:srgbClr val="C8742A"/>
                    </a:solidFill>
                  </a:tcPr>
                </a:tc>
                <a:tc>
                  <a:txBody>
                    <a:bodyPr wrap="square"/>
                    <a:lstStyle/>
                    <a:p>
                      <a:pPr algn="r">
                        <a:lnSpc>
                          <a:spcPct val="100000"/>
                        </a:lnSpc>
                        <a:spcAft>
                          <a:spcPts val="0"/>
                        </a:spcAft>
                      </a:pPr>
                      <a:r>
                        <a:rPr sz="1050" b="1">
                          <a:solidFill>
                            <a:srgbClr val="F6F1E7"/>
                          </a:solidFill>
                          <a:latin typeface="Calibri"/>
                        </a:rPr>
                        <a:t>Residuo</a:t>
                      </a:r>
                    </a:p>
                  </a:txBody>
                  <a:tcPr marL="82296" marR="82296" marT="18288" marB="18288" anchor="ctr">
                    <a:solidFill>
                      <a:srgbClr val="C8742A"/>
                    </a:solidFill>
                  </a:tcPr>
                </a:tc>
              </a:tr>
              <a:tr h="365760">
                <a:tc>
                  <a:txBody>
                    <a:bodyPr wrap="square"/>
                    <a:lstStyle/>
                    <a:p>
                      <a:pPr algn="l">
                        <a:lnSpc>
                          <a:spcPct val="100000"/>
                        </a:lnSpc>
                        <a:spcAft>
                          <a:spcPts val="0"/>
                        </a:spcAft>
                      </a:pPr>
                      <a:r>
                        <a:rPr sz="1100" b="0">
                          <a:solidFill>
                            <a:srgbClr val="15505E"/>
                          </a:solidFill>
                          <a:latin typeface="Calibri"/>
                        </a:rPr>
                        <a:t>Antes de la ley</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393</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57</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12,7%</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-0,26</a:t>
                      </a:r>
                    </a:p>
                  </a:txBody>
                  <a:tcPr marL="82296" marR="82296" marT="18288" marB="18288" anchor="ctr">
                    <a:solidFill>
                      <a:srgbClr val="F6F1E7"/>
                    </a:solidFill>
                  </a:tcPr>
                </a:tc>
              </a:tr>
              <a:tr h="365760">
                <a:tc>
                  <a:txBody>
                    <a:bodyPr wrap="square"/>
                    <a:lstStyle/>
                    <a:p>
                      <a:pPr algn="l">
                        <a:lnSpc>
                          <a:spcPct val="100000"/>
                        </a:lnSpc>
                        <a:spcAft>
                          <a:spcPts val="0"/>
                        </a:spcAft>
                      </a:pPr>
                      <a:r>
                        <a:rPr sz="1100" b="0">
                          <a:solidFill>
                            <a:srgbClr val="15505E"/>
                          </a:solidFill>
                          <a:latin typeface="Calibri"/>
                        </a:rPr>
                        <a:t>Ley de Alquileres</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519</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111</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17,6%</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+4,49</a:t>
                      </a:r>
                    </a:p>
                  </a:txBody>
                  <a:tcPr marL="82296" marR="82296" marT="18288" marB="18288" anchor="ctr">
                    <a:solidFill>
                      <a:srgbClr val="FFFFFF"/>
                    </a:solidFill>
                  </a:tcPr>
                </a:tc>
              </a:tr>
              <a:tr h="365760">
                <a:tc>
                  <a:txBody>
                    <a:bodyPr wrap="square"/>
                    <a:lstStyle/>
                    <a:p>
                      <a:pPr algn="l">
                        <a:lnSpc>
                          <a:spcPct val="100000"/>
                        </a:lnSpc>
                        <a:spcAft>
                          <a:spcPts val="0"/>
                        </a:spcAft>
                      </a:pPr>
                      <a:r>
                        <a:rPr sz="1100" b="0">
                          <a:solidFill>
                            <a:srgbClr val="15505E"/>
                          </a:solidFill>
                          <a:latin typeface="Calibri"/>
                        </a:rPr>
                        <a:t>Después de la derogación</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419</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31</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6,9%</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-4,59</a:t>
                      </a:r>
                    </a:p>
                  </a:txBody>
                  <a:tcPr marL="82296" marR="82296" marT="18288" marB="18288" anchor="ctr">
                    <a:solidFill>
                      <a:srgbClr val="F6F1E7"/>
                    </a:solidFill>
                  </a:tcPr>
                </a:tc>
              </a:tr>
            </a:tbl>
          </a:graphicData>
        </a:graphic>
      </p:graphicFrame>
      <p:sp>
        <p:nvSpPr>
          <p:cNvPr id="8" name="Rounded Rectangle 7"/>
          <p:cNvSpPr/>
          <p:nvPr/>
        </p:nvSpPr>
        <p:spPr>
          <a:xfrm>
            <a:off x="6400800" y="1554480"/>
            <a:ext cx="4937760" cy="4160520"/>
          </a:xfrm>
          <a:prstGeom prst="roundRect">
            <a:avLst>
              <a:gd name="adj" fmla="val 5000"/>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0" y="1783080"/>
            <a:ext cx="4389120" cy="3749039"/>
          </a:xfrm>
          <a:prstGeom prst="rect">
            <a:avLst/>
          </a:prstGeom>
          <a:noFill/>
        </p:spPr>
        <p:txBody>
          <a:bodyPr wrap="square" lIns="0" rIns="0" tIns="0" bIns="0" anchor="t">
            <a:spAutoFit/>
          </a:bodyPr>
          <a:lstStyle/>
          <a:p>
            <a:pPr algn="l">
              <a:lnSpc>
                <a:spcPct val="112000"/>
              </a:lnSpc>
              <a:spcAft>
                <a:spcPts val="1000"/>
              </a:spcAft>
            </a:pPr>
            <a:r>
              <a:rPr sz="1700" b="1" i="0">
                <a:solidFill>
                  <a:srgbClr val="C8742A"/>
                </a:solidFill>
                <a:latin typeface="Bookman Old Style"/>
              </a:rPr>
              <a:t>Resultados</a:t>
            </a:r>
          </a:p>
          <a:p>
            <a:pPr>
              <a:lnSpc>
                <a:spcPct val="114000"/>
              </a:lnSpc>
              <a:spcAft>
                <a:spcPts val="1000"/>
              </a:spcAft>
            </a:pPr>
            <a:r>
              <a:rPr sz="1300" b="0" i="0">
                <a:solidFill>
                  <a:srgbClr val="15505E"/>
                </a:solidFill>
                <a:latin typeface="Calibri"/>
              </a:rPr>
              <a:t>χ² = 26,78 con 2 grados de libertad, p &lt; 0,001. V de Cramér = 0,13, o sea una asociación real pero moderada.</a:t>
            </a:r>
          </a:p>
          <a:p>
            <a:pPr>
              <a:lnSpc>
                <a:spcPct val="114000"/>
              </a:lnSpc>
              <a:spcAft>
                <a:spcPts val="1000"/>
              </a:spcAft>
            </a:pPr>
            <a:r>
              <a:rPr sz="1300" b="0" i="0">
                <a:solidFill>
                  <a:srgbClr val="15505E"/>
                </a:solidFill>
                <a:latin typeface="Calibri"/>
              </a:rPr>
              <a:t>Los residuos dicen dónde está: hay más faltantes de los esperados durante la ley (+4,49) y menos después de la derogación (−4,59).</a:t>
            </a:r>
          </a:p>
          <a:p>
            <a:pPr>
              <a:lnSpc>
                <a:spcPct val="114000"/>
              </a:lnSpc>
              <a:spcAft>
                <a:spcPts val="1000"/>
              </a:spcAft>
            </a:pPr>
            <a:r>
              <a:rPr sz="1300" b="0" i="0">
                <a:solidFill>
                  <a:srgbClr val="15505E"/>
                </a:solidFill>
                <a:latin typeface="Calibri"/>
              </a:rPr>
              <a:t>Supuestos. El menor valor esperado es 58,5, muy por encima de 5. El problema es la independencia: los 34 trimestres de una misma comuna no lo son.</a:t>
            </a:r>
          </a:p>
          <a:p>
            <a:pPr>
              <a:lnSpc>
                <a:spcPct val="112000"/>
              </a:lnSpc>
              <a:spcAft>
                <a:spcPts val="0"/>
              </a:spcAft>
            </a:pPr>
            <a:r>
              <a:rPr sz="1300" b="1">
                <a:solidFill>
                  <a:srgbClr val="15505E"/>
                </a:solidFill>
                <a:latin typeface="Calibri"/>
              </a:rPr>
              <a:t>Por eso agregamos un test apareado. </a:t>
            </a:r>
            <a:r>
              <a:rPr sz="1300" b="0">
                <a:solidFill>
                  <a:srgbClr val="15505E"/>
                </a:solidFill>
                <a:latin typeface="Calibri"/>
              </a:rPr>
              <a:t>Comparamos cada serie consigo misma con Wilcoxon: de las 14 series con faltantes, 12 tuvieron más durante la ley que después y ninguna tuvo menos (V = 102; p = 0,0005).</a:t>
            </a:r>
          </a:p>
        </p:txBody>
      </p:sp>
      <p:sp>
        <p:nvSpPr>
          <p:cNvPr id="10" name="TextBox 9"/>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E8E0D2"/>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15505E"/>
                </a:solidFill>
                <a:latin typeface="Bookman Old Style"/>
              </a:rPr>
              <a:t>H1. DÓNDE PASA Y QUÉ DICEN LOS ÍNDICES</a:t>
            </a:r>
          </a:p>
        </p:txBody>
      </p:sp>
      <p:sp>
        <p:nvSpPr>
          <p:cNvPr id="6" name="TextBox 5"/>
          <p:cNvSpPr txBox="1"/>
          <p:nvPr/>
        </p:nvSpPr>
        <p:spPr>
          <a:xfrm>
            <a:off x="868680" y="1554480"/>
            <a:ext cx="5212080" cy="365760"/>
          </a:xfrm>
          <a:prstGeom prst="rect">
            <a:avLst/>
          </a:prstGeom>
          <a:noFill/>
        </p:spPr>
        <p:txBody>
          <a:bodyPr wrap="square" lIns="0" rIns="0" tIns="0" bIns="0" anchor="t">
            <a:spAutoFit/>
          </a:bodyPr>
          <a:lstStyle/>
          <a:p>
            <a:pPr algn="l">
              <a:lnSpc>
                <a:spcPct val="112000"/>
              </a:lnSpc>
              <a:spcAft>
                <a:spcPts val="0"/>
              </a:spcAft>
            </a:pPr>
            <a:r>
              <a:rPr sz="1500" b="1" i="0">
                <a:solidFill>
                  <a:srgbClr val="C8742A"/>
                </a:solidFill>
                <a:latin typeface="Bookman Old Style"/>
              </a:rPr>
              <a:t>El mismo test dentro de cada zona</a:t>
            </a:r>
          </a:p>
        </p:txBody>
      </p:sp>
      <p:graphicFrame>
        <p:nvGraphicFramePr>
          <p:cNvPr id="7" name="Table 6"/>
          <p:cNvGraphicFramePr>
            <a:graphicFrameLocks noGrp="1"/>
          </p:cNvGraphicFramePr>
          <p:nvPr/>
        </p:nvGraphicFramePr>
        <p:xfrm>
          <a:off x="868680" y="1938528"/>
          <a:ext cx="5212080" cy="1755648"/>
        </p:xfrm>
        <a:graphic>
          <a:graphicData uri="http://schemas.openxmlformats.org/drawingml/2006/table">
            <a:tbl>
              <a:tblPr>
                <a:tableStyleId>{5C22544A-7EE6-4342-B048-85BDC9FD1C3A}</a:tableStyleId>
              </a:tblPr>
              <a:tblGrid>
                <a:gridCol w="1051560"/>
                <a:gridCol w="868680"/>
                <a:gridCol w="822960"/>
                <a:gridCol w="960120"/>
                <a:gridCol w="777240"/>
                <a:gridCol w="731520"/>
              </a:tblGrid>
              <a:tr h="365760">
                <a:tc>
                  <a:txBody>
                    <a:bodyPr wrap="square"/>
                    <a:lstStyle/>
                    <a:p>
                      <a:pPr algn="l">
                        <a:lnSpc>
                          <a:spcPct val="100000"/>
                        </a:lnSpc>
                        <a:spcAft>
                          <a:spcPts val="0"/>
                        </a:spcAft>
                      </a:pPr>
                      <a:r>
                        <a:rPr sz="1050" b="1">
                          <a:solidFill>
                            <a:srgbClr val="F6F1E7"/>
                          </a:solidFill>
                          <a:latin typeface="Calibri"/>
                        </a:rPr>
                        <a:t>Zona</a:t>
                      </a:r>
                    </a:p>
                  </a:txBody>
                  <a:tcPr marL="82296" marR="82296" marT="18288" marB="18288" anchor="ctr">
                    <a:solidFill>
                      <a:srgbClr val="15505E"/>
                    </a:solidFill>
                  </a:tcPr>
                </a:tc>
                <a:tc>
                  <a:txBody>
                    <a:bodyPr wrap="square"/>
                    <a:lstStyle/>
                    <a:p>
                      <a:pPr algn="r">
                        <a:lnSpc>
                          <a:spcPct val="100000"/>
                        </a:lnSpc>
                        <a:spcAft>
                          <a:spcPts val="0"/>
                        </a:spcAft>
                      </a:pPr>
                      <a:r>
                        <a:rPr sz="1050" b="1">
                          <a:solidFill>
                            <a:srgbClr val="F6F1E7"/>
                          </a:solidFill>
                          <a:latin typeface="Calibri"/>
                        </a:rPr>
                        <a:t>Antes</a:t>
                      </a:r>
                    </a:p>
                  </a:txBody>
                  <a:tcPr marL="82296" marR="82296" marT="18288" marB="18288" anchor="ctr">
                    <a:solidFill>
                      <a:srgbClr val="15505E"/>
                    </a:solidFill>
                  </a:tcPr>
                </a:tc>
                <a:tc>
                  <a:txBody>
                    <a:bodyPr wrap="square"/>
                    <a:lstStyle/>
                    <a:p>
                      <a:pPr algn="r">
                        <a:lnSpc>
                          <a:spcPct val="100000"/>
                        </a:lnSpc>
                        <a:spcAft>
                          <a:spcPts val="0"/>
                        </a:spcAft>
                      </a:pPr>
                      <a:r>
                        <a:rPr sz="1050" b="1">
                          <a:solidFill>
                            <a:srgbClr val="F6F1E7"/>
                          </a:solidFill>
                          <a:latin typeface="Calibri"/>
                        </a:rPr>
                        <a:t>Ley</a:t>
                      </a:r>
                    </a:p>
                  </a:txBody>
                  <a:tcPr marL="82296" marR="82296" marT="18288" marB="18288" anchor="ctr">
                    <a:solidFill>
                      <a:srgbClr val="15505E"/>
                    </a:solidFill>
                  </a:tcPr>
                </a:tc>
                <a:tc>
                  <a:txBody>
                    <a:bodyPr wrap="square"/>
                    <a:lstStyle/>
                    <a:p>
                      <a:pPr algn="r">
                        <a:lnSpc>
                          <a:spcPct val="100000"/>
                        </a:lnSpc>
                        <a:spcAft>
                          <a:spcPts val="0"/>
                        </a:spcAft>
                      </a:pPr>
                      <a:r>
                        <a:rPr sz="1050" b="1">
                          <a:solidFill>
                            <a:srgbClr val="F6F1E7"/>
                          </a:solidFill>
                          <a:latin typeface="Calibri"/>
                        </a:rPr>
                        <a:t>Después</a:t>
                      </a:r>
                    </a:p>
                  </a:txBody>
                  <a:tcPr marL="82296" marR="82296" marT="18288" marB="18288" anchor="ctr">
                    <a:solidFill>
                      <a:srgbClr val="15505E"/>
                    </a:solidFill>
                  </a:tcPr>
                </a:tc>
                <a:tc>
                  <a:txBody>
                    <a:bodyPr wrap="square"/>
                    <a:lstStyle/>
                    <a:p>
                      <a:pPr algn="r">
                        <a:lnSpc>
                          <a:spcPct val="100000"/>
                        </a:lnSpc>
                        <a:spcAft>
                          <a:spcPts val="0"/>
                        </a:spcAft>
                      </a:pPr>
                      <a:r>
                        <a:rPr sz="1050" b="1">
                          <a:solidFill>
                            <a:srgbClr val="F6F1E7"/>
                          </a:solidFill>
                          <a:latin typeface="Calibri"/>
                        </a:rPr>
                        <a:t>p</a:t>
                      </a:r>
                    </a:p>
                  </a:txBody>
                  <a:tcPr marL="82296" marR="82296" marT="18288" marB="18288" anchor="ctr">
                    <a:solidFill>
                      <a:srgbClr val="15505E"/>
                    </a:solidFill>
                  </a:tcPr>
                </a:tc>
                <a:tc>
                  <a:txBody>
                    <a:bodyPr wrap="square"/>
                    <a:lstStyle/>
                    <a:p>
                      <a:pPr algn="r">
                        <a:lnSpc>
                          <a:spcPct val="100000"/>
                        </a:lnSpc>
                        <a:spcAft>
                          <a:spcPts val="0"/>
                        </a:spcAft>
                      </a:pPr>
                      <a:r>
                        <a:rPr sz="1050" b="1">
                          <a:solidFill>
                            <a:srgbClr val="F6F1E7"/>
                          </a:solidFill>
                          <a:latin typeface="Calibri"/>
                        </a:rPr>
                        <a:t>V</a:t>
                      </a:r>
                    </a:p>
                  </a:txBody>
                  <a:tcPr marL="82296" marR="82296" marT="18288" marB="18288" anchor="ctr">
                    <a:solidFill>
                      <a:srgbClr val="15505E"/>
                    </a:solidFill>
                  </a:tcPr>
                </a:tc>
              </a:tr>
              <a:tr h="347472">
                <a:tc>
                  <a:txBody>
                    <a:bodyPr wrap="square"/>
                    <a:lstStyle/>
                    <a:p>
                      <a:pPr algn="l">
                        <a:lnSpc>
                          <a:spcPct val="100000"/>
                        </a:lnSpc>
                        <a:spcAft>
                          <a:spcPts val="0"/>
                        </a:spcAft>
                      </a:pPr>
                      <a:r>
                        <a:rPr sz="1100" b="0">
                          <a:solidFill>
                            <a:srgbClr val="15505E"/>
                          </a:solidFill>
                          <a:latin typeface="Calibri"/>
                        </a:rPr>
                        <a:t>Norte</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0,0%</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0,8%</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0,0%</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1,000</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0,07</a:t>
                      </a:r>
                    </a:p>
                  </a:txBody>
                  <a:tcPr marL="82296" marR="82296" marT="18288" marB="18288" anchor="ctr">
                    <a:solidFill>
                      <a:srgbClr val="F6F1E7"/>
                    </a:solidFill>
                  </a:tcPr>
                </a:tc>
              </a:tr>
              <a:tr h="347472">
                <a:tc>
                  <a:txBody>
                    <a:bodyPr wrap="square"/>
                    <a:lstStyle/>
                    <a:p>
                      <a:pPr algn="l">
                        <a:lnSpc>
                          <a:spcPct val="100000"/>
                        </a:lnSpc>
                        <a:spcAft>
                          <a:spcPts val="0"/>
                        </a:spcAft>
                      </a:pPr>
                      <a:r>
                        <a:rPr sz="1100" b="0">
                          <a:solidFill>
                            <a:srgbClr val="15505E"/>
                          </a:solidFill>
                          <a:latin typeface="Calibri"/>
                        </a:rPr>
                        <a:t>Centro</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0,0%</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0,5%</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0,0%</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1,000</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0,05</a:t>
                      </a:r>
                    </a:p>
                  </a:txBody>
                  <a:tcPr marL="82296" marR="82296" marT="18288" marB="18288" anchor="ctr">
                    <a:solidFill>
                      <a:srgbClr val="FFFFFF"/>
                    </a:solidFill>
                  </a:tcPr>
                </a:tc>
              </a:tr>
              <a:tr h="347472">
                <a:tc>
                  <a:txBody>
                    <a:bodyPr wrap="square"/>
                    <a:lstStyle/>
                    <a:p>
                      <a:pPr algn="l">
                        <a:lnSpc>
                          <a:spcPct val="100000"/>
                        </a:lnSpc>
                        <a:spcAft>
                          <a:spcPts val="0"/>
                        </a:spcAft>
                      </a:pPr>
                      <a:r>
                        <a:rPr sz="1100" b="0">
                          <a:solidFill>
                            <a:srgbClr val="15505E"/>
                          </a:solidFill>
                          <a:latin typeface="Calibri"/>
                        </a:rPr>
                        <a:t>Oeste</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2,2%</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8,7%</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0,0%</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0,003</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0,19</a:t>
                      </a:r>
                    </a:p>
                  </a:txBody>
                  <a:tcPr marL="82296" marR="82296" marT="18288" marB="18288" anchor="ctr">
                    <a:solidFill>
                      <a:srgbClr val="F6F1E7"/>
                    </a:solidFill>
                  </a:tcPr>
                </a:tc>
              </a:tr>
              <a:tr h="347472">
                <a:tc>
                  <a:txBody>
                    <a:bodyPr wrap="square"/>
                    <a:lstStyle/>
                    <a:p>
                      <a:pPr algn="l">
                        <a:lnSpc>
                          <a:spcPct val="100000"/>
                        </a:lnSpc>
                        <a:spcAft>
                          <a:spcPts val="0"/>
                        </a:spcAft>
                      </a:pPr>
                      <a:r>
                        <a:rPr sz="1100" b="0">
                          <a:solidFill>
                            <a:srgbClr val="15505E"/>
                          </a:solidFill>
                          <a:latin typeface="Calibri"/>
                        </a:rPr>
                        <a:t>Sur</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45,8%</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58,3%</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25,8%</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&lt;0,001</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0,27</a:t>
                      </a:r>
                    </a:p>
                  </a:txBody>
                  <a:tcPr marL="82296" marR="82296" marT="18288" marB="18288" anchor="ctr">
                    <a:solidFill>
                      <a:srgbClr val="FFFFFF"/>
                    </a:solidFill>
                  </a:tcPr>
                </a:tc>
              </a:tr>
            </a:tbl>
          </a:graphicData>
        </a:graphic>
      </p:graphicFrame>
      <p:sp>
        <p:nvSpPr>
          <p:cNvPr id="8" name="TextBox 7"/>
          <p:cNvSpPr txBox="1"/>
          <p:nvPr/>
        </p:nvSpPr>
        <p:spPr>
          <a:xfrm>
            <a:off x="868680" y="3977639"/>
            <a:ext cx="5212080" cy="1737360"/>
          </a:xfrm>
          <a:prstGeom prst="rect">
            <a:avLst/>
          </a:prstGeom>
          <a:noFill/>
        </p:spPr>
        <p:txBody>
          <a:bodyPr wrap="square" lIns="0" rIns="0" tIns="0" bIns="0" anchor="t">
            <a:spAutoFit/>
          </a:bodyPr>
          <a:lstStyle/>
          <a:p>
            <a:pPr algn="l"/>
          </a:p>
          <a:p>
            <a:pPr>
              <a:lnSpc>
                <a:spcPct val="114000"/>
              </a:lnSpc>
              <a:spcAft>
                <a:spcPts val="0"/>
              </a:spcAft>
            </a:pPr>
            <a:r>
              <a:rPr sz="1300" b="0" i="0">
                <a:solidFill>
                  <a:srgbClr val="15505E"/>
                </a:solidFill>
                <a:latin typeface="Calibri"/>
              </a:rPr>
              <a:t>Todo el efecto está en el sur y el oeste, que son las zonas donde la oferta ya estaba cerca del umbral. En el norte y el centro no pasa nada: casi siempre hay avisos suficientes.</a:t>
            </a:r>
          </a:p>
        </p:txBody>
      </p:sp>
      <p:sp>
        <p:nvSpPr>
          <p:cNvPr id="9" name="TextBox 8"/>
          <p:cNvSpPr txBox="1"/>
          <p:nvPr/>
        </p:nvSpPr>
        <p:spPr>
          <a:xfrm>
            <a:off x="6446520" y="1554480"/>
            <a:ext cx="4892040" cy="365760"/>
          </a:xfrm>
          <a:prstGeom prst="rect">
            <a:avLst/>
          </a:prstGeom>
          <a:noFill/>
        </p:spPr>
        <p:txBody>
          <a:bodyPr wrap="square" lIns="0" rIns="0" tIns="0" bIns="0" anchor="t">
            <a:spAutoFit/>
          </a:bodyPr>
          <a:lstStyle/>
          <a:p>
            <a:pPr algn="l">
              <a:lnSpc>
                <a:spcPct val="112000"/>
              </a:lnSpc>
              <a:spcAft>
                <a:spcPts val="0"/>
              </a:spcAft>
            </a:pPr>
            <a:r>
              <a:rPr sz="1500" b="1" i="0">
                <a:solidFill>
                  <a:srgbClr val="C8742A"/>
                </a:solidFill>
                <a:latin typeface="Bookman Old Style"/>
              </a:rPr>
              <a:t>Precio real y desigualdad por período</a:t>
            </a:r>
          </a:p>
        </p:txBody>
      </p:sp>
      <p:graphicFrame>
        <p:nvGraphicFramePr>
          <p:cNvPr id="10" name="Table 9"/>
          <p:cNvGraphicFramePr>
            <a:graphicFrameLocks noGrp="1"/>
          </p:cNvGraphicFramePr>
          <p:nvPr/>
        </p:nvGraphicFramePr>
        <p:xfrm>
          <a:off x="6446520" y="1938528"/>
          <a:ext cx="4892040" cy="1408176"/>
        </p:xfrm>
        <a:graphic>
          <a:graphicData uri="http://schemas.openxmlformats.org/drawingml/2006/table">
            <a:tbl>
              <a:tblPr>
                <a:tableStyleId>{5C22544A-7EE6-4342-B048-85BDC9FD1C3A}</a:tableStyleId>
              </a:tblPr>
              <a:tblGrid>
                <a:gridCol w="1737360"/>
                <a:gridCol w="1097280"/>
                <a:gridCol w="1005840"/>
                <a:gridCol w="1051560"/>
              </a:tblGrid>
              <a:tr h="365760">
                <a:tc>
                  <a:txBody>
                    <a:bodyPr wrap="square"/>
                    <a:lstStyle/>
                    <a:p>
                      <a:pPr algn="l">
                        <a:lnSpc>
                          <a:spcPct val="100000"/>
                        </a:lnSpc>
                        <a:spcAft>
                          <a:spcPts val="0"/>
                        </a:spcAft>
                      </a:pPr>
                      <a:r>
                        <a:rPr sz="1050" b="1">
                          <a:solidFill>
                            <a:srgbClr val="F6F1E7"/>
                          </a:solidFill>
                          <a:latin typeface="Calibri"/>
                        </a:rPr>
                        <a:t/>
                      </a:r>
                    </a:p>
                  </a:txBody>
                  <a:tcPr marL="82296" marR="82296" marT="18288" marB="18288" anchor="ctr">
                    <a:solidFill>
                      <a:srgbClr val="15505E"/>
                    </a:solidFill>
                  </a:tcPr>
                </a:tc>
                <a:tc>
                  <a:txBody>
                    <a:bodyPr wrap="square"/>
                    <a:lstStyle/>
                    <a:p>
                      <a:pPr algn="r">
                        <a:lnSpc>
                          <a:spcPct val="100000"/>
                        </a:lnSpc>
                        <a:spcAft>
                          <a:spcPts val="0"/>
                        </a:spcAft>
                      </a:pPr>
                      <a:r>
                        <a:rPr sz="1050" b="1">
                          <a:solidFill>
                            <a:srgbClr val="F6F1E7"/>
                          </a:solidFill>
                          <a:latin typeface="Calibri"/>
                        </a:rPr>
                        <a:t>Índice real</a:t>
                      </a:r>
                    </a:p>
                  </a:txBody>
                  <a:tcPr marL="82296" marR="82296" marT="18288" marB="18288" anchor="ctr">
                    <a:solidFill>
                      <a:srgbClr val="15505E"/>
                    </a:solidFill>
                  </a:tcPr>
                </a:tc>
                <a:tc>
                  <a:txBody>
                    <a:bodyPr wrap="square"/>
                    <a:lstStyle/>
                    <a:p>
                      <a:pPr algn="r">
                        <a:lnSpc>
                          <a:spcPct val="100000"/>
                        </a:lnSpc>
                        <a:spcAft>
                          <a:spcPts val="0"/>
                        </a:spcAft>
                      </a:pPr>
                      <a:r>
                        <a:rPr sz="1050" b="1">
                          <a:solidFill>
                            <a:srgbClr val="F6F1E7"/>
                          </a:solidFill>
                          <a:latin typeface="Calibri"/>
                        </a:rPr>
                        <a:t>Sin 2023</a:t>
                      </a:r>
                    </a:p>
                  </a:txBody>
                  <a:tcPr marL="82296" marR="82296" marT="18288" marB="18288" anchor="ctr">
                    <a:solidFill>
                      <a:srgbClr val="15505E"/>
                    </a:solidFill>
                  </a:tcPr>
                </a:tc>
                <a:tc>
                  <a:txBody>
                    <a:bodyPr wrap="square"/>
                    <a:lstStyle/>
                    <a:p>
                      <a:pPr algn="r">
                        <a:lnSpc>
                          <a:spcPct val="100000"/>
                        </a:lnSpc>
                        <a:spcAft>
                          <a:spcPts val="0"/>
                        </a:spcAft>
                      </a:pPr>
                      <a:r>
                        <a:rPr sz="1050" b="1">
                          <a:solidFill>
                            <a:srgbClr val="F6F1E7"/>
                          </a:solidFill>
                          <a:latin typeface="Calibri"/>
                        </a:rPr>
                        <a:t>Theil ×1.000</a:t>
                      </a:r>
                    </a:p>
                  </a:txBody>
                  <a:tcPr marL="82296" marR="82296" marT="18288" marB="18288" anchor="ctr">
                    <a:solidFill>
                      <a:srgbClr val="15505E"/>
                    </a:solidFill>
                  </a:tcPr>
                </a:tc>
              </a:tr>
              <a:tr h="347472">
                <a:tc>
                  <a:txBody>
                    <a:bodyPr wrap="square"/>
                    <a:lstStyle/>
                    <a:p>
                      <a:pPr algn="l">
                        <a:lnSpc>
                          <a:spcPct val="100000"/>
                        </a:lnSpc>
                        <a:spcAft>
                          <a:spcPts val="0"/>
                        </a:spcAft>
                      </a:pPr>
                      <a:r>
                        <a:rPr sz="1100" b="0">
                          <a:solidFill>
                            <a:srgbClr val="15505E"/>
                          </a:solidFill>
                          <a:latin typeface="Calibri"/>
                        </a:rPr>
                        <a:t>Antes de la ley</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91,7</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91,7</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5,98</a:t>
                      </a:r>
                    </a:p>
                  </a:txBody>
                  <a:tcPr marL="82296" marR="82296" marT="18288" marB="18288" anchor="ctr">
                    <a:solidFill>
                      <a:srgbClr val="F6F1E7"/>
                    </a:solidFill>
                  </a:tcPr>
                </a:tc>
              </a:tr>
              <a:tr h="347472">
                <a:tc>
                  <a:txBody>
                    <a:bodyPr wrap="square"/>
                    <a:lstStyle/>
                    <a:p>
                      <a:pPr algn="l">
                        <a:lnSpc>
                          <a:spcPct val="100000"/>
                        </a:lnSpc>
                        <a:spcAft>
                          <a:spcPts val="0"/>
                        </a:spcAft>
                      </a:pPr>
                      <a:r>
                        <a:rPr sz="1100" b="0">
                          <a:solidFill>
                            <a:srgbClr val="15505E"/>
                          </a:solidFill>
                          <a:latin typeface="Calibri"/>
                        </a:rPr>
                        <a:t>Ley de Alquileres</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106,9</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98,0</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6,57</a:t>
                      </a:r>
                    </a:p>
                  </a:txBody>
                  <a:tcPr marL="82296" marR="82296" marT="18288" marB="18288" anchor="ctr">
                    <a:solidFill>
                      <a:srgbClr val="FFFFFF"/>
                    </a:solidFill>
                  </a:tcPr>
                </a:tc>
              </a:tr>
              <a:tr h="347472">
                <a:tc>
                  <a:txBody>
                    <a:bodyPr wrap="square"/>
                    <a:lstStyle/>
                    <a:p>
                      <a:pPr algn="l">
                        <a:lnSpc>
                          <a:spcPct val="100000"/>
                        </a:lnSpc>
                        <a:spcAft>
                          <a:spcPts val="0"/>
                        </a:spcAft>
                      </a:pPr>
                      <a:r>
                        <a:rPr sz="1100" b="0">
                          <a:solidFill>
                            <a:srgbClr val="15505E"/>
                          </a:solidFill>
                          <a:latin typeface="Calibri"/>
                        </a:rPr>
                        <a:t>Después</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90,1</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90,1</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3,65</a:t>
                      </a:r>
                    </a:p>
                  </a:txBody>
                  <a:tcPr marL="82296" marR="82296" marT="18288" marB="18288" anchor="ctr">
                    <a:solidFill>
                      <a:srgbClr val="F6F1E7"/>
                    </a:solidFill>
                  </a:tcPr>
                </a:tc>
              </a:tr>
            </a:tbl>
          </a:graphicData>
        </a:graphic>
      </p:graphicFrame>
      <p:sp>
        <p:nvSpPr>
          <p:cNvPr id="11" name="TextBox 10"/>
          <p:cNvSpPr txBox="1"/>
          <p:nvPr/>
        </p:nvSpPr>
        <p:spPr>
          <a:xfrm>
            <a:off x="6446520" y="3977639"/>
            <a:ext cx="4892040" cy="1737360"/>
          </a:xfrm>
          <a:prstGeom prst="rect">
            <a:avLst/>
          </a:prstGeom>
          <a:noFill/>
        </p:spPr>
        <p:txBody>
          <a:bodyPr wrap="square" lIns="0" rIns="0" tIns="0" bIns="0" anchor="t">
            <a:spAutoFit/>
          </a:bodyPr>
          <a:lstStyle/>
          <a:p>
            <a:pPr algn="l"/>
          </a:p>
          <a:p>
            <a:pPr>
              <a:lnSpc>
                <a:spcPct val="114000"/>
              </a:lnSpc>
              <a:spcAft>
                <a:spcPts val="800"/>
              </a:spcAft>
            </a:pPr>
            <a:r>
              <a:rPr sz="1300" b="0" i="0">
                <a:solidFill>
                  <a:srgbClr val="15505E"/>
                </a:solidFill>
                <a:latin typeface="Calibri"/>
              </a:rPr>
              <a:t>El precio real fue más alto durante la ley (107 contra 92 y 90), que es lo que predice la teoría cuando la oferta se achica. Pero si sacamos 2023 el índice baja a 98: buena parte de ese pico es el salto inflacionario, no la ley.</a:t>
            </a:r>
          </a:p>
          <a:p>
            <a:pPr>
              <a:lnSpc>
                <a:spcPct val="114000"/>
              </a:lnSpc>
              <a:spcAft>
                <a:spcPts val="0"/>
              </a:spcAft>
            </a:pPr>
            <a:r>
              <a:rPr sz="1300" b="0" i="0">
                <a:solidFill>
                  <a:srgbClr val="15505E"/>
                </a:solidFill>
                <a:latin typeface="Calibri"/>
              </a:rPr>
              <a:t>La desigualdad entre comunas también sube durante la ley (6,57) y cae después (3,65). La explicación aparece en la hipótesis 2.</a:t>
            </a:r>
          </a:p>
        </p:txBody>
      </p:sp>
      <p:sp>
        <p:nvSpPr>
          <p:cNvPr id="12" name="TextBox 11"/>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6B7578"/>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50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F6F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F6F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F6F1E7"/>
                </a:solidFill>
                <a:latin typeface="Bookman Old Style"/>
              </a:rPr>
              <a:t>H1. LAS DOS SERIES, EN UN GRÁFICO</a:t>
            </a:r>
          </a:p>
        </p:txBody>
      </p:sp>
      <p:pic>
        <p:nvPicPr>
          <p:cNvPr id="6" name="Picture 5" descr="i2_g02_indice_real.png"/>
          <p:cNvPicPr>
            <a:picLocks noChangeAspect="1"/>
          </p:cNvPicPr>
          <p:nvPr/>
        </p:nvPicPr>
        <p:blipFill>
          <a:blip r:embed="rId2"/>
          <a:stretch>
            <a:fillRect/>
          </a:stretch>
        </p:blipFill>
        <p:spPr>
          <a:xfrm>
            <a:off x="822960" y="1508760"/>
            <a:ext cx="5257800" cy="2734056"/>
          </a:xfrm>
          <a:prstGeom prst="rect">
            <a:avLst/>
          </a:prstGeom>
        </p:spPr>
      </p:pic>
      <p:pic>
        <p:nvPicPr>
          <p:cNvPr id="7" name="Picture 6" descr="i2_g03_theil.png"/>
          <p:cNvPicPr>
            <a:picLocks noChangeAspect="1"/>
          </p:cNvPicPr>
          <p:nvPr/>
        </p:nvPicPr>
        <p:blipFill>
          <a:blip r:embed="rId3"/>
          <a:stretch>
            <a:fillRect/>
          </a:stretch>
        </p:blipFill>
        <p:spPr>
          <a:xfrm>
            <a:off x="6263640" y="1508760"/>
            <a:ext cx="5257800" cy="2734056"/>
          </a:xfrm>
          <a:prstGeom prst="rect">
            <a:avLst/>
          </a:prstGeom>
        </p:spPr>
      </p:pic>
      <p:sp>
        <p:nvSpPr>
          <p:cNvPr id="8" name="TextBox 7"/>
          <p:cNvSpPr txBox="1"/>
          <p:nvPr/>
        </p:nvSpPr>
        <p:spPr>
          <a:xfrm>
            <a:off x="822960" y="4663440"/>
            <a:ext cx="10698480" cy="1280160"/>
          </a:xfrm>
          <a:prstGeom prst="rect">
            <a:avLst/>
          </a:prstGeom>
          <a:noFill/>
        </p:spPr>
        <p:txBody>
          <a:bodyPr wrap="square" lIns="0" rIns="0" tIns="0" bIns="0" anchor="t">
            <a:spAutoFit/>
          </a:bodyPr>
          <a:lstStyle/>
          <a:p>
            <a:pPr algn="l"/>
          </a:p>
          <a:p>
            <a:pPr>
              <a:lnSpc>
                <a:spcPct val="112000"/>
              </a:lnSpc>
              <a:spcAft>
                <a:spcPts val="0"/>
              </a:spcAft>
            </a:pPr>
            <a:r>
              <a:rPr sz="1350" b="1">
                <a:solidFill>
                  <a:srgbClr val="C8742A"/>
                </a:solidFill>
                <a:latin typeface="Calibri"/>
              </a:rPr>
              <a:t>Lo que vemos. </a:t>
            </a:r>
            <a:r>
              <a:rPr sz="1350" b="0">
                <a:solidFill>
                  <a:srgbClr val="F6F1E7"/>
                </a:solidFill>
                <a:latin typeface="Calibri"/>
              </a:rPr>
              <a:t>El alquiler real estuvo más caro durante la ley, pero el pico es de 2023 y coincide con la aceleración de la inflación: no podemos separar una cosa de la otra con estos datos. La desigualdad entre comunas hace lo mismo, sube en 2023 y vuelve a caer. Esa forma, un pico que sube y baja junto con el mercado, es la que nos llevó a la segunda hipótesis.</a:t>
            </a:r>
          </a:p>
        </p:txBody>
      </p:sp>
      <p:sp>
        <p:nvSpPr>
          <p:cNvPr id="9" name="TextBox 8"/>
          <p:cNvSpPr txBox="1"/>
          <p:nvPr/>
        </p:nvSpPr>
        <p:spPr>
          <a:xfrm>
            <a:off x="868680" y="5989320"/>
            <a:ext cx="10454335" cy="457200"/>
          </a:xfrm>
          <a:prstGeom prst="rect">
            <a:avLst/>
          </a:prstGeom>
          <a:noFill/>
        </p:spPr>
        <p:txBody>
          <a:bodyPr wrap="square" lIns="0" rIns="0" tIns="0" bIns="0" anchor="t">
            <a:spAutoFit/>
          </a:bodyPr>
          <a:lstStyle/>
          <a:p>
            <a:pPr algn="l">
              <a:lnSpc>
                <a:spcPct val="108000"/>
              </a:lnSpc>
              <a:spcAft>
                <a:spcPts val="0"/>
              </a:spcAft>
            </a:pPr>
            <a:r>
              <a:rPr sz="1000" b="0" i="1">
                <a:solidFill>
                  <a:srgbClr val="E8E0D2"/>
                </a:solidFill>
                <a:latin typeface="Calibri"/>
              </a:rPr>
              <a:t>Izquierda: índice del alquiler real por m², promedio de 2018 = 100. Derecha: índice de Theil entre comunas, 2 ambientes. La banda marca la Ley de Alquileres.</a:t>
            </a:r>
          </a:p>
        </p:txBody>
      </p:sp>
      <p:sp>
        <p:nvSpPr>
          <p:cNvPr id="10" name="TextBox 9"/>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E8E0D2"/>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15505E"/>
                </a:solidFill>
                <a:latin typeface="Bookman Old Style"/>
              </a:rPr>
              <a:t>H2. CÓMO MEDIMOS LA SENSIBILIDAD AL CICLO</a:t>
            </a:r>
          </a:p>
        </p:txBody>
      </p:sp>
      <p:sp>
        <p:nvSpPr>
          <p:cNvPr id="6" name="TextBox 5"/>
          <p:cNvSpPr txBox="1"/>
          <p:nvPr/>
        </p:nvSpPr>
        <p:spPr>
          <a:xfrm>
            <a:off x="868680" y="1600200"/>
            <a:ext cx="5486400" cy="4023360"/>
          </a:xfrm>
          <a:prstGeom prst="rect">
            <a:avLst/>
          </a:prstGeom>
          <a:noFill/>
        </p:spPr>
        <p:txBody>
          <a:bodyPr wrap="square" lIns="0" rIns="0" tIns="0" bIns="0" anchor="t">
            <a:spAutoFit/>
          </a:bodyPr>
          <a:lstStyle/>
          <a:p>
            <a:pPr algn="l">
              <a:lnSpc>
                <a:spcPct val="114000"/>
              </a:lnSpc>
              <a:spcAft>
                <a:spcPts val="1100"/>
              </a:spcAft>
            </a:pPr>
            <a:r>
              <a:rPr sz="1400" b="0" i="0">
                <a:solidFill>
                  <a:srgbClr val="15505E"/>
                </a:solidFill>
                <a:latin typeface="Calibri"/>
              </a:rPr>
              <a:t>Para cada una de las 38 series del panel calculamos el retorno real trimestral, que es la variación del logaritmo del precio real por m².</a:t>
            </a:r>
          </a:p>
          <a:p>
            <a:pPr>
              <a:lnSpc>
                <a:spcPct val="114000"/>
              </a:lnSpc>
              <a:spcAft>
                <a:spcPts val="1100"/>
              </a:spcAft>
            </a:pPr>
            <a:r>
              <a:rPr sz="1400" b="0" i="0">
                <a:solidFill>
                  <a:srgbClr val="15505E"/>
                </a:solidFill>
                <a:latin typeface="Calibri"/>
              </a:rPr>
              <a:t>La beta es la pendiente de una regresión del retorno de la comuna contra el del mercado. Una beta de 1,3 quiere decir que, si el mercado sube 10%, esa comuna tiende a subir 13%.</a:t>
            </a:r>
          </a:p>
          <a:p>
            <a:pPr>
              <a:lnSpc>
                <a:spcPct val="112000"/>
              </a:lnSpc>
              <a:spcAft>
                <a:spcPts val="1100"/>
              </a:spcAft>
            </a:pPr>
            <a:r>
              <a:rPr sz="1400" b="1">
                <a:solidFill>
                  <a:srgbClr val="C8742A"/>
                </a:solidFill>
                <a:latin typeface="Calibri"/>
              </a:rPr>
              <a:t>Un detalle importante: </a:t>
            </a:r>
            <a:r>
              <a:rPr sz="1400" b="0">
                <a:solidFill>
                  <a:srgbClr val="15505E"/>
                </a:solidFill>
                <a:latin typeface="Calibri"/>
              </a:rPr>
              <a:t>el mercado de cada comuna es el promedio de las demás comunas del mismo tipo, sin incluirla a ella. Si la incluyéramos, parte de la correlación sería mecánica y la beta daría más alta de lo que es.</a:t>
            </a:r>
          </a:p>
          <a:p>
            <a:pPr>
              <a:lnSpc>
                <a:spcPct val="114000"/>
              </a:lnSpc>
              <a:spcAft>
                <a:spcPts val="0"/>
              </a:spcAft>
            </a:pPr>
            <a:r>
              <a:rPr sz="1400" b="0" i="0">
                <a:solidFill>
                  <a:srgbClr val="15505E"/>
                </a:solidFill>
                <a:latin typeface="Calibri"/>
              </a:rPr>
              <a:t>Además calculamos dos betas por serie, una para los trimestres en que el mercado sube y otra para los que baja, y la volatilidad de cada serie.</a:t>
            </a:r>
          </a:p>
        </p:txBody>
      </p:sp>
      <p:sp>
        <p:nvSpPr>
          <p:cNvPr id="7" name="Rounded Rectangle 6"/>
          <p:cNvSpPr/>
          <p:nvPr/>
        </p:nvSpPr>
        <p:spPr>
          <a:xfrm>
            <a:off x="6766560" y="1600200"/>
            <a:ext cx="4572000" cy="4023360"/>
          </a:xfrm>
          <a:prstGeom prst="roundRect">
            <a:avLst>
              <a:gd name="adj" fmla="val 5000"/>
            </a:avLst>
          </a:prstGeom>
          <a:solidFill>
            <a:srgbClr val="1550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040880" y="1874519"/>
            <a:ext cx="4023360" cy="3520440"/>
          </a:xfrm>
          <a:prstGeom prst="rect">
            <a:avLst/>
          </a:prstGeom>
          <a:noFill/>
        </p:spPr>
        <p:txBody>
          <a:bodyPr wrap="square" lIns="0" rIns="0" tIns="0" bIns="0" anchor="t">
            <a:spAutoFit/>
          </a:bodyPr>
          <a:lstStyle/>
          <a:p>
            <a:pPr algn="l">
              <a:lnSpc>
                <a:spcPct val="112000"/>
              </a:lnSpc>
              <a:spcAft>
                <a:spcPts val="1200"/>
              </a:spcAft>
            </a:pPr>
            <a:r>
              <a:rPr sz="1700" b="1" i="0">
                <a:solidFill>
                  <a:srgbClr val="F6F1E7"/>
                </a:solidFill>
                <a:latin typeface="Bookman Old Style"/>
              </a:rPr>
              <a:t>Beta promedio por zona</a:t>
            </a:r>
          </a:p>
        </p:txBody>
      </p:sp>
      <p:graphicFrame>
        <p:nvGraphicFramePr>
          <p:cNvPr id="9" name="Table 8"/>
          <p:cNvGraphicFramePr>
            <a:graphicFrameLocks noGrp="1"/>
          </p:cNvGraphicFramePr>
          <p:nvPr/>
        </p:nvGraphicFramePr>
        <p:xfrm>
          <a:off x="7040880" y="2377440"/>
          <a:ext cx="4023360" cy="1755648"/>
        </p:xfrm>
        <a:graphic>
          <a:graphicData uri="http://schemas.openxmlformats.org/drawingml/2006/table">
            <a:tbl>
              <a:tblPr>
                <a:tableStyleId>{5C22544A-7EE6-4342-B048-85BDC9FD1C3A}</a:tableStyleId>
              </a:tblPr>
              <a:tblGrid>
                <a:gridCol w="1097280"/>
                <a:gridCol w="548640"/>
                <a:gridCol w="1005840"/>
                <a:gridCol w="1371600"/>
              </a:tblGrid>
              <a:tr h="365760">
                <a:tc>
                  <a:txBody>
                    <a:bodyPr wrap="square"/>
                    <a:lstStyle/>
                    <a:p>
                      <a:pPr algn="l">
                        <a:lnSpc>
                          <a:spcPct val="100000"/>
                        </a:lnSpc>
                        <a:spcAft>
                          <a:spcPts val="0"/>
                        </a:spcAft>
                      </a:pPr>
                      <a:r>
                        <a:rPr sz="1100" b="1">
                          <a:solidFill>
                            <a:srgbClr val="F6F1E7"/>
                          </a:solidFill>
                          <a:latin typeface="Calibri"/>
                        </a:rPr>
                        <a:t>Zona</a:t>
                      </a:r>
                    </a:p>
                  </a:txBody>
                  <a:tcPr marL="82296" marR="82296" marT="18288" marB="18288" anchor="ctr">
                    <a:solidFill>
                      <a:srgbClr val="C8742A"/>
                    </a:solidFill>
                  </a:tcPr>
                </a:tc>
                <a:tc>
                  <a:txBody>
                    <a:bodyPr wrap="square"/>
                    <a:lstStyle/>
                    <a:p>
                      <a:pPr algn="r">
                        <a:lnSpc>
                          <a:spcPct val="100000"/>
                        </a:lnSpc>
                        <a:spcAft>
                          <a:spcPts val="0"/>
                        </a:spcAft>
                      </a:pPr>
                      <a:r>
                        <a:rPr sz="1100" b="1">
                          <a:solidFill>
                            <a:srgbClr val="F6F1E7"/>
                          </a:solidFill>
                          <a:latin typeface="Calibri"/>
                        </a:rPr>
                        <a:t>n</a:t>
                      </a:r>
                    </a:p>
                  </a:txBody>
                  <a:tcPr marL="82296" marR="82296" marT="18288" marB="18288" anchor="ctr">
                    <a:solidFill>
                      <a:srgbClr val="C8742A"/>
                    </a:solidFill>
                  </a:tcPr>
                </a:tc>
                <a:tc>
                  <a:txBody>
                    <a:bodyPr wrap="square"/>
                    <a:lstStyle/>
                    <a:p>
                      <a:pPr algn="r">
                        <a:lnSpc>
                          <a:spcPct val="100000"/>
                        </a:lnSpc>
                        <a:spcAft>
                          <a:spcPts val="0"/>
                        </a:spcAft>
                      </a:pPr>
                      <a:r>
                        <a:rPr sz="1100" b="1">
                          <a:solidFill>
                            <a:srgbClr val="F6F1E7"/>
                          </a:solidFill>
                          <a:latin typeface="Calibri"/>
                        </a:rPr>
                        <a:t>Beta</a:t>
                      </a:r>
                    </a:p>
                  </a:txBody>
                  <a:tcPr marL="82296" marR="82296" marT="18288" marB="18288" anchor="ctr">
                    <a:solidFill>
                      <a:srgbClr val="C8742A"/>
                    </a:solidFill>
                  </a:tcPr>
                </a:tc>
                <a:tc>
                  <a:txBody>
                    <a:bodyPr wrap="square"/>
                    <a:lstStyle/>
                    <a:p>
                      <a:pPr algn="r">
                        <a:lnSpc>
                          <a:spcPct val="100000"/>
                        </a:lnSpc>
                        <a:spcAft>
                          <a:spcPts val="0"/>
                        </a:spcAft>
                      </a:pPr>
                      <a:r>
                        <a:rPr sz="1100" b="1">
                          <a:solidFill>
                            <a:srgbClr val="F6F1E7"/>
                          </a:solidFill>
                          <a:latin typeface="Calibri"/>
                        </a:rPr>
                        <a:t>Volatilidad</a:t>
                      </a:r>
                    </a:p>
                  </a:txBody>
                  <a:tcPr marL="82296" marR="82296" marT="18288" marB="18288" anchor="ctr">
                    <a:solidFill>
                      <a:srgbClr val="C8742A"/>
                    </a:solidFill>
                  </a:tcPr>
                </a:tc>
              </a:tr>
              <a:tr h="347472">
                <a:tc>
                  <a:txBody>
                    <a:bodyPr wrap="square"/>
                    <a:lstStyle/>
                    <a:p>
                      <a:pPr algn="l">
                        <a:lnSpc>
                          <a:spcPct val="100000"/>
                        </a:lnSpc>
                        <a:spcAft>
                          <a:spcPts val="0"/>
                        </a:spcAft>
                      </a:pPr>
                      <a:r>
                        <a:rPr sz="1150" b="0">
                          <a:solidFill>
                            <a:srgbClr val="15505E"/>
                          </a:solidFill>
                          <a:latin typeface="Calibri"/>
                        </a:rPr>
                        <a:t>Norte</a:t>
                      </a:r>
                    </a:p>
                  </a:txBody>
                  <a:tcPr marL="82296" marR="82296" marT="18288" marB="18288" anchor="ctr">
                    <a:solidFill>
                      <a:srgbClr val="F6F1E7"/>
                    </a:solidFill>
                  </a:tcPr>
                </a:tc>
                <a:tc>
                  <a:txBody>
                    <a:bodyPr wrap="square"/>
                    <a:lstStyle/>
                    <a:p>
                      <a:pPr algn="r">
                        <a:lnSpc>
                          <a:spcPct val="100000"/>
                        </a:lnSpc>
                        <a:spcAft>
                          <a:spcPts val="0"/>
                        </a:spcAft>
                      </a:pPr>
                      <a:r>
                        <a:rPr sz="1150" b="0">
                          <a:solidFill>
                            <a:srgbClr val="15505E"/>
                          </a:solidFill>
                          <a:latin typeface="Calibri"/>
                        </a:rPr>
                        <a:t>9</a:t>
                      </a:r>
                    </a:p>
                  </a:txBody>
                  <a:tcPr marL="82296" marR="82296" marT="18288" marB="18288" anchor="ctr">
                    <a:solidFill>
                      <a:srgbClr val="F6F1E7"/>
                    </a:solidFill>
                  </a:tcPr>
                </a:tc>
                <a:tc>
                  <a:txBody>
                    <a:bodyPr wrap="square"/>
                    <a:lstStyle/>
                    <a:p>
                      <a:pPr algn="r">
                        <a:lnSpc>
                          <a:spcPct val="100000"/>
                        </a:lnSpc>
                        <a:spcAft>
                          <a:spcPts val="0"/>
                        </a:spcAft>
                      </a:pPr>
                      <a:r>
                        <a:rPr sz="1150" b="0">
                          <a:solidFill>
                            <a:srgbClr val="15505E"/>
                          </a:solidFill>
                          <a:latin typeface="Calibri"/>
                        </a:rPr>
                        <a:t>1,09</a:t>
                      </a:r>
                    </a:p>
                  </a:txBody>
                  <a:tcPr marL="82296" marR="82296" marT="18288" marB="18288" anchor="ctr">
                    <a:solidFill>
                      <a:srgbClr val="F6F1E7"/>
                    </a:solidFill>
                  </a:tcPr>
                </a:tc>
                <a:tc>
                  <a:txBody>
                    <a:bodyPr wrap="square"/>
                    <a:lstStyle/>
                    <a:p>
                      <a:pPr algn="r">
                        <a:lnSpc>
                          <a:spcPct val="100000"/>
                        </a:lnSpc>
                        <a:spcAft>
                          <a:spcPts val="0"/>
                        </a:spcAft>
                      </a:pPr>
                      <a:r>
                        <a:rPr sz="1150" b="0">
                          <a:solidFill>
                            <a:srgbClr val="15505E"/>
                          </a:solidFill>
                          <a:latin typeface="Calibri"/>
                        </a:rPr>
                        <a:t>10,3%</a:t>
                      </a:r>
                    </a:p>
                  </a:txBody>
                  <a:tcPr marL="82296" marR="82296" marT="18288" marB="18288" anchor="ctr">
                    <a:solidFill>
                      <a:srgbClr val="F6F1E7"/>
                    </a:solidFill>
                  </a:tcPr>
                </a:tc>
              </a:tr>
              <a:tr h="347472">
                <a:tc>
                  <a:txBody>
                    <a:bodyPr wrap="square"/>
                    <a:lstStyle/>
                    <a:p>
                      <a:pPr algn="l">
                        <a:lnSpc>
                          <a:spcPct val="100000"/>
                        </a:lnSpc>
                        <a:spcAft>
                          <a:spcPts val="0"/>
                        </a:spcAft>
                      </a:pPr>
                      <a:r>
                        <a:rPr sz="1150" b="0">
                          <a:solidFill>
                            <a:srgbClr val="15505E"/>
                          </a:solidFill>
                          <a:latin typeface="Calibri"/>
                        </a:rPr>
                        <a:t>Centro</a:t>
                      </a:r>
                    </a:p>
                  </a:txBody>
                  <a:tcPr marL="82296" marR="82296" marT="18288" marB="18288" anchor="ctr">
                    <a:solidFill>
                      <a:srgbClr val="FFFFFF"/>
                    </a:solidFill>
                  </a:tcPr>
                </a:tc>
                <a:tc>
                  <a:txBody>
                    <a:bodyPr wrap="square"/>
                    <a:lstStyle/>
                    <a:p>
                      <a:pPr algn="r">
                        <a:lnSpc>
                          <a:spcPct val="100000"/>
                        </a:lnSpc>
                        <a:spcAft>
                          <a:spcPts val="0"/>
                        </a:spcAft>
                      </a:pPr>
                      <a:r>
                        <a:rPr sz="1150" b="0">
                          <a:solidFill>
                            <a:srgbClr val="15505E"/>
                          </a:solidFill>
                          <a:latin typeface="Calibri"/>
                        </a:rPr>
                        <a:t>15</a:t>
                      </a:r>
                    </a:p>
                  </a:txBody>
                  <a:tcPr marL="82296" marR="82296" marT="18288" marB="18288" anchor="ctr">
                    <a:solidFill>
                      <a:srgbClr val="FFFFFF"/>
                    </a:solidFill>
                  </a:tcPr>
                </a:tc>
                <a:tc>
                  <a:txBody>
                    <a:bodyPr wrap="square"/>
                    <a:lstStyle/>
                    <a:p>
                      <a:pPr algn="r">
                        <a:lnSpc>
                          <a:spcPct val="100000"/>
                        </a:lnSpc>
                        <a:spcAft>
                          <a:spcPts val="0"/>
                        </a:spcAft>
                      </a:pPr>
                      <a:r>
                        <a:rPr sz="1150" b="0">
                          <a:solidFill>
                            <a:srgbClr val="15505E"/>
                          </a:solidFill>
                          <a:latin typeface="Calibri"/>
                        </a:rPr>
                        <a:t>1,00</a:t>
                      </a:r>
                    </a:p>
                  </a:txBody>
                  <a:tcPr marL="82296" marR="82296" marT="18288" marB="18288" anchor="ctr">
                    <a:solidFill>
                      <a:srgbClr val="FFFFFF"/>
                    </a:solidFill>
                  </a:tcPr>
                </a:tc>
                <a:tc>
                  <a:txBody>
                    <a:bodyPr wrap="square"/>
                    <a:lstStyle/>
                    <a:p>
                      <a:pPr algn="r">
                        <a:lnSpc>
                          <a:spcPct val="100000"/>
                        </a:lnSpc>
                        <a:spcAft>
                          <a:spcPts val="0"/>
                        </a:spcAft>
                      </a:pPr>
                      <a:r>
                        <a:rPr sz="1150" b="0">
                          <a:solidFill>
                            <a:srgbClr val="15505E"/>
                          </a:solidFill>
                          <a:latin typeface="Calibri"/>
                        </a:rPr>
                        <a:t>9,7%</a:t>
                      </a:r>
                    </a:p>
                  </a:txBody>
                  <a:tcPr marL="82296" marR="82296" marT="18288" marB="18288" anchor="ctr">
                    <a:solidFill>
                      <a:srgbClr val="FFFFFF"/>
                    </a:solidFill>
                  </a:tcPr>
                </a:tc>
              </a:tr>
              <a:tr h="347472">
                <a:tc>
                  <a:txBody>
                    <a:bodyPr wrap="square"/>
                    <a:lstStyle/>
                    <a:p>
                      <a:pPr algn="l">
                        <a:lnSpc>
                          <a:spcPct val="100000"/>
                        </a:lnSpc>
                        <a:spcAft>
                          <a:spcPts val="0"/>
                        </a:spcAft>
                      </a:pPr>
                      <a:r>
                        <a:rPr sz="1150" b="0">
                          <a:solidFill>
                            <a:srgbClr val="15505E"/>
                          </a:solidFill>
                          <a:latin typeface="Calibri"/>
                        </a:rPr>
                        <a:t>Oeste</a:t>
                      </a:r>
                    </a:p>
                  </a:txBody>
                  <a:tcPr marL="82296" marR="82296" marT="18288" marB="18288" anchor="ctr">
                    <a:solidFill>
                      <a:srgbClr val="F6F1E7"/>
                    </a:solidFill>
                  </a:tcPr>
                </a:tc>
                <a:tc>
                  <a:txBody>
                    <a:bodyPr wrap="square"/>
                    <a:lstStyle/>
                    <a:p>
                      <a:pPr algn="r">
                        <a:lnSpc>
                          <a:spcPct val="100000"/>
                        </a:lnSpc>
                        <a:spcAft>
                          <a:spcPts val="0"/>
                        </a:spcAft>
                      </a:pPr>
                      <a:r>
                        <a:rPr sz="1150" b="0">
                          <a:solidFill>
                            <a:srgbClr val="15505E"/>
                          </a:solidFill>
                          <a:latin typeface="Calibri"/>
                        </a:rPr>
                        <a:t>9</a:t>
                      </a:r>
                    </a:p>
                  </a:txBody>
                  <a:tcPr marL="82296" marR="82296" marT="18288" marB="18288" anchor="ctr">
                    <a:solidFill>
                      <a:srgbClr val="F6F1E7"/>
                    </a:solidFill>
                  </a:tcPr>
                </a:tc>
                <a:tc>
                  <a:txBody>
                    <a:bodyPr wrap="square"/>
                    <a:lstStyle/>
                    <a:p>
                      <a:pPr algn="r">
                        <a:lnSpc>
                          <a:spcPct val="100000"/>
                        </a:lnSpc>
                        <a:spcAft>
                          <a:spcPts val="0"/>
                        </a:spcAft>
                      </a:pPr>
                      <a:r>
                        <a:rPr sz="1150" b="0">
                          <a:solidFill>
                            <a:srgbClr val="15505E"/>
                          </a:solidFill>
                          <a:latin typeface="Calibri"/>
                        </a:rPr>
                        <a:t>0,88</a:t>
                      </a:r>
                    </a:p>
                  </a:txBody>
                  <a:tcPr marL="82296" marR="82296" marT="18288" marB="18288" anchor="ctr">
                    <a:solidFill>
                      <a:srgbClr val="F6F1E7"/>
                    </a:solidFill>
                  </a:tcPr>
                </a:tc>
                <a:tc>
                  <a:txBody>
                    <a:bodyPr wrap="square"/>
                    <a:lstStyle/>
                    <a:p>
                      <a:pPr algn="r">
                        <a:lnSpc>
                          <a:spcPct val="100000"/>
                        </a:lnSpc>
                        <a:spcAft>
                          <a:spcPts val="0"/>
                        </a:spcAft>
                      </a:pPr>
                      <a:r>
                        <a:rPr sz="1150" b="0">
                          <a:solidFill>
                            <a:srgbClr val="15505E"/>
                          </a:solidFill>
                          <a:latin typeface="Calibri"/>
                        </a:rPr>
                        <a:t>9,1%</a:t>
                      </a:r>
                    </a:p>
                  </a:txBody>
                  <a:tcPr marL="82296" marR="82296" marT="18288" marB="18288" anchor="ctr">
                    <a:solidFill>
                      <a:srgbClr val="F6F1E7"/>
                    </a:solidFill>
                  </a:tcPr>
                </a:tc>
              </a:tr>
              <a:tr h="347472">
                <a:tc>
                  <a:txBody>
                    <a:bodyPr wrap="square"/>
                    <a:lstStyle/>
                    <a:p>
                      <a:pPr algn="l">
                        <a:lnSpc>
                          <a:spcPct val="100000"/>
                        </a:lnSpc>
                        <a:spcAft>
                          <a:spcPts val="0"/>
                        </a:spcAft>
                      </a:pPr>
                      <a:r>
                        <a:rPr sz="1150" b="0">
                          <a:solidFill>
                            <a:srgbClr val="15505E"/>
                          </a:solidFill>
                          <a:latin typeface="Calibri"/>
                        </a:rPr>
                        <a:t>Sur</a:t>
                      </a:r>
                    </a:p>
                  </a:txBody>
                  <a:tcPr marL="82296" marR="82296" marT="18288" marB="18288" anchor="ctr">
                    <a:solidFill>
                      <a:srgbClr val="FFFFFF"/>
                    </a:solidFill>
                  </a:tcPr>
                </a:tc>
                <a:tc>
                  <a:txBody>
                    <a:bodyPr wrap="square"/>
                    <a:lstStyle/>
                    <a:p>
                      <a:pPr algn="r">
                        <a:lnSpc>
                          <a:spcPct val="100000"/>
                        </a:lnSpc>
                        <a:spcAft>
                          <a:spcPts val="0"/>
                        </a:spcAft>
                      </a:pPr>
                      <a:r>
                        <a:rPr sz="1150" b="0">
                          <a:solidFill>
                            <a:srgbClr val="15505E"/>
                          </a:solidFill>
                          <a:latin typeface="Calibri"/>
                        </a:rPr>
                        <a:t>5</a:t>
                      </a:r>
                    </a:p>
                  </a:txBody>
                  <a:tcPr marL="82296" marR="82296" marT="18288" marB="18288" anchor="ctr">
                    <a:solidFill>
                      <a:srgbClr val="FFFFFF"/>
                    </a:solidFill>
                  </a:tcPr>
                </a:tc>
                <a:tc>
                  <a:txBody>
                    <a:bodyPr wrap="square"/>
                    <a:lstStyle/>
                    <a:p>
                      <a:pPr algn="r">
                        <a:lnSpc>
                          <a:spcPct val="100000"/>
                        </a:lnSpc>
                        <a:spcAft>
                          <a:spcPts val="0"/>
                        </a:spcAft>
                      </a:pPr>
                      <a:r>
                        <a:rPr sz="1150" b="0">
                          <a:solidFill>
                            <a:srgbClr val="15505E"/>
                          </a:solidFill>
                          <a:latin typeface="Calibri"/>
                        </a:rPr>
                        <a:t>0,88</a:t>
                      </a:r>
                    </a:p>
                  </a:txBody>
                  <a:tcPr marL="82296" marR="82296" marT="18288" marB="18288" anchor="ctr">
                    <a:solidFill>
                      <a:srgbClr val="FFFFFF"/>
                    </a:solidFill>
                  </a:tcPr>
                </a:tc>
                <a:tc>
                  <a:txBody>
                    <a:bodyPr wrap="square"/>
                    <a:lstStyle/>
                    <a:p>
                      <a:pPr algn="r">
                        <a:lnSpc>
                          <a:spcPct val="100000"/>
                        </a:lnSpc>
                        <a:spcAft>
                          <a:spcPts val="0"/>
                        </a:spcAft>
                      </a:pPr>
                      <a:r>
                        <a:rPr sz="1150" b="0">
                          <a:solidFill>
                            <a:srgbClr val="15505E"/>
                          </a:solidFill>
                          <a:latin typeface="Calibri"/>
                        </a:rPr>
                        <a:t>9,2%</a:t>
                      </a:r>
                    </a:p>
                  </a:txBody>
                  <a:tcPr marL="82296" marR="82296" marT="18288" marB="18288" anchor="ctr">
                    <a:solidFill>
                      <a:srgbClr val="FFFFFF"/>
                    </a:solidFill>
                  </a:tcPr>
                </a:tc>
              </a:tr>
            </a:tbl>
          </a:graphicData>
        </a:graphic>
      </p:graphicFrame>
      <p:sp>
        <p:nvSpPr>
          <p:cNvPr id="10" name="TextBox 9"/>
          <p:cNvSpPr txBox="1"/>
          <p:nvPr/>
        </p:nvSpPr>
        <p:spPr>
          <a:xfrm>
            <a:off x="7040880" y="4434840"/>
            <a:ext cx="4023360" cy="1005840"/>
          </a:xfrm>
          <a:prstGeom prst="rect">
            <a:avLst/>
          </a:prstGeom>
          <a:noFill/>
        </p:spPr>
        <p:txBody>
          <a:bodyPr wrap="square" lIns="0" rIns="0" tIns="0" bIns="0" anchor="t">
            <a:spAutoFit/>
          </a:bodyPr>
          <a:lstStyle/>
          <a:p>
            <a:pPr algn="l"/>
          </a:p>
          <a:p>
            <a:pPr>
              <a:lnSpc>
                <a:spcPct val="114000"/>
              </a:lnSpc>
              <a:spcAft>
                <a:spcPts val="0"/>
              </a:spcAft>
            </a:pPr>
            <a:r>
              <a:rPr sz="1250" b="0" i="0">
                <a:solidFill>
                  <a:srgbClr val="F6F1E7"/>
                </a:solidFill>
                <a:latin typeface="Calibri"/>
              </a:rPr>
              <a:t>El orden es el que esperábamos, pero las diferencias son chicas. Hay que ver si son significativas.</a:t>
            </a:r>
          </a:p>
        </p:txBody>
      </p:sp>
      <p:sp>
        <p:nvSpPr>
          <p:cNvPr id="11" name="TextBox 10"/>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6B7578"/>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15505E"/>
                </a:solidFill>
                <a:latin typeface="Bookman Old Style"/>
              </a:rPr>
              <a:t>H2. ANOVA DE LA BETA POR ZONA</a:t>
            </a:r>
          </a:p>
        </p:txBody>
      </p:sp>
      <p:sp>
        <p:nvSpPr>
          <p:cNvPr id="6" name="TextBox 5"/>
          <p:cNvSpPr txBox="1"/>
          <p:nvPr/>
        </p:nvSpPr>
        <p:spPr>
          <a:xfrm>
            <a:off x="868680" y="1572768"/>
            <a:ext cx="5029200" cy="1371600"/>
          </a:xfrm>
          <a:prstGeom prst="rect">
            <a:avLst/>
          </a:prstGeom>
          <a:noFill/>
        </p:spPr>
        <p:txBody>
          <a:bodyPr wrap="square" lIns="0" rIns="0" tIns="0" bIns="0" anchor="t">
            <a:spAutoFit/>
          </a:bodyPr>
          <a:lstStyle/>
          <a:p>
            <a:pPr algn="l">
              <a:lnSpc>
                <a:spcPct val="112000"/>
              </a:lnSpc>
              <a:spcAft>
                <a:spcPts val="500"/>
              </a:spcAft>
            </a:pPr>
            <a:r>
              <a:rPr sz="1350" b="1">
                <a:solidFill>
                  <a:srgbClr val="C8742A"/>
                </a:solidFill>
                <a:latin typeface="Calibri"/>
              </a:rPr>
              <a:t>H0: </a:t>
            </a:r>
            <a:r>
              <a:rPr sz="1350" b="0">
                <a:solidFill>
                  <a:srgbClr val="15505E"/>
                </a:solidFill>
                <a:latin typeface="Calibri"/>
              </a:rPr>
              <a:t>la beta media es igual en las cuatro zonas.</a:t>
            </a:r>
          </a:p>
          <a:p>
            <a:pPr>
              <a:lnSpc>
                <a:spcPct val="112000"/>
              </a:lnSpc>
              <a:spcAft>
                <a:spcPts val="1000"/>
              </a:spcAft>
            </a:pPr>
            <a:r>
              <a:rPr sz="1350" b="1">
                <a:solidFill>
                  <a:srgbClr val="C8742A"/>
                </a:solidFill>
                <a:latin typeface="Calibri"/>
              </a:rPr>
              <a:t>H1: </a:t>
            </a:r>
            <a:r>
              <a:rPr sz="1350" b="0">
                <a:solidFill>
                  <a:srgbClr val="15505E"/>
                </a:solidFill>
                <a:latin typeface="Calibri"/>
              </a:rPr>
              <a:t>al menos una zona tiene una beta media distinta.</a:t>
            </a:r>
          </a:p>
          <a:p>
            <a:pPr>
              <a:lnSpc>
                <a:spcPct val="114000"/>
              </a:lnSpc>
              <a:spcAft>
                <a:spcPts val="0"/>
              </a:spcAft>
            </a:pPr>
            <a:r>
              <a:rPr sz="1350" b="0" i="0">
                <a:solidFill>
                  <a:srgbClr val="15505E"/>
                </a:solidFill>
                <a:latin typeface="Calibri"/>
              </a:rPr>
              <a:t>Es una variable cuantitativa contra una categórica de cuatro grupos, así que el método que corresponde es un ANOVA.</a:t>
            </a:r>
          </a:p>
        </p:txBody>
      </p:sp>
      <p:graphicFrame>
        <p:nvGraphicFramePr>
          <p:cNvPr id="7" name="Table 6"/>
          <p:cNvGraphicFramePr>
            <a:graphicFrameLocks noGrp="1"/>
          </p:cNvGraphicFramePr>
          <p:nvPr/>
        </p:nvGraphicFramePr>
        <p:xfrm>
          <a:off x="868680" y="3154680"/>
          <a:ext cx="5029200" cy="2194560"/>
        </p:xfrm>
        <a:graphic>
          <a:graphicData uri="http://schemas.openxmlformats.org/drawingml/2006/table">
            <a:tbl>
              <a:tblPr>
                <a:tableStyleId>{5C22544A-7EE6-4342-B048-85BDC9FD1C3A}</a:tableStyleId>
              </a:tblPr>
              <a:tblGrid>
                <a:gridCol w="1920240"/>
                <a:gridCol w="1143000"/>
                <a:gridCol w="914400"/>
                <a:gridCol w="1051560"/>
              </a:tblGrid>
              <a:tr h="365760">
                <a:tc>
                  <a:txBody>
                    <a:bodyPr wrap="square"/>
                    <a:lstStyle/>
                    <a:p>
                      <a:pPr algn="l">
                        <a:lnSpc>
                          <a:spcPct val="100000"/>
                        </a:lnSpc>
                        <a:spcAft>
                          <a:spcPts val="0"/>
                        </a:spcAft>
                      </a:pPr>
                      <a:r>
                        <a:rPr sz="1050" b="1">
                          <a:solidFill>
                            <a:srgbClr val="F6F1E7"/>
                          </a:solidFill>
                          <a:latin typeface="Calibri"/>
                        </a:rPr>
                        <a:t>Test</a:t>
                      </a:r>
                    </a:p>
                  </a:txBody>
                  <a:tcPr marL="82296" marR="82296" marT="18288" marB="18288" anchor="ctr">
                    <a:solidFill>
                      <a:srgbClr val="15505E"/>
                    </a:solidFill>
                  </a:tcPr>
                </a:tc>
                <a:tc>
                  <a:txBody>
                    <a:bodyPr wrap="square"/>
                    <a:lstStyle/>
                    <a:p>
                      <a:pPr algn="r">
                        <a:lnSpc>
                          <a:spcPct val="100000"/>
                        </a:lnSpc>
                        <a:spcAft>
                          <a:spcPts val="0"/>
                        </a:spcAft>
                      </a:pPr>
                      <a:r>
                        <a:rPr sz="1050" b="1">
                          <a:solidFill>
                            <a:srgbClr val="F6F1E7"/>
                          </a:solidFill>
                          <a:latin typeface="Calibri"/>
                        </a:rPr>
                        <a:t>Estadístico</a:t>
                      </a:r>
                    </a:p>
                  </a:txBody>
                  <a:tcPr marL="82296" marR="82296" marT="18288" marB="18288" anchor="ctr">
                    <a:solidFill>
                      <a:srgbClr val="15505E"/>
                    </a:solidFill>
                  </a:tcPr>
                </a:tc>
                <a:tc>
                  <a:txBody>
                    <a:bodyPr wrap="square"/>
                    <a:lstStyle/>
                    <a:p>
                      <a:pPr algn="r">
                        <a:lnSpc>
                          <a:spcPct val="100000"/>
                        </a:lnSpc>
                        <a:spcAft>
                          <a:spcPts val="0"/>
                        </a:spcAft>
                      </a:pPr>
                      <a:r>
                        <a:rPr sz="1050" b="1">
                          <a:solidFill>
                            <a:srgbClr val="F6F1E7"/>
                          </a:solidFill>
                          <a:latin typeface="Calibri"/>
                        </a:rPr>
                        <a:t>p</a:t>
                      </a:r>
                    </a:p>
                  </a:txBody>
                  <a:tcPr marL="82296" marR="82296" marT="18288" marB="18288" anchor="ctr">
                    <a:solidFill>
                      <a:srgbClr val="15505E"/>
                    </a:solidFill>
                  </a:tcPr>
                </a:tc>
                <a:tc>
                  <a:txBody>
                    <a:bodyPr wrap="square"/>
                    <a:lstStyle/>
                    <a:p>
                      <a:pPr algn="r">
                        <a:lnSpc>
                          <a:spcPct val="100000"/>
                        </a:lnSpc>
                        <a:spcAft>
                          <a:spcPts val="0"/>
                        </a:spcAft>
                      </a:pPr>
                      <a:r>
                        <a:rPr sz="1050" b="1">
                          <a:solidFill>
                            <a:srgbClr val="F6F1E7"/>
                          </a:solidFill>
                          <a:latin typeface="Calibri"/>
                        </a:rPr>
                        <a:t>Efecto</a:t>
                      </a:r>
                    </a:p>
                  </a:txBody>
                  <a:tcPr marL="82296" marR="82296" marT="18288" marB="18288" anchor="ctr">
                    <a:solidFill>
                      <a:srgbClr val="15505E"/>
                    </a:solidFill>
                  </a:tcPr>
                </a:tc>
              </a:tr>
              <a:tr h="365760">
                <a:tc>
                  <a:txBody>
                    <a:bodyPr wrap="square"/>
                    <a:lstStyle/>
                    <a:p>
                      <a:pPr algn="l">
                        <a:lnSpc>
                          <a:spcPct val="100000"/>
                        </a:lnSpc>
                        <a:spcAft>
                          <a:spcPts val="0"/>
                        </a:spcAft>
                      </a:pPr>
                      <a:r>
                        <a:rPr sz="1100" b="0">
                          <a:solidFill>
                            <a:srgbClr val="15505E"/>
                          </a:solidFill>
                          <a:latin typeface="Calibri"/>
                        </a:rPr>
                        <a:t>ANOVA</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3,05</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0,042</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η²=0.21</a:t>
                      </a:r>
                    </a:p>
                  </a:txBody>
                  <a:tcPr marL="82296" marR="82296" marT="18288" marB="18288" anchor="ctr">
                    <a:solidFill>
                      <a:srgbClr val="F6F1E7"/>
                    </a:solidFill>
                  </a:tcPr>
                </a:tc>
              </a:tr>
              <a:tr h="365760">
                <a:tc>
                  <a:txBody>
                    <a:bodyPr wrap="square"/>
                    <a:lstStyle/>
                    <a:p>
                      <a:pPr algn="l">
                        <a:lnSpc>
                          <a:spcPct val="100000"/>
                        </a:lnSpc>
                        <a:spcAft>
                          <a:spcPts val="0"/>
                        </a:spcAft>
                      </a:pPr>
                      <a:r>
                        <a:rPr sz="1100" b="0">
                          <a:solidFill>
                            <a:srgbClr val="15505E"/>
                          </a:solidFill>
                          <a:latin typeface="Calibri"/>
                        </a:rPr>
                        <a:t>Welch</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2,44</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0,113</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
                      </a:r>
                    </a:p>
                  </a:txBody>
                  <a:tcPr marL="82296" marR="82296" marT="18288" marB="18288" anchor="ctr">
                    <a:solidFill>
                      <a:srgbClr val="FFFFFF"/>
                    </a:solidFill>
                  </a:tcPr>
                </a:tc>
              </a:tr>
              <a:tr h="365760">
                <a:tc>
                  <a:txBody>
                    <a:bodyPr wrap="square"/>
                    <a:lstStyle/>
                    <a:p>
                      <a:pPr algn="l">
                        <a:lnSpc>
                          <a:spcPct val="100000"/>
                        </a:lnSpc>
                        <a:spcAft>
                          <a:spcPts val="0"/>
                        </a:spcAft>
                      </a:pPr>
                      <a:r>
                        <a:rPr sz="1100" b="0">
                          <a:solidFill>
                            <a:srgbClr val="15505E"/>
                          </a:solidFill>
                          <a:latin typeface="Calibri"/>
                        </a:rPr>
                        <a:t>Kruskal-Wallis</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6,05</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0,109</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ε²=0.16</a:t>
                      </a:r>
                    </a:p>
                  </a:txBody>
                  <a:tcPr marL="82296" marR="82296" marT="18288" marB="18288" anchor="ctr">
                    <a:solidFill>
                      <a:srgbClr val="F6F1E7"/>
                    </a:solidFill>
                  </a:tcPr>
                </a:tc>
              </a:tr>
              <a:tr h="365760">
                <a:tc>
                  <a:txBody>
                    <a:bodyPr wrap="square"/>
                    <a:lstStyle/>
                    <a:p>
                      <a:pPr algn="l">
                        <a:lnSpc>
                          <a:spcPct val="100000"/>
                        </a:lnSpc>
                        <a:spcAft>
                          <a:spcPts val="0"/>
                        </a:spcAft>
                      </a:pPr>
                      <a:r>
                        <a:rPr sz="1100" b="0">
                          <a:solidFill>
                            <a:srgbClr val="15505E"/>
                          </a:solidFill>
                          <a:latin typeface="Calibri"/>
                        </a:rPr>
                        <a:t>2 factores: zona</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4,10</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0,017</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
                      </a:r>
                    </a:p>
                  </a:txBody>
                  <a:tcPr marL="82296" marR="82296" marT="18288" marB="18288" anchor="ctr">
                    <a:solidFill>
                      <a:srgbClr val="FFFFFF"/>
                    </a:solidFill>
                  </a:tcPr>
                </a:tc>
              </a:tr>
              <a:tr h="365760">
                <a:tc>
                  <a:txBody>
                    <a:bodyPr wrap="square"/>
                    <a:lstStyle/>
                    <a:p>
                      <a:pPr algn="l">
                        <a:lnSpc>
                          <a:spcPct val="100000"/>
                        </a:lnSpc>
                        <a:spcAft>
                          <a:spcPts val="0"/>
                        </a:spcAft>
                      </a:pPr>
                      <a:r>
                        <a:rPr sz="1100" b="0">
                          <a:solidFill>
                            <a:srgbClr val="15505E"/>
                          </a:solidFill>
                          <a:latin typeface="Calibri"/>
                        </a:rPr>
                        <a:t>2 factores: interacción</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3,24</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0,016</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
                      </a:r>
                    </a:p>
                  </a:txBody>
                  <a:tcPr marL="82296" marR="82296" marT="18288" marB="18288" anchor="ctr">
                    <a:solidFill>
                      <a:srgbClr val="F6F1E7"/>
                    </a:solidFill>
                  </a:tcPr>
                </a:tc>
              </a:tr>
            </a:tbl>
          </a:graphicData>
        </a:graphic>
      </p:graphicFrame>
      <p:sp>
        <p:nvSpPr>
          <p:cNvPr id="8" name="TextBox 7"/>
          <p:cNvSpPr txBox="1"/>
          <p:nvPr/>
        </p:nvSpPr>
        <p:spPr>
          <a:xfrm>
            <a:off x="868680" y="5486400"/>
            <a:ext cx="5029200" cy="548640"/>
          </a:xfrm>
          <a:prstGeom prst="rect">
            <a:avLst/>
          </a:prstGeom>
          <a:noFill/>
        </p:spPr>
        <p:txBody>
          <a:bodyPr wrap="square" lIns="0" rIns="0" tIns="0" bIns="0" anchor="t">
            <a:spAutoFit/>
          </a:bodyPr>
          <a:lstStyle/>
          <a:p>
            <a:pPr algn="l"/>
          </a:p>
          <a:p>
            <a:pPr>
              <a:lnSpc>
                <a:spcPct val="110000"/>
              </a:lnSpc>
              <a:spcAft>
                <a:spcPts val="0"/>
              </a:spcAft>
            </a:pPr>
            <a:r>
              <a:rPr sz="1150" b="0" i="0">
                <a:solidFill>
                  <a:srgbClr val="6B7578"/>
                </a:solidFill>
                <a:latin typeface="Calibri"/>
              </a:rPr>
              <a:t>Supuestos: normalidad de los residuos OK (Shapiro-Wilk p = 0,11) y Levene no rechaza (p = 0,38), aunque el desvío mayor duplica al menor.</a:t>
            </a:r>
          </a:p>
        </p:txBody>
      </p:sp>
      <p:pic>
        <p:nvPicPr>
          <p:cNvPr id="9" name="Picture 8" descr="i2_g05_beta_por_zona.png"/>
          <p:cNvPicPr>
            <a:picLocks noChangeAspect="1"/>
          </p:cNvPicPr>
          <p:nvPr/>
        </p:nvPicPr>
        <p:blipFill>
          <a:blip r:embed="rId2"/>
          <a:stretch>
            <a:fillRect/>
          </a:stretch>
        </p:blipFill>
        <p:spPr>
          <a:xfrm>
            <a:off x="6263640" y="1572768"/>
            <a:ext cx="5074920" cy="3157728"/>
          </a:xfrm>
          <a:prstGeom prst="rect">
            <a:avLst/>
          </a:prstGeom>
        </p:spPr>
      </p:pic>
      <p:sp>
        <p:nvSpPr>
          <p:cNvPr id="10" name="TextBox 9"/>
          <p:cNvSpPr txBox="1"/>
          <p:nvPr/>
        </p:nvSpPr>
        <p:spPr>
          <a:xfrm>
            <a:off x="6263640" y="5029200"/>
            <a:ext cx="5074920" cy="1097280"/>
          </a:xfrm>
          <a:prstGeom prst="rect">
            <a:avLst/>
          </a:prstGeom>
          <a:noFill/>
        </p:spPr>
        <p:txBody>
          <a:bodyPr wrap="square" lIns="0" rIns="0" tIns="0" bIns="0" anchor="t">
            <a:spAutoFit/>
          </a:bodyPr>
          <a:lstStyle/>
          <a:p>
            <a:pPr algn="l"/>
          </a:p>
          <a:p>
            <a:pPr>
              <a:lnSpc>
                <a:spcPct val="112000"/>
              </a:lnSpc>
              <a:spcAft>
                <a:spcPts val="0"/>
              </a:spcAft>
            </a:pPr>
            <a:r>
              <a:rPr sz="1250" b="1">
                <a:solidFill>
                  <a:srgbClr val="C8742A"/>
                </a:solidFill>
                <a:latin typeface="Calibri"/>
              </a:rPr>
              <a:t>Conclusión: </a:t>
            </a:r>
            <a:r>
              <a:rPr sz="1250" b="0">
                <a:solidFill>
                  <a:srgbClr val="15505E"/>
                </a:solidFill>
                <a:latin typeface="Calibri"/>
              </a:rPr>
              <a:t>el ANOVA simple da significativo (p = 0,042) pero no resiste las versiones robustas: con Welch y Kruskal-Wallis el p-valor sube a 0,11. Agrupar por zona pierde información, porque las zonas son muy heterogéneas por dentro.</a:t>
            </a:r>
          </a:p>
        </p:txBody>
      </p:sp>
      <p:sp>
        <p:nvSpPr>
          <p:cNvPr id="11" name="TextBox 10"/>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6B7578"/>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50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F6F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F6F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F6F1E7"/>
                </a:solidFill>
                <a:latin typeface="Bookman Old Style"/>
              </a:rPr>
              <a:t>H2. LA PRUEBA DIRECTA: BETA Y NIVEL DE PRECIO</a:t>
            </a:r>
          </a:p>
        </p:txBody>
      </p:sp>
      <p:pic>
        <p:nvPicPr>
          <p:cNvPr id="6" name="Picture 5" descr="i2_g04_beta_vs_nivel.png"/>
          <p:cNvPicPr>
            <a:picLocks noChangeAspect="1"/>
          </p:cNvPicPr>
          <p:nvPr/>
        </p:nvPicPr>
        <p:blipFill>
          <a:blip r:embed="rId2"/>
          <a:stretch>
            <a:fillRect/>
          </a:stretch>
        </p:blipFill>
        <p:spPr>
          <a:xfrm>
            <a:off x="822960" y="1536192"/>
            <a:ext cx="6858000" cy="4114800"/>
          </a:xfrm>
          <a:prstGeom prst="rect">
            <a:avLst/>
          </a:prstGeom>
        </p:spPr>
      </p:pic>
      <p:sp>
        <p:nvSpPr>
          <p:cNvPr id="7" name="TextBox 6"/>
          <p:cNvSpPr txBox="1"/>
          <p:nvPr/>
        </p:nvSpPr>
        <p:spPr>
          <a:xfrm>
            <a:off x="7955279" y="1600200"/>
            <a:ext cx="3383280" cy="4114800"/>
          </a:xfrm>
          <a:prstGeom prst="rect">
            <a:avLst/>
          </a:prstGeom>
          <a:noFill/>
        </p:spPr>
        <p:txBody>
          <a:bodyPr wrap="square" lIns="0" rIns="0" tIns="0" bIns="0" anchor="t">
            <a:spAutoFit/>
          </a:bodyPr>
          <a:lstStyle/>
          <a:p>
            <a:pPr algn="l">
              <a:lnSpc>
                <a:spcPct val="114000"/>
              </a:lnSpc>
              <a:spcAft>
                <a:spcPts val="1100"/>
              </a:spcAft>
            </a:pPr>
            <a:r>
              <a:rPr sz="1300" b="0" i="0">
                <a:solidFill>
                  <a:srgbClr val="F6F1E7"/>
                </a:solidFill>
                <a:latin typeface="Calibri"/>
              </a:rPr>
              <a:t>La hipótesis habla de comunas caras, no de zonas. Entonces la prueba directa es relacionar la beta con el nivel de precio, que es una variable continua.</a:t>
            </a:r>
          </a:p>
          <a:p>
            <a:pPr>
              <a:lnSpc>
                <a:spcPct val="114000"/>
              </a:lnSpc>
              <a:spcAft>
                <a:spcPts val="1100"/>
              </a:spcAft>
            </a:pPr>
            <a:r>
              <a:rPr sz="1300" b="0" i="0">
                <a:solidFill>
                  <a:srgbClr val="F6F1E7"/>
                </a:solidFill>
                <a:latin typeface="Calibri"/>
              </a:rPr>
              <a:t>Usamos Spearman, que trabaja sobre rangos: no supone normalidad ni linealidad y aguanta mejor los valores extremos.</a:t>
            </a:r>
          </a:p>
        </p:txBody>
      </p:sp>
      <p:graphicFrame>
        <p:nvGraphicFramePr>
          <p:cNvPr id="8" name="Table 7"/>
          <p:cNvGraphicFramePr>
            <a:graphicFrameLocks noGrp="1"/>
          </p:cNvGraphicFramePr>
          <p:nvPr/>
        </p:nvGraphicFramePr>
        <p:xfrm>
          <a:off x="7955279" y="3931920"/>
          <a:ext cx="3383280" cy="1664208"/>
        </p:xfrm>
        <a:graphic>
          <a:graphicData uri="http://schemas.openxmlformats.org/drawingml/2006/table">
            <a:tbl>
              <a:tblPr>
                <a:tableStyleId>{5C22544A-7EE6-4342-B048-85BDC9FD1C3A}</a:tableStyleId>
              </a:tblPr>
              <a:tblGrid>
                <a:gridCol w="1737360"/>
                <a:gridCol w="822960"/>
                <a:gridCol w="822960"/>
              </a:tblGrid>
              <a:tr h="347472">
                <a:tc>
                  <a:txBody>
                    <a:bodyPr wrap="square"/>
                    <a:lstStyle/>
                    <a:p>
                      <a:pPr algn="l">
                        <a:lnSpc>
                          <a:spcPct val="100000"/>
                        </a:lnSpc>
                        <a:spcAft>
                          <a:spcPts val="0"/>
                        </a:spcAft>
                      </a:pPr>
                      <a:r>
                        <a:rPr sz="1050" b="1">
                          <a:solidFill>
                            <a:srgbClr val="F6F1E7"/>
                          </a:solidFill>
                          <a:latin typeface="Calibri"/>
                        </a:rPr>
                        <a:t>Relación con el nivel</a:t>
                      </a:r>
                    </a:p>
                  </a:txBody>
                  <a:tcPr marL="82296" marR="82296" marT="18288" marB="18288" anchor="ctr">
                    <a:solidFill>
                      <a:srgbClr val="C8742A"/>
                    </a:solidFill>
                  </a:tcPr>
                </a:tc>
                <a:tc>
                  <a:txBody>
                    <a:bodyPr wrap="square"/>
                    <a:lstStyle/>
                    <a:p>
                      <a:pPr algn="r">
                        <a:lnSpc>
                          <a:spcPct val="100000"/>
                        </a:lnSpc>
                        <a:spcAft>
                          <a:spcPts val="0"/>
                        </a:spcAft>
                      </a:pPr>
                      <a:r>
                        <a:rPr sz="1050" b="1">
                          <a:solidFill>
                            <a:srgbClr val="F6F1E7"/>
                          </a:solidFill>
                          <a:latin typeface="Calibri"/>
                        </a:rPr>
                        <a:t>ρ</a:t>
                      </a:r>
                    </a:p>
                  </a:txBody>
                  <a:tcPr marL="82296" marR="82296" marT="18288" marB="18288" anchor="ctr">
                    <a:solidFill>
                      <a:srgbClr val="C8742A"/>
                    </a:solidFill>
                  </a:tcPr>
                </a:tc>
                <a:tc>
                  <a:txBody>
                    <a:bodyPr wrap="square"/>
                    <a:lstStyle/>
                    <a:p>
                      <a:pPr algn="r">
                        <a:lnSpc>
                          <a:spcPct val="100000"/>
                        </a:lnSpc>
                        <a:spcAft>
                          <a:spcPts val="0"/>
                        </a:spcAft>
                      </a:pPr>
                      <a:r>
                        <a:rPr sz="1050" b="1">
                          <a:solidFill>
                            <a:srgbClr val="F6F1E7"/>
                          </a:solidFill>
                          <a:latin typeface="Calibri"/>
                        </a:rPr>
                        <a:t>p</a:t>
                      </a:r>
                    </a:p>
                  </a:txBody>
                  <a:tcPr marL="82296" marR="82296" marT="18288" marB="18288" anchor="ctr">
                    <a:solidFill>
                      <a:srgbClr val="C8742A"/>
                    </a:solidFill>
                  </a:tcPr>
                </a:tc>
              </a:tr>
              <a:tr h="329184">
                <a:tc>
                  <a:txBody>
                    <a:bodyPr wrap="square"/>
                    <a:lstStyle/>
                    <a:p>
                      <a:pPr algn="l">
                        <a:lnSpc>
                          <a:spcPct val="100000"/>
                        </a:lnSpc>
                        <a:spcAft>
                          <a:spcPts val="0"/>
                        </a:spcAft>
                      </a:pPr>
                      <a:r>
                        <a:rPr sz="1100" b="0">
                          <a:solidFill>
                            <a:srgbClr val="15505E"/>
                          </a:solidFill>
                          <a:latin typeface="Calibri"/>
                        </a:rPr>
                        <a:t>Beta</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0,47</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0,003</a:t>
                      </a:r>
                    </a:p>
                  </a:txBody>
                  <a:tcPr marL="82296" marR="82296" marT="18288" marB="18288" anchor="ctr">
                    <a:solidFill>
                      <a:srgbClr val="F6F1E7"/>
                    </a:solidFill>
                  </a:tcPr>
                </a:tc>
              </a:tr>
              <a:tr h="329184">
                <a:tc>
                  <a:txBody>
                    <a:bodyPr wrap="square"/>
                    <a:lstStyle/>
                    <a:p>
                      <a:pPr algn="l">
                        <a:lnSpc>
                          <a:spcPct val="100000"/>
                        </a:lnSpc>
                        <a:spcAft>
                          <a:spcPts val="0"/>
                        </a:spcAft>
                      </a:pPr>
                      <a:r>
                        <a:rPr sz="1100" b="0">
                          <a:solidFill>
                            <a:srgbClr val="15505E"/>
                          </a:solidFill>
                          <a:latin typeface="Calibri"/>
                        </a:rPr>
                        <a:t>Beta en caídas</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0,40</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0,013</a:t>
                      </a:r>
                    </a:p>
                  </a:txBody>
                  <a:tcPr marL="82296" marR="82296" marT="18288" marB="18288" anchor="ctr">
                    <a:solidFill>
                      <a:srgbClr val="FFFFFF"/>
                    </a:solidFill>
                  </a:tcPr>
                </a:tc>
              </a:tr>
              <a:tr h="329184">
                <a:tc>
                  <a:txBody>
                    <a:bodyPr wrap="square"/>
                    <a:lstStyle/>
                    <a:p>
                      <a:pPr algn="l">
                        <a:lnSpc>
                          <a:spcPct val="100000"/>
                        </a:lnSpc>
                        <a:spcAft>
                          <a:spcPts val="0"/>
                        </a:spcAft>
                      </a:pPr>
                      <a:r>
                        <a:rPr sz="1100" b="0">
                          <a:solidFill>
                            <a:srgbClr val="15505E"/>
                          </a:solidFill>
                          <a:latin typeface="Calibri"/>
                        </a:rPr>
                        <a:t>Beta en subas</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0,07</a:t>
                      </a:r>
                    </a:p>
                  </a:txBody>
                  <a:tcPr marL="82296" marR="82296" marT="18288" marB="18288" anchor="ctr">
                    <a:solidFill>
                      <a:srgbClr val="F6F1E7"/>
                    </a:solidFill>
                  </a:tcPr>
                </a:tc>
                <a:tc>
                  <a:txBody>
                    <a:bodyPr wrap="square"/>
                    <a:lstStyle/>
                    <a:p>
                      <a:pPr algn="r">
                        <a:lnSpc>
                          <a:spcPct val="100000"/>
                        </a:lnSpc>
                        <a:spcAft>
                          <a:spcPts val="0"/>
                        </a:spcAft>
                      </a:pPr>
                      <a:r>
                        <a:rPr sz="1100" b="0">
                          <a:solidFill>
                            <a:srgbClr val="15505E"/>
                          </a:solidFill>
                          <a:latin typeface="Calibri"/>
                        </a:rPr>
                        <a:t>0,670</a:t>
                      </a:r>
                    </a:p>
                  </a:txBody>
                  <a:tcPr marL="82296" marR="82296" marT="18288" marB="18288" anchor="ctr">
                    <a:solidFill>
                      <a:srgbClr val="F6F1E7"/>
                    </a:solidFill>
                  </a:tcPr>
                </a:tc>
              </a:tr>
              <a:tr h="329184">
                <a:tc>
                  <a:txBody>
                    <a:bodyPr wrap="square"/>
                    <a:lstStyle/>
                    <a:p>
                      <a:pPr algn="l">
                        <a:lnSpc>
                          <a:spcPct val="100000"/>
                        </a:lnSpc>
                        <a:spcAft>
                          <a:spcPts val="0"/>
                        </a:spcAft>
                      </a:pPr>
                      <a:r>
                        <a:rPr sz="1100" b="0">
                          <a:solidFill>
                            <a:srgbClr val="15505E"/>
                          </a:solidFill>
                          <a:latin typeface="Calibri"/>
                        </a:rPr>
                        <a:t>Volatilidad</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0,38</a:t>
                      </a:r>
                    </a:p>
                  </a:txBody>
                  <a:tcPr marL="82296" marR="82296" marT="18288" marB="18288" anchor="ctr">
                    <a:solidFill>
                      <a:srgbClr val="FFFFFF"/>
                    </a:solidFill>
                  </a:tcPr>
                </a:tc>
                <a:tc>
                  <a:txBody>
                    <a:bodyPr wrap="square"/>
                    <a:lstStyle/>
                    <a:p>
                      <a:pPr algn="r">
                        <a:lnSpc>
                          <a:spcPct val="100000"/>
                        </a:lnSpc>
                        <a:spcAft>
                          <a:spcPts val="0"/>
                        </a:spcAft>
                      </a:pPr>
                      <a:r>
                        <a:rPr sz="1100" b="0">
                          <a:solidFill>
                            <a:srgbClr val="15505E"/>
                          </a:solidFill>
                          <a:latin typeface="Calibri"/>
                        </a:rPr>
                        <a:t>0,019</a:t>
                      </a:r>
                    </a:p>
                  </a:txBody>
                  <a:tcPr marL="82296" marR="82296" marT="18288" marB="18288" anchor="ctr">
                    <a:solidFill>
                      <a:srgbClr val="FFFFFF"/>
                    </a:solidFill>
                  </a:tcPr>
                </a:tc>
              </a:tr>
            </a:tbl>
          </a:graphicData>
        </a:graphic>
      </p:graphicFrame>
      <p:sp>
        <p:nvSpPr>
          <p:cNvPr id="9" name="TextBox 8"/>
          <p:cNvSpPr txBox="1"/>
          <p:nvPr/>
        </p:nvSpPr>
        <p:spPr>
          <a:xfrm>
            <a:off x="868680" y="5806440"/>
            <a:ext cx="10454335" cy="457200"/>
          </a:xfrm>
          <a:prstGeom prst="rect">
            <a:avLst/>
          </a:prstGeom>
          <a:noFill/>
        </p:spPr>
        <p:txBody>
          <a:bodyPr wrap="square" lIns="0" rIns="0" tIns="0" bIns="0" anchor="t">
            <a:spAutoFit/>
          </a:bodyPr>
          <a:lstStyle/>
          <a:p>
            <a:pPr algn="l">
              <a:lnSpc>
                <a:spcPct val="108000"/>
              </a:lnSpc>
              <a:spcAft>
                <a:spcPts val="0"/>
              </a:spcAft>
            </a:pPr>
            <a:r>
              <a:rPr sz="1000" b="0" i="1">
                <a:solidFill>
                  <a:srgbClr val="E8E0D2"/>
                </a:solidFill>
                <a:latin typeface="Calibri"/>
              </a:rPr>
              <a:t>Cada punto es una comuna-tipo. Pearson da r = 0,44 (IC 95%: 0,14 a 0,67; p = 0,006), así que la conclusión no depende del método.</a:t>
            </a:r>
          </a:p>
        </p:txBody>
      </p:sp>
      <p:sp>
        <p:nvSpPr>
          <p:cNvPr id="10" name="TextBox 9"/>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E8E0D2"/>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15505E"/>
                </a:solidFill>
                <a:latin typeface="Bookman Old Style"/>
              </a:rPr>
              <a:t>H2. AMPLIFICA MÁS LAS CAÍDAS QUE LAS SUBAS</a:t>
            </a:r>
          </a:p>
        </p:txBody>
      </p:sp>
      <p:pic>
        <p:nvPicPr>
          <p:cNvPr id="6" name="Picture 5" descr="i2_g06_asimetria.png"/>
          <p:cNvPicPr>
            <a:picLocks noChangeAspect="1"/>
          </p:cNvPicPr>
          <p:nvPr/>
        </p:nvPicPr>
        <p:blipFill>
          <a:blip r:embed="rId2"/>
          <a:stretch>
            <a:fillRect/>
          </a:stretch>
        </p:blipFill>
        <p:spPr>
          <a:xfrm>
            <a:off x="868680" y="1572768"/>
            <a:ext cx="6035040" cy="3755136"/>
          </a:xfrm>
          <a:prstGeom prst="rect">
            <a:avLst/>
          </a:prstGeom>
        </p:spPr>
      </p:pic>
      <p:sp>
        <p:nvSpPr>
          <p:cNvPr id="7" name="TextBox 6"/>
          <p:cNvSpPr txBox="1"/>
          <p:nvPr/>
        </p:nvSpPr>
        <p:spPr>
          <a:xfrm>
            <a:off x="7223760" y="1627632"/>
            <a:ext cx="4114800" cy="4114800"/>
          </a:xfrm>
          <a:prstGeom prst="rect">
            <a:avLst/>
          </a:prstGeom>
          <a:noFill/>
        </p:spPr>
        <p:txBody>
          <a:bodyPr wrap="square" lIns="0" rIns="0" tIns="0" bIns="0" anchor="t">
            <a:spAutoFit/>
          </a:bodyPr>
          <a:lstStyle/>
          <a:p>
            <a:pPr algn="l">
              <a:lnSpc>
                <a:spcPct val="114000"/>
              </a:lnSpc>
              <a:spcAft>
                <a:spcPts val="1100"/>
              </a:spcAft>
            </a:pPr>
            <a:r>
              <a:rPr sz="1350" b="0" i="0">
                <a:solidFill>
                  <a:srgbClr val="15505E"/>
                </a:solidFill>
                <a:latin typeface="Calibri"/>
              </a:rPr>
              <a:t>Separamos la beta en dos: la de los trimestres en que el mercado sube y la de los trimestres en que baja.</a:t>
            </a:r>
          </a:p>
          <a:p>
            <a:pPr>
              <a:lnSpc>
                <a:spcPct val="112000"/>
              </a:lnSpc>
              <a:spcAft>
                <a:spcPts val="1100"/>
              </a:spcAft>
            </a:pPr>
            <a:r>
              <a:rPr sz="1350" b="1">
                <a:solidFill>
                  <a:srgbClr val="15505E"/>
                </a:solidFill>
                <a:latin typeface="Calibri"/>
              </a:rPr>
              <a:t>En el Norte la diferencia es clara: </a:t>
            </a:r>
            <a:r>
              <a:rPr sz="1350" b="0">
                <a:solidFill>
                  <a:srgbClr val="15505E"/>
                </a:solidFill>
                <a:latin typeface="Calibri"/>
              </a:rPr>
              <a:t>beta de 1,21 cuando el mercado cae contra 0,80 cuando sube. Un test de Wilcoxon apareado da p = 0,004.</a:t>
            </a:r>
          </a:p>
          <a:p>
            <a:pPr>
              <a:lnSpc>
                <a:spcPct val="114000"/>
              </a:lnSpc>
              <a:spcAft>
                <a:spcPts val="1100"/>
              </a:spcAft>
            </a:pPr>
            <a:r>
              <a:rPr sz="1350" b="0" i="0">
                <a:solidFill>
                  <a:srgbClr val="15505E"/>
                </a:solidFill>
                <a:latin typeface="Calibri"/>
              </a:rPr>
              <a:t>En el Oeste y el Sur no hay diferencia. El Centro se mueve al revés, pero es el grupo más mezclado de todos.</a:t>
            </a:r>
          </a:p>
          <a:p>
            <a:pPr>
              <a:lnSpc>
                <a:spcPct val="112000"/>
              </a:lnSpc>
              <a:spcAft>
                <a:spcPts val="0"/>
              </a:spcAft>
            </a:pPr>
            <a:r>
              <a:rPr sz="1350" b="1">
                <a:solidFill>
                  <a:srgbClr val="C8742A"/>
                </a:solidFill>
                <a:latin typeface="Calibri"/>
              </a:rPr>
              <a:t>Amplitud del ciclo. </a:t>
            </a:r>
            <a:r>
              <a:rPr sz="1350" b="0">
                <a:solidFill>
                  <a:srgbClr val="15505E"/>
                </a:solidFill>
                <a:latin typeface="Calibri"/>
              </a:rPr>
              <a:t>Del piso de 2019-2020 al pico de 2023 el Norte subió 97% y el Sur 79%. Desde el pico hasta hoy el Norte cayó 46% y el Sur 37%. Las comunas caras recorrieron un ciclo más amplio de los dos lados.</a:t>
            </a:r>
          </a:p>
        </p:txBody>
      </p:sp>
      <p:sp>
        <p:nvSpPr>
          <p:cNvPr id="8" name="TextBox 7"/>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6B7578"/>
                </a:solidFill>
                <a:latin typeface="Calibr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50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201168"/>
            <a:ext cx="11789359" cy="6455664"/>
          </a:xfrm>
          <a:prstGeom prst="rect">
            <a:avLst/>
          </a:prstGeom>
          <a:noFill/>
          <a:ln w="12700">
            <a:solidFill>
              <a:srgbClr val="F6F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10896" y="310896"/>
            <a:ext cx="11569903" cy="6236208"/>
          </a:xfrm>
          <a:prstGeom prst="rect">
            <a:avLst/>
          </a:prstGeom>
          <a:noFill/>
          <a:ln w="9525">
            <a:solidFill>
              <a:srgbClr val="F6F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685800"/>
            <a:ext cx="10454335" cy="914400"/>
          </a:xfrm>
          <a:prstGeom prst="rect">
            <a:avLst/>
          </a:prstGeom>
          <a:noFill/>
        </p:spPr>
        <p:txBody>
          <a:bodyPr wrap="square" lIns="0" rIns="0" tIns="0" bIns="0" anchor="t">
            <a:spAutoFit/>
          </a:bodyPr>
          <a:lstStyle/>
          <a:p>
            <a:pPr algn="l">
              <a:lnSpc>
                <a:spcPct val="98000"/>
              </a:lnSpc>
              <a:spcAft>
                <a:spcPts val="0"/>
              </a:spcAft>
            </a:pPr>
            <a:r>
              <a:rPr sz="3100" b="1" i="0">
                <a:solidFill>
                  <a:srgbClr val="F6F1E7"/>
                </a:solidFill>
                <a:latin typeface="Bookman Old Style"/>
              </a:rPr>
              <a:t>QUÉ NOS DEJAN LAS DOS HIPÓTESIS</a:t>
            </a:r>
          </a:p>
        </p:txBody>
      </p:sp>
      <p:sp>
        <p:nvSpPr>
          <p:cNvPr id="6" name="Oval 5"/>
          <p:cNvSpPr/>
          <p:nvPr/>
        </p:nvSpPr>
        <p:spPr>
          <a:xfrm>
            <a:off x="868680" y="1673352"/>
            <a:ext cx="384048" cy="384048"/>
          </a:xfrm>
          <a:prstGeom prst="ellipse">
            <a:avLst/>
          </a:prstGeom>
          <a:solidFill>
            <a:srgbClr val="C874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6F1E7"/>
                </a:solidFill>
                <a:latin typeface="Calibri"/>
              </a:rPr>
              <a:t>1</a:t>
            </a:r>
          </a:p>
        </p:txBody>
      </p:sp>
      <p:sp>
        <p:nvSpPr>
          <p:cNvPr id="7" name="TextBox 6"/>
          <p:cNvSpPr txBox="1"/>
          <p:nvPr/>
        </p:nvSpPr>
        <p:spPr>
          <a:xfrm>
            <a:off x="1463040" y="1627632"/>
            <a:ext cx="5669280" cy="1097280"/>
          </a:xfrm>
          <a:prstGeom prst="rect">
            <a:avLst/>
          </a:prstGeom>
          <a:noFill/>
        </p:spPr>
        <p:txBody>
          <a:bodyPr wrap="square" lIns="0" rIns="0" tIns="0" bIns="0" anchor="t">
            <a:spAutoFit/>
          </a:bodyPr>
          <a:lstStyle/>
          <a:p>
            <a:pPr algn="l">
              <a:lnSpc>
                <a:spcPct val="105000"/>
              </a:lnSpc>
              <a:spcAft>
                <a:spcPts val="400"/>
              </a:spcAft>
            </a:pPr>
            <a:r>
              <a:rPr sz="1450" b="1" i="0">
                <a:solidFill>
                  <a:srgbClr val="F6F1E7"/>
                </a:solidFill>
                <a:latin typeface="Bookman Old Style"/>
              </a:rPr>
              <a:t>La oferta se asocia al régimen regulatorio</a:t>
            </a:r>
          </a:p>
          <a:p>
            <a:pPr>
              <a:lnSpc>
                <a:spcPct val="112000"/>
              </a:lnSpc>
              <a:spcAft>
                <a:spcPts val="0"/>
              </a:spcAft>
            </a:pPr>
            <a:r>
              <a:rPr sz="1250" b="0" i="0">
                <a:solidFill>
                  <a:srgbClr val="E8E0D2"/>
                </a:solidFill>
                <a:latin typeface="Calibri"/>
              </a:rPr>
              <a:t>La presencia de datos cambia con el período y el efecto está concentrado en el sur (V = 0,27). El test apareado lo confirma. Lo que no podemos decir es que la ley lo haya causado: en esos mismos años pasaron la pandemia, el cepo y la aceleración inflacionaria.</a:t>
            </a:r>
          </a:p>
        </p:txBody>
      </p:sp>
      <p:sp>
        <p:nvSpPr>
          <p:cNvPr id="8" name="Oval 7"/>
          <p:cNvSpPr/>
          <p:nvPr/>
        </p:nvSpPr>
        <p:spPr>
          <a:xfrm>
            <a:off x="868680" y="2843784"/>
            <a:ext cx="384048" cy="384048"/>
          </a:xfrm>
          <a:prstGeom prst="ellipse">
            <a:avLst/>
          </a:prstGeom>
          <a:solidFill>
            <a:srgbClr val="C874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6F1E7"/>
                </a:solidFill>
                <a:latin typeface="Calibri"/>
              </a:rPr>
              <a:t>2</a:t>
            </a:r>
          </a:p>
        </p:txBody>
      </p:sp>
      <p:sp>
        <p:nvSpPr>
          <p:cNvPr id="9" name="TextBox 8"/>
          <p:cNvSpPr txBox="1"/>
          <p:nvPr/>
        </p:nvSpPr>
        <p:spPr>
          <a:xfrm>
            <a:off x="1463040" y="2798064"/>
            <a:ext cx="5669280" cy="1097280"/>
          </a:xfrm>
          <a:prstGeom prst="rect">
            <a:avLst/>
          </a:prstGeom>
          <a:noFill/>
        </p:spPr>
        <p:txBody>
          <a:bodyPr wrap="square" lIns="0" rIns="0" tIns="0" bIns="0" anchor="t">
            <a:spAutoFit/>
          </a:bodyPr>
          <a:lstStyle/>
          <a:p>
            <a:pPr algn="l">
              <a:lnSpc>
                <a:spcPct val="105000"/>
              </a:lnSpc>
              <a:spcAft>
                <a:spcPts val="400"/>
              </a:spcAft>
            </a:pPr>
            <a:r>
              <a:rPr sz="1450" b="1" i="0">
                <a:solidFill>
                  <a:srgbClr val="F6F1E7"/>
                </a:solidFill>
                <a:latin typeface="Bookman Old Style"/>
              </a:rPr>
              <a:t>El precio se mueve en un ciclo que las comunas caras amplifican</a:t>
            </a:r>
          </a:p>
          <a:p>
            <a:pPr>
              <a:lnSpc>
                <a:spcPct val="112000"/>
              </a:lnSpc>
              <a:spcAft>
                <a:spcPts val="0"/>
              </a:spcAft>
            </a:pPr>
            <a:r>
              <a:rPr sz="1250" b="0" i="0">
                <a:solidFill>
                  <a:srgbClr val="E8E0D2"/>
                </a:solidFill>
                <a:latin typeface="Calibri"/>
              </a:rPr>
              <a:t>El nivel de precio se asocia a la beta (ρ = 0,47; p = 0,003). Por zona el ANOVA no alcanza para afirmarlo, porque las zonas son heterogéneas; medido comuna por comuna, sí.</a:t>
            </a:r>
          </a:p>
        </p:txBody>
      </p:sp>
      <p:sp>
        <p:nvSpPr>
          <p:cNvPr id="10" name="Oval 9"/>
          <p:cNvSpPr/>
          <p:nvPr/>
        </p:nvSpPr>
        <p:spPr>
          <a:xfrm>
            <a:off x="868680" y="4014215"/>
            <a:ext cx="384048" cy="384048"/>
          </a:xfrm>
          <a:prstGeom prst="ellipse">
            <a:avLst/>
          </a:prstGeom>
          <a:solidFill>
            <a:srgbClr val="C874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6F1E7"/>
                </a:solidFill>
                <a:latin typeface="Calibri"/>
              </a:rPr>
              <a:t>3</a:t>
            </a:r>
          </a:p>
        </p:txBody>
      </p:sp>
      <p:sp>
        <p:nvSpPr>
          <p:cNvPr id="11" name="TextBox 10"/>
          <p:cNvSpPr txBox="1"/>
          <p:nvPr/>
        </p:nvSpPr>
        <p:spPr>
          <a:xfrm>
            <a:off x="1463040" y="3968496"/>
            <a:ext cx="5669280" cy="1097280"/>
          </a:xfrm>
          <a:prstGeom prst="rect">
            <a:avLst/>
          </a:prstGeom>
          <a:noFill/>
        </p:spPr>
        <p:txBody>
          <a:bodyPr wrap="square" lIns="0" rIns="0" tIns="0" bIns="0" anchor="t">
            <a:spAutoFit/>
          </a:bodyPr>
          <a:lstStyle/>
          <a:p>
            <a:pPr algn="l">
              <a:lnSpc>
                <a:spcPct val="105000"/>
              </a:lnSpc>
              <a:spcAft>
                <a:spcPts val="400"/>
              </a:spcAft>
            </a:pPr>
            <a:r>
              <a:rPr sz="1450" b="1" i="0">
                <a:solidFill>
                  <a:srgbClr val="F6F1E7"/>
                </a:solidFill>
                <a:latin typeface="Bookman Old Style"/>
              </a:rPr>
              <a:t>Las dos se conectan en la desigualdad</a:t>
            </a:r>
          </a:p>
          <a:p>
            <a:pPr>
              <a:lnSpc>
                <a:spcPct val="112000"/>
              </a:lnSpc>
              <a:spcAft>
                <a:spcPts val="0"/>
              </a:spcAft>
            </a:pPr>
            <a:r>
              <a:rPr sz="1250" b="0" i="0">
                <a:solidFill>
                  <a:srgbClr val="E8E0D2"/>
                </a:solidFill>
                <a:latin typeface="Calibri"/>
              </a:rPr>
              <a:t>El salto del Theil en 2023 y su caída posterior, que la hipótesis 1 no podía explicar, salen de las distintas betas: cuando el mercado sube, las caras se separan; cuando baja, se acercan.</a:t>
            </a:r>
          </a:p>
        </p:txBody>
      </p:sp>
      <p:sp>
        <p:nvSpPr>
          <p:cNvPr id="12" name="Rounded Rectangle 11"/>
          <p:cNvSpPr/>
          <p:nvPr/>
        </p:nvSpPr>
        <p:spPr>
          <a:xfrm>
            <a:off x="7498079" y="1627632"/>
            <a:ext cx="3840480" cy="3931920"/>
          </a:xfrm>
          <a:prstGeom prst="roundRect">
            <a:avLst>
              <a:gd name="adj" fmla="val 5000"/>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772400" y="1874519"/>
            <a:ext cx="3291840" cy="3474720"/>
          </a:xfrm>
          <a:prstGeom prst="rect">
            <a:avLst/>
          </a:prstGeom>
          <a:noFill/>
        </p:spPr>
        <p:txBody>
          <a:bodyPr wrap="square" lIns="0" rIns="0" tIns="0" bIns="0" anchor="t">
            <a:spAutoFit/>
          </a:bodyPr>
          <a:lstStyle/>
          <a:p>
            <a:pPr algn="l">
              <a:lnSpc>
                <a:spcPct val="112000"/>
              </a:lnSpc>
              <a:spcAft>
                <a:spcPts val="1100"/>
              </a:spcAft>
            </a:pPr>
            <a:r>
              <a:rPr sz="1700" b="1" i="0">
                <a:solidFill>
                  <a:srgbClr val="C8742A"/>
                </a:solidFill>
                <a:latin typeface="Bookman Old Style"/>
              </a:rPr>
              <a:t>Próximos pasos</a:t>
            </a:r>
          </a:p>
          <a:p>
            <a:pPr>
              <a:lnSpc>
                <a:spcPct val="112000"/>
              </a:lnSpc>
              <a:spcAft>
                <a:spcPts val="900"/>
              </a:spcAft>
            </a:pPr>
            <a:r>
              <a:rPr sz="1250" b="0" i="0">
                <a:solidFill>
                  <a:srgbClr val="15505E"/>
                </a:solidFill>
                <a:latin typeface="Calibri"/>
              </a:rPr>
              <a:t>· Clustering de comunas por nivel, beta y faltantes, para ver si los grupos coinciden con las zonas.</a:t>
            </a:r>
          </a:p>
          <a:p>
            <a:pPr>
              <a:lnSpc>
                <a:spcPct val="112000"/>
              </a:lnSpc>
              <a:spcAft>
                <a:spcPts val="900"/>
              </a:spcAft>
            </a:pPr>
            <a:r>
              <a:rPr sz="1250" b="0" i="0">
                <a:solidFill>
                  <a:srgbClr val="15505E"/>
                </a:solidFill>
                <a:latin typeface="Calibri"/>
              </a:rPr>
              <a:t>· Separar la ley de la inflación: comparar trimestres de inflación alta y baja dentro de cada período.</a:t>
            </a:r>
          </a:p>
          <a:p>
            <a:pPr>
              <a:lnSpc>
                <a:spcPct val="112000"/>
              </a:lnSpc>
              <a:spcAft>
                <a:spcPts val="900"/>
              </a:spcAft>
            </a:pPr>
            <a:r>
              <a:rPr sz="1250" b="0" i="0">
                <a:solidFill>
                  <a:srgbClr val="15505E"/>
                </a:solidFill>
                <a:latin typeface="Calibri"/>
              </a:rPr>
              <a:t>· Sumar ingresos por comuna (EAH) para relacionar la beta con la capacidad de pago.</a:t>
            </a:r>
          </a:p>
          <a:p>
            <a:pPr>
              <a:lnSpc>
                <a:spcPct val="112000"/>
              </a:lnSpc>
              <a:spcAft>
                <a:spcPts val="900"/>
              </a:spcAft>
            </a:pPr>
            <a:r>
              <a:rPr sz="1250" b="0" i="0">
                <a:solidFill>
                  <a:srgbClr val="15505E"/>
                </a:solidFill>
                <a:latin typeface="Calibri"/>
              </a:rPr>
              <a:t>· Para la instancia 3, las visualizaciones candidatas son el gráfico de faltantes y el de beta contra nivel.</a:t>
            </a:r>
          </a:p>
        </p:txBody>
      </p:sp>
      <p:sp>
        <p:nvSpPr>
          <p:cNvPr id="14" name="TextBox 13"/>
          <p:cNvSpPr txBox="1"/>
          <p:nvPr/>
        </p:nvSpPr>
        <p:spPr>
          <a:xfrm>
            <a:off x="10957255" y="6199632"/>
            <a:ext cx="548640" cy="274320"/>
          </a:xfrm>
          <a:prstGeom prst="rect">
            <a:avLst/>
          </a:prstGeom>
          <a:noFill/>
        </p:spPr>
        <p:txBody>
          <a:bodyPr wrap="square" lIns="0" rIns="0" tIns="0" bIns="0" anchor="t">
            <a:spAutoFit/>
          </a:bodyPr>
          <a:lstStyle/>
          <a:p>
            <a:pPr algn="r">
              <a:lnSpc>
                <a:spcPct val="112000"/>
              </a:lnSpc>
              <a:spcAft>
                <a:spcPts val="0"/>
              </a:spcAft>
            </a:pPr>
            <a:r>
              <a:rPr sz="1000" b="0" i="0">
                <a:solidFill>
                  <a:srgbClr val="E8E0D2"/>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